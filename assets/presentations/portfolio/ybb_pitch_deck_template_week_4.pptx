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Liter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4" name="Google Shape;70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8" name="Google Shape;75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descr="https://kimi-web-img.moonshot.cn/img/images.stockcake.com/bc52434e58af5e20e0cb5cacebd048b6ae8a3449.jpg"/>
          <p:cNvPicPr preferRelativeResize="0"/>
          <p:nvPr/>
        </p:nvPicPr>
        <p:blipFill rotWithShape="1"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91919">
                  <a:alpha val="94901"/>
                </a:srgbClr>
              </a:gs>
              <a:gs pos="50000">
                <a:srgbClr val="191919">
                  <a:alpha val="85098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384175" y="1406525"/>
            <a:ext cx="3035300" cy="387350"/>
          </a:xfrm>
          <a:prstGeom prst="roundRect">
            <a:avLst>
              <a:gd name="adj" fmla="val 19672"/>
            </a:avLst>
          </a:prstGeom>
          <a:solidFill>
            <a:srgbClr val="6366F1">
              <a:alpha val="20000"/>
            </a:srgbClr>
          </a:solidFill>
          <a:ln w="9525" cap="flat" cmpd="sng">
            <a:solidFill>
              <a:srgbClr val="6366F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539750" y="1485900"/>
            <a:ext cx="2800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YOUTH BREAK THE BOUNDARIES</a:t>
            </a:r>
            <a:endParaRPr sz="1600" b="0" i="0" u="none" strike="noStrike" cap="none"/>
          </a:p>
        </p:txBody>
      </p:sp>
      <p:sp>
        <p:nvSpPr>
          <p:cNvPr id="21" name="Google Shape;21;p4"/>
          <p:cNvSpPr/>
          <p:nvPr/>
        </p:nvSpPr>
        <p:spPr>
          <a:xfrm>
            <a:off x="381000" y="2025650"/>
            <a:ext cx="117729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Neurodivergent</a:t>
            </a:r>
            <a:endParaRPr sz="16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Inclusion in Japan</a:t>
            </a:r>
            <a:endParaRPr sz="1600" b="0" i="0" u="none" strike="noStrike" cap="none"/>
          </a:p>
        </p:txBody>
      </p:sp>
      <p:sp>
        <p:nvSpPr>
          <p:cNvPr id="22" name="Google Shape;22;p4"/>
          <p:cNvSpPr/>
          <p:nvPr/>
        </p:nvSpPr>
        <p:spPr>
          <a:xfrm>
            <a:off x="381000" y="3968750"/>
            <a:ext cx="914400" cy="381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381000" y="4235450"/>
            <a:ext cx="11572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A Pathway to Equity</a:t>
            </a:r>
            <a:endParaRPr sz="1600" b="0" i="0" u="none" strike="noStrike" cap="none"/>
          </a:p>
        </p:txBody>
      </p:sp>
      <p:sp>
        <p:nvSpPr>
          <p:cNvPr id="24" name="Google Shape;24;p4"/>
          <p:cNvSpPr/>
          <p:nvPr/>
        </p:nvSpPr>
        <p:spPr>
          <a:xfrm>
            <a:off x="381000" y="5829300"/>
            <a:ext cx="3181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Project Team</a:t>
            </a:r>
            <a:endParaRPr sz="1600" b="0" i="0" u="none" strike="noStrike" cap="none"/>
          </a:p>
        </p:txBody>
      </p:sp>
      <p:sp>
        <p:nvSpPr>
          <p:cNvPr id="25" name="Google Shape;25;p4"/>
          <p:cNvSpPr/>
          <p:nvPr/>
        </p:nvSpPr>
        <p:spPr>
          <a:xfrm>
            <a:off x="381000" y="6172200"/>
            <a:ext cx="3209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Faiz Abdillah, Mert Bian, Malika</a:t>
            </a:r>
            <a:endParaRPr sz="1600" b="0" i="0" u="none" strike="noStrike" cap="none"/>
          </a:p>
        </p:txBody>
      </p:sp>
      <p:sp>
        <p:nvSpPr>
          <p:cNvPr id="26" name="Google Shape;26;p4"/>
          <p:cNvSpPr/>
          <p:nvPr/>
        </p:nvSpPr>
        <p:spPr>
          <a:xfrm>
            <a:off x="10211198" y="59436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Presentation</a:t>
            </a:r>
            <a:endParaRPr sz="1600" b="0" i="0" u="none" strike="noStrike" cap="none"/>
          </a:p>
        </p:txBody>
      </p:sp>
      <p:sp>
        <p:nvSpPr>
          <p:cNvPr id="27" name="Google Shape;27;p4"/>
          <p:cNvSpPr/>
          <p:nvPr/>
        </p:nvSpPr>
        <p:spPr>
          <a:xfrm>
            <a:off x="10211198" y="62103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2026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69175" y="443010"/>
            <a:ext cx="73835" cy="44301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553762" y="369175"/>
            <a:ext cx="6995864" cy="22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3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THE URGENCY</a:t>
            </a:r>
            <a:endParaRPr sz="1600" b="0" i="0" u="none" strike="noStrike" cap="none"/>
          </a:p>
        </p:txBody>
      </p:sp>
      <p:sp>
        <p:nvSpPr>
          <p:cNvPr id="35" name="Google Shape;35;p5"/>
          <p:cNvSpPr/>
          <p:nvPr/>
        </p:nvSpPr>
        <p:spPr>
          <a:xfrm>
            <a:off x="553762" y="590680"/>
            <a:ext cx="7088157" cy="36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6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Why Neurodivergent Inclusion Matters in Japan</a:t>
            </a:r>
            <a:endParaRPr sz="1600" b="0" i="0" u="none" strike="noStrike" cap="none"/>
          </a:p>
        </p:txBody>
      </p:sp>
      <p:sp>
        <p:nvSpPr>
          <p:cNvPr id="36" name="Google Shape;36;p5"/>
          <p:cNvSpPr/>
          <p:nvPr/>
        </p:nvSpPr>
        <p:spPr>
          <a:xfrm>
            <a:off x="372251" y="1295188"/>
            <a:ext cx="5626840" cy="2553460"/>
          </a:xfrm>
          <a:prstGeom prst="roundRect">
            <a:avLst>
              <a:gd name="adj" fmla="val 4337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596833" y="1519770"/>
            <a:ext cx="590680" cy="590680"/>
          </a:xfrm>
          <a:prstGeom prst="roundRect">
            <a:avLst>
              <a:gd name="adj" fmla="val 1875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756039" y="1676669"/>
            <a:ext cx="276881" cy="276881"/>
          </a:xfrm>
          <a:custGeom>
            <a:avLst/>
            <a:gdLst/>
            <a:ahLst/>
            <a:cxnLst/>
            <a:rect l="l" t="t" r="r" b="b"/>
            <a:pathLst>
              <a:path w="276881" h="276881" extrusionOk="0">
                <a:moveTo>
                  <a:pt x="34610" y="34610"/>
                </a:moveTo>
                <a:cubicBezTo>
                  <a:pt x="34610" y="25038"/>
                  <a:pt x="26877" y="17305"/>
                  <a:pt x="17305" y="17305"/>
                </a:cubicBezTo>
                <a:cubicBezTo>
                  <a:pt x="7733" y="17305"/>
                  <a:pt x="0" y="25038"/>
                  <a:pt x="0" y="34610"/>
                </a:cubicBezTo>
                <a:lnTo>
                  <a:pt x="0" y="216313"/>
                </a:lnTo>
                <a:cubicBezTo>
                  <a:pt x="0" y="240216"/>
                  <a:pt x="19360" y="259576"/>
                  <a:pt x="43263" y="259576"/>
                </a:cubicBezTo>
                <a:lnTo>
                  <a:pt x="259576" y="259576"/>
                </a:lnTo>
                <a:cubicBezTo>
                  <a:pt x="269148" y="259576"/>
                  <a:pt x="276881" y="251843"/>
                  <a:pt x="276881" y="242271"/>
                </a:cubicBezTo>
                <a:cubicBezTo>
                  <a:pt x="276881" y="232699"/>
                  <a:pt x="269148" y="224966"/>
                  <a:pt x="259576" y="224966"/>
                </a:cubicBezTo>
                <a:lnTo>
                  <a:pt x="43263" y="224966"/>
                </a:lnTo>
                <a:cubicBezTo>
                  <a:pt x="38504" y="224966"/>
                  <a:pt x="34610" y="221072"/>
                  <a:pt x="34610" y="216313"/>
                </a:cubicBezTo>
                <a:lnTo>
                  <a:pt x="34610" y="34610"/>
                </a:lnTo>
                <a:close/>
                <a:moveTo>
                  <a:pt x="254493" y="81442"/>
                </a:moveTo>
                <a:cubicBezTo>
                  <a:pt x="261253" y="74682"/>
                  <a:pt x="261253" y="63704"/>
                  <a:pt x="254493" y="56945"/>
                </a:cubicBezTo>
                <a:cubicBezTo>
                  <a:pt x="247733" y="50185"/>
                  <a:pt x="236755" y="50185"/>
                  <a:pt x="229995" y="56945"/>
                </a:cubicBezTo>
                <a:lnTo>
                  <a:pt x="173051" y="113943"/>
                </a:lnTo>
                <a:lnTo>
                  <a:pt x="142010" y="82956"/>
                </a:lnTo>
                <a:cubicBezTo>
                  <a:pt x="135250" y="76196"/>
                  <a:pt x="124272" y="76196"/>
                  <a:pt x="117512" y="82956"/>
                </a:cubicBezTo>
                <a:lnTo>
                  <a:pt x="65597" y="134871"/>
                </a:lnTo>
                <a:cubicBezTo>
                  <a:pt x="58837" y="141631"/>
                  <a:pt x="58837" y="152609"/>
                  <a:pt x="65597" y="159369"/>
                </a:cubicBezTo>
                <a:cubicBezTo>
                  <a:pt x="72357" y="166129"/>
                  <a:pt x="83335" y="166129"/>
                  <a:pt x="90095" y="159369"/>
                </a:cubicBezTo>
                <a:lnTo>
                  <a:pt x="129788" y="119675"/>
                </a:lnTo>
                <a:lnTo>
                  <a:pt x="160829" y="150716"/>
                </a:lnTo>
                <a:cubicBezTo>
                  <a:pt x="167589" y="157476"/>
                  <a:pt x="178567" y="157476"/>
                  <a:pt x="185327" y="150716"/>
                </a:cubicBezTo>
                <a:lnTo>
                  <a:pt x="254547" y="81496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335182" y="1556688"/>
            <a:ext cx="1882792" cy="295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4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Rising Prevalence</a:t>
            </a:r>
            <a:endParaRPr sz="1600" b="0" i="0" u="none" strike="noStrike" cap="none"/>
          </a:p>
        </p:txBody>
      </p:sp>
      <p:sp>
        <p:nvSpPr>
          <p:cNvPr id="40" name="Google Shape;40;p5"/>
          <p:cNvSpPr/>
          <p:nvPr/>
        </p:nvSpPr>
        <p:spPr>
          <a:xfrm>
            <a:off x="1335182" y="1852027"/>
            <a:ext cx="1845874" cy="22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3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Exceeding Global Averages</a:t>
            </a:r>
            <a:endParaRPr sz="1600" b="0" i="0" u="none" strike="noStrike" cap="none"/>
          </a:p>
        </p:txBody>
      </p:sp>
      <p:sp>
        <p:nvSpPr>
          <p:cNvPr id="41" name="Google Shape;41;p5"/>
          <p:cNvSpPr/>
          <p:nvPr/>
        </p:nvSpPr>
        <p:spPr>
          <a:xfrm>
            <a:off x="596833" y="2258120"/>
            <a:ext cx="5399182" cy="44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8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3.26%</a:t>
            </a:r>
            <a:endParaRPr sz="1600" b="0" i="0" u="none" strike="noStrike" cap="none"/>
          </a:p>
        </p:txBody>
      </p:sp>
      <p:sp>
        <p:nvSpPr>
          <p:cNvPr id="42" name="Google Shape;42;p5"/>
          <p:cNvSpPr/>
          <p:nvPr/>
        </p:nvSpPr>
        <p:spPr>
          <a:xfrm>
            <a:off x="596833" y="2811883"/>
            <a:ext cx="5260742" cy="81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8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ASD prevalence for 2014 birth cohort in Japan, significantly higher than global averages. The burden continues to rise, with projections showing sustained increase through 2050.</a:t>
            </a:r>
            <a:endParaRPr sz="1600" b="0" i="0" u="none" strike="noStrike" cap="none"/>
          </a:p>
        </p:txBody>
      </p:sp>
      <p:sp>
        <p:nvSpPr>
          <p:cNvPr id="43" name="Google Shape;43;p5"/>
          <p:cNvSpPr/>
          <p:nvPr/>
        </p:nvSpPr>
        <p:spPr>
          <a:xfrm>
            <a:off x="6190793" y="1295188"/>
            <a:ext cx="5626840" cy="2553460"/>
          </a:xfrm>
          <a:prstGeom prst="roundRect">
            <a:avLst>
              <a:gd name="adj" fmla="val 4337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415375" y="1519770"/>
            <a:ext cx="590680" cy="590680"/>
          </a:xfrm>
          <a:prstGeom prst="roundRect">
            <a:avLst>
              <a:gd name="adj" fmla="val 1875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6574582" y="1676669"/>
            <a:ext cx="276881" cy="276881"/>
          </a:xfrm>
          <a:custGeom>
            <a:avLst/>
            <a:gdLst/>
            <a:ahLst/>
            <a:cxnLst/>
            <a:rect l="l" t="t" r="r" b="b"/>
            <a:pathLst>
              <a:path w="276881" h="276881" extrusionOk="0">
                <a:moveTo>
                  <a:pt x="71978" y="17305"/>
                </a:moveTo>
                <a:cubicBezTo>
                  <a:pt x="81334" y="17305"/>
                  <a:pt x="90473" y="19144"/>
                  <a:pt x="98963" y="22551"/>
                </a:cubicBezTo>
                <a:lnTo>
                  <a:pt x="128598" y="68625"/>
                </a:lnTo>
                <a:lnTo>
                  <a:pt x="87823" y="109401"/>
                </a:lnTo>
                <a:cubicBezTo>
                  <a:pt x="87012" y="110212"/>
                  <a:pt x="86525" y="111347"/>
                  <a:pt x="86579" y="112537"/>
                </a:cubicBezTo>
                <a:cubicBezTo>
                  <a:pt x="86634" y="113727"/>
                  <a:pt x="87120" y="114808"/>
                  <a:pt x="87985" y="115620"/>
                </a:cubicBezTo>
                <a:lnTo>
                  <a:pt x="148553" y="171861"/>
                </a:lnTo>
                <a:cubicBezTo>
                  <a:pt x="150121" y="173321"/>
                  <a:pt x="152555" y="173429"/>
                  <a:pt x="154231" y="172023"/>
                </a:cubicBezTo>
                <a:cubicBezTo>
                  <a:pt x="155908" y="170617"/>
                  <a:pt x="156286" y="168238"/>
                  <a:pt x="155151" y="166399"/>
                </a:cubicBezTo>
                <a:lnTo>
                  <a:pt x="122487" y="113348"/>
                </a:lnTo>
                <a:lnTo>
                  <a:pt x="171537" y="72465"/>
                </a:lnTo>
                <a:cubicBezTo>
                  <a:pt x="172943" y="71329"/>
                  <a:pt x="173429" y="69383"/>
                  <a:pt x="172834" y="67706"/>
                </a:cubicBezTo>
                <a:lnTo>
                  <a:pt x="160288" y="32771"/>
                </a:lnTo>
                <a:cubicBezTo>
                  <a:pt x="172834" y="22875"/>
                  <a:pt x="188517" y="17305"/>
                  <a:pt x="204903" y="17305"/>
                </a:cubicBezTo>
                <a:cubicBezTo>
                  <a:pt x="244650" y="17305"/>
                  <a:pt x="276881" y="49536"/>
                  <a:pt x="276881" y="89283"/>
                </a:cubicBezTo>
                <a:lnTo>
                  <a:pt x="276881" y="90689"/>
                </a:lnTo>
                <a:cubicBezTo>
                  <a:pt x="276881" y="151365"/>
                  <a:pt x="201226" y="221829"/>
                  <a:pt x="161748" y="251951"/>
                </a:cubicBezTo>
                <a:cubicBezTo>
                  <a:pt x="155043" y="257034"/>
                  <a:pt x="146823" y="259576"/>
                  <a:pt x="138441" y="259576"/>
                </a:cubicBezTo>
                <a:cubicBezTo>
                  <a:pt x="130058" y="259576"/>
                  <a:pt x="121784" y="257088"/>
                  <a:pt x="115133" y="251951"/>
                </a:cubicBezTo>
                <a:cubicBezTo>
                  <a:pt x="75656" y="221829"/>
                  <a:pt x="0" y="151365"/>
                  <a:pt x="0" y="90689"/>
                </a:cubicBezTo>
                <a:lnTo>
                  <a:pt x="0" y="89283"/>
                </a:lnTo>
                <a:cubicBezTo>
                  <a:pt x="0" y="49536"/>
                  <a:pt x="32231" y="17305"/>
                  <a:pt x="71978" y="1730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153725" y="1556688"/>
            <a:ext cx="2076609" cy="295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4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Mental Health Crisis</a:t>
            </a:r>
            <a:endParaRPr sz="1600" b="0" i="0" u="none" strike="noStrike" cap="none"/>
          </a:p>
        </p:txBody>
      </p:sp>
      <p:sp>
        <p:nvSpPr>
          <p:cNvPr id="47" name="Google Shape;47;p5"/>
          <p:cNvSpPr/>
          <p:nvPr/>
        </p:nvSpPr>
        <p:spPr>
          <a:xfrm>
            <a:off x="7153725" y="1852027"/>
            <a:ext cx="2039691" cy="22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3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Suicidal Ideation Risk</a:t>
            </a:r>
            <a:endParaRPr sz="1600" b="0" i="0" u="none" strike="noStrike" cap="none"/>
          </a:p>
        </p:txBody>
      </p:sp>
      <p:sp>
        <p:nvSpPr>
          <p:cNvPr id="48" name="Google Shape;48;p5"/>
          <p:cNvSpPr/>
          <p:nvPr/>
        </p:nvSpPr>
        <p:spPr>
          <a:xfrm>
            <a:off x="6415375" y="2258120"/>
            <a:ext cx="5399182" cy="44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8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56%</a:t>
            </a:r>
            <a:endParaRPr sz="1600" b="0" i="0" u="none" strike="noStrike" cap="none"/>
          </a:p>
        </p:txBody>
      </p:sp>
      <p:sp>
        <p:nvSpPr>
          <p:cNvPr id="49" name="Google Shape;49;p5"/>
          <p:cNvSpPr/>
          <p:nvPr/>
        </p:nvSpPr>
        <p:spPr>
          <a:xfrm>
            <a:off x="6415375" y="2811883"/>
            <a:ext cx="5260742" cy="81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8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Lifetime suicidal ideation among young adults with both ASD and ADHD traits. 33.9% across all neurodivergent youth - a silent epidemic requiring urgent intervention.</a:t>
            </a:r>
            <a:endParaRPr sz="1600" b="0" i="0" u="none" strike="noStrike" cap="none"/>
          </a:p>
        </p:txBody>
      </p:sp>
      <p:sp>
        <p:nvSpPr>
          <p:cNvPr id="50" name="Google Shape;50;p5"/>
          <p:cNvSpPr/>
          <p:nvPr/>
        </p:nvSpPr>
        <p:spPr>
          <a:xfrm>
            <a:off x="372251" y="4037081"/>
            <a:ext cx="5626840" cy="2821111"/>
          </a:xfrm>
          <a:prstGeom prst="roundRect">
            <a:avLst>
              <a:gd name="adj" fmla="val 3926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96833" y="4298580"/>
            <a:ext cx="590680" cy="590680"/>
          </a:xfrm>
          <a:prstGeom prst="roundRect">
            <a:avLst>
              <a:gd name="adj" fmla="val 1875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721429" y="4455479"/>
            <a:ext cx="346101" cy="276881"/>
          </a:xfrm>
          <a:custGeom>
            <a:avLst/>
            <a:gdLst/>
            <a:ahLst/>
            <a:cxnLst/>
            <a:rect l="l" t="t" r="r" b="b"/>
            <a:pathLst>
              <a:path w="346101" h="276881" extrusionOk="0">
                <a:moveTo>
                  <a:pt x="39477" y="-13466"/>
                </a:moveTo>
                <a:cubicBezTo>
                  <a:pt x="34394" y="-18549"/>
                  <a:pt x="26174" y="-18549"/>
                  <a:pt x="21145" y="-13466"/>
                </a:cubicBezTo>
                <a:cubicBezTo>
                  <a:pt x="16115" y="-8382"/>
                  <a:pt x="16061" y="-162"/>
                  <a:pt x="21091" y="4921"/>
                </a:cubicBezTo>
                <a:lnTo>
                  <a:pt x="306624" y="290455"/>
                </a:lnTo>
                <a:cubicBezTo>
                  <a:pt x="311708" y="295538"/>
                  <a:pt x="319928" y="295538"/>
                  <a:pt x="324957" y="290455"/>
                </a:cubicBezTo>
                <a:cubicBezTo>
                  <a:pt x="329986" y="285371"/>
                  <a:pt x="330040" y="277152"/>
                  <a:pt x="324957" y="272122"/>
                </a:cubicBezTo>
                <a:lnTo>
                  <a:pt x="174024" y="121136"/>
                </a:lnTo>
                <a:cubicBezTo>
                  <a:pt x="204632" y="120595"/>
                  <a:pt x="229292" y="95611"/>
                  <a:pt x="229292" y="64894"/>
                </a:cubicBezTo>
                <a:cubicBezTo>
                  <a:pt x="229292" y="33853"/>
                  <a:pt x="204092" y="8653"/>
                  <a:pt x="173051" y="8653"/>
                </a:cubicBezTo>
                <a:cubicBezTo>
                  <a:pt x="142334" y="8653"/>
                  <a:pt x="117350" y="33312"/>
                  <a:pt x="116809" y="63921"/>
                </a:cubicBezTo>
                <a:lnTo>
                  <a:pt x="39477" y="-13466"/>
                </a:lnTo>
                <a:close/>
                <a:moveTo>
                  <a:pt x="276881" y="155746"/>
                </a:moveTo>
                <a:cubicBezTo>
                  <a:pt x="267580" y="155746"/>
                  <a:pt x="258657" y="157584"/>
                  <a:pt x="250545" y="160937"/>
                </a:cubicBezTo>
                <a:lnTo>
                  <a:pt x="342478" y="252870"/>
                </a:lnTo>
                <a:cubicBezTo>
                  <a:pt x="344749" y="249950"/>
                  <a:pt x="346101" y="246273"/>
                  <a:pt x="346101" y="242271"/>
                </a:cubicBezTo>
                <a:lnTo>
                  <a:pt x="346101" y="224966"/>
                </a:lnTo>
                <a:cubicBezTo>
                  <a:pt x="346101" y="186733"/>
                  <a:pt x="315115" y="155746"/>
                  <a:pt x="276881" y="155746"/>
                </a:cubicBezTo>
                <a:close/>
                <a:moveTo>
                  <a:pt x="32393" y="52835"/>
                </a:moveTo>
                <a:cubicBezTo>
                  <a:pt x="20766" y="59594"/>
                  <a:pt x="12979" y="72141"/>
                  <a:pt x="12979" y="86525"/>
                </a:cubicBezTo>
                <a:cubicBezTo>
                  <a:pt x="12979" y="108049"/>
                  <a:pt x="30392" y="125462"/>
                  <a:pt x="51915" y="125462"/>
                </a:cubicBezTo>
                <a:cubicBezTo>
                  <a:pt x="66300" y="125462"/>
                  <a:pt x="78846" y="117674"/>
                  <a:pt x="85606" y="106048"/>
                </a:cubicBezTo>
                <a:lnTo>
                  <a:pt x="32393" y="52835"/>
                </a:lnTo>
                <a:close/>
                <a:moveTo>
                  <a:pt x="135304" y="155746"/>
                </a:moveTo>
                <a:cubicBezTo>
                  <a:pt x="106426" y="169752"/>
                  <a:pt x="86525" y="199387"/>
                  <a:pt x="86525" y="233618"/>
                </a:cubicBezTo>
                <a:lnTo>
                  <a:pt x="86525" y="242271"/>
                </a:lnTo>
                <a:cubicBezTo>
                  <a:pt x="86525" y="251843"/>
                  <a:pt x="94259" y="259576"/>
                  <a:pt x="103830" y="259576"/>
                </a:cubicBezTo>
                <a:lnTo>
                  <a:pt x="239134" y="259576"/>
                </a:lnTo>
                <a:lnTo>
                  <a:pt x="135304" y="155746"/>
                </a:lnTo>
                <a:close/>
                <a:moveTo>
                  <a:pt x="69220" y="155746"/>
                </a:moveTo>
                <a:cubicBezTo>
                  <a:pt x="30987" y="155746"/>
                  <a:pt x="0" y="186733"/>
                  <a:pt x="0" y="224966"/>
                </a:cubicBezTo>
                <a:lnTo>
                  <a:pt x="0" y="242271"/>
                </a:lnTo>
                <a:cubicBezTo>
                  <a:pt x="0" y="251843"/>
                  <a:pt x="7733" y="259576"/>
                  <a:pt x="17305" y="259576"/>
                </a:cubicBezTo>
                <a:lnTo>
                  <a:pt x="64191" y="259576"/>
                </a:lnTo>
                <a:cubicBezTo>
                  <a:pt x="61866" y="254276"/>
                  <a:pt x="60568" y="248436"/>
                  <a:pt x="60568" y="242271"/>
                </a:cubicBezTo>
                <a:lnTo>
                  <a:pt x="60568" y="233618"/>
                </a:lnTo>
                <a:cubicBezTo>
                  <a:pt x="60568" y="204849"/>
                  <a:pt x="71383" y="178567"/>
                  <a:pt x="89175" y="158666"/>
                </a:cubicBezTo>
                <a:cubicBezTo>
                  <a:pt x="82848" y="156773"/>
                  <a:pt x="76142" y="155746"/>
                  <a:pt x="69220" y="155746"/>
                </a:cubicBezTo>
                <a:close/>
                <a:moveTo>
                  <a:pt x="333123" y="86525"/>
                </a:moveTo>
                <a:cubicBezTo>
                  <a:pt x="333123" y="65036"/>
                  <a:pt x="315676" y="47589"/>
                  <a:pt x="294186" y="47589"/>
                </a:cubicBezTo>
                <a:cubicBezTo>
                  <a:pt x="272697" y="47589"/>
                  <a:pt x="255250" y="65036"/>
                  <a:pt x="255250" y="86525"/>
                </a:cubicBezTo>
                <a:cubicBezTo>
                  <a:pt x="255250" y="108015"/>
                  <a:pt x="272697" y="125462"/>
                  <a:pt x="294186" y="125462"/>
                </a:cubicBezTo>
                <a:cubicBezTo>
                  <a:pt x="315676" y="125462"/>
                  <a:pt x="333123" y="108015"/>
                  <a:pt x="333123" y="8652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1335182" y="4335497"/>
            <a:ext cx="1679746" cy="295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4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Cultural Barriers</a:t>
            </a:r>
            <a:endParaRPr sz="1600" b="0" i="0" u="none" strike="noStrike" cap="none"/>
          </a:p>
        </p:txBody>
      </p:sp>
      <p:sp>
        <p:nvSpPr>
          <p:cNvPr id="54" name="Google Shape;54;p5"/>
          <p:cNvSpPr/>
          <p:nvPr/>
        </p:nvSpPr>
        <p:spPr>
          <a:xfrm>
            <a:off x="1335182" y="4630837"/>
            <a:ext cx="1642828" cy="22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3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The Meiwaku Factor</a:t>
            </a:r>
            <a:endParaRPr sz="1600" b="0" i="0" u="none" strike="noStrike" cap="none"/>
          </a:p>
        </p:txBody>
      </p:sp>
      <p:sp>
        <p:nvSpPr>
          <p:cNvPr id="55" name="Google Shape;55;p5"/>
          <p:cNvSpPr/>
          <p:nvPr/>
        </p:nvSpPr>
        <p:spPr>
          <a:xfrm>
            <a:off x="596833" y="5036930"/>
            <a:ext cx="5343806" cy="36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6" b="1" i="0" u="none" strike="noStrike" cap="none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「迷惑」</a:t>
            </a:r>
            <a:endParaRPr sz="1600" b="0" i="0" u="none" strike="noStrike" cap="none"/>
          </a:p>
        </p:txBody>
      </p:sp>
      <p:sp>
        <p:nvSpPr>
          <p:cNvPr id="56" name="Google Shape;56;p5"/>
          <p:cNvSpPr/>
          <p:nvPr/>
        </p:nvSpPr>
        <p:spPr>
          <a:xfrm>
            <a:off x="596833" y="5516857"/>
            <a:ext cx="5260742" cy="107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8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The cultural value of "not burdening others" prevents neurodivergent individuals from requesting accommodations. Stigma remains significantly higher than in Western contexts even after awareness interventions.</a:t>
            </a:r>
            <a:endParaRPr sz="1600" b="0" i="0" u="none" strike="noStrike" cap="none"/>
          </a:p>
        </p:txBody>
      </p:sp>
      <p:sp>
        <p:nvSpPr>
          <p:cNvPr id="57" name="Google Shape;57;p5"/>
          <p:cNvSpPr/>
          <p:nvPr/>
        </p:nvSpPr>
        <p:spPr>
          <a:xfrm>
            <a:off x="6190793" y="4037081"/>
            <a:ext cx="5626840" cy="2821111"/>
          </a:xfrm>
          <a:prstGeom prst="roundRect">
            <a:avLst>
              <a:gd name="adj" fmla="val 3926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415375" y="4261662"/>
            <a:ext cx="590680" cy="590680"/>
          </a:xfrm>
          <a:prstGeom prst="roundRect">
            <a:avLst>
              <a:gd name="adj" fmla="val 1875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539971" y="4418562"/>
            <a:ext cx="346101" cy="276881"/>
          </a:xfrm>
          <a:custGeom>
            <a:avLst/>
            <a:gdLst/>
            <a:ahLst/>
            <a:cxnLst/>
            <a:rect l="l" t="t" r="r" b="b"/>
            <a:pathLst>
              <a:path w="346101" h="276881" extrusionOk="0">
                <a:moveTo>
                  <a:pt x="207661" y="17305"/>
                </a:moveTo>
                <a:lnTo>
                  <a:pt x="276881" y="17305"/>
                </a:lnTo>
                <a:cubicBezTo>
                  <a:pt x="286453" y="17305"/>
                  <a:pt x="294186" y="25038"/>
                  <a:pt x="294186" y="34610"/>
                </a:cubicBezTo>
                <a:cubicBezTo>
                  <a:pt x="294186" y="44182"/>
                  <a:pt x="286453" y="51915"/>
                  <a:pt x="276881" y="51915"/>
                </a:cubicBezTo>
                <a:lnTo>
                  <a:pt x="215448" y="51915"/>
                </a:lnTo>
                <a:cubicBezTo>
                  <a:pt x="212636" y="65867"/>
                  <a:pt x="203064" y="77386"/>
                  <a:pt x="190356" y="82902"/>
                </a:cubicBezTo>
                <a:lnTo>
                  <a:pt x="190356" y="242271"/>
                </a:lnTo>
                <a:lnTo>
                  <a:pt x="276881" y="242271"/>
                </a:lnTo>
                <a:cubicBezTo>
                  <a:pt x="286453" y="242271"/>
                  <a:pt x="294186" y="250004"/>
                  <a:pt x="294186" y="259576"/>
                </a:cubicBezTo>
                <a:cubicBezTo>
                  <a:pt x="294186" y="269148"/>
                  <a:pt x="286453" y="276881"/>
                  <a:pt x="276881" y="276881"/>
                </a:cubicBezTo>
                <a:lnTo>
                  <a:pt x="69220" y="276881"/>
                </a:lnTo>
                <a:cubicBezTo>
                  <a:pt x="59648" y="276881"/>
                  <a:pt x="51915" y="269148"/>
                  <a:pt x="51915" y="259576"/>
                </a:cubicBezTo>
                <a:cubicBezTo>
                  <a:pt x="51915" y="250004"/>
                  <a:pt x="59648" y="242271"/>
                  <a:pt x="69220" y="242271"/>
                </a:cubicBezTo>
                <a:lnTo>
                  <a:pt x="155746" y="242271"/>
                </a:lnTo>
                <a:lnTo>
                  <a:pt x="155746" y="82902"/>
                </a:lnTo>
                <a:cubicBezTo>
                  <a:pt x="143037" y="77332"/>
                  <a:pt x="133465" y="65813"/>
                  <a:pt x="130653" y="51915"/>
                </a:cubicBezTo>
                <a:lnTo>
                  <a:pt x="69220" y="51915"/>
                </a:lnTo>
                <a:cubicBezTo>
                  <a:pt x="59648" y="51915"/>
                  <a:pt x="51915" y="44182"/>
                  <a:pt x="51915" y="34610"/>
                </a:cubicBezTo>
                <a:cubicBezTo>
                  <a:pt x="51915" y="25038"/>
                  <a:pt x="59648" y="17305"/>
                  <a:pt x="69220" y="17305"/>
                </a:cubicBezTo>
                <a:lnTo>
                  <a:pt x="138441" y="17305"/>
                </a:lnTo>
                <a:cubicBezTo>
                  <a:pt x="146336" y="6814"/>
                  <a:pt x="158882" y="0"/>
                  <a:pt x="173051" y="0"/>
                </a:cubicBezTo>
                <a:cubicBezTo>
                  <a:pt x="187219" y="0"/>
                  <a:pt x="199765" y="6814"/>
                  <a:pt x="207661" y="17305"/>
                </a:cubicBezTo>
                <a:close/>
                <a:moveTo>
                  <a:pt x="237728" y="173051"/>
                </a:moveTo>
                <a:lnTo>
                  <a:pt x="316034" y="173051"/>
                </a:lnTo>
                <a:lnTo>
                  <a:pt x="276881" y="105885"/>
                </a:lnTo>
                <a:lnTo>
                  <a:pt x="237728" y="173051"/>
                </a:lnTo>
                <a:close/>
                <a:moveTo>
                  <a:pt x="276881" y="224966"/>
                </a:moveTo>
                <a:cubicBezTo>
                  <a:pt x="242866" y="224966"/>
                  <a:pt x="214583" y="206579"/>
                  <a:pt x="208742" y="182298"/>
                </a:cubicBezTo>
                <a:cubicBezTo>
                  <a:pt x="207336" y="176349"/>
                  <a:pt x="209283" y="170239"/>
                  <a:pt x="212366" y="164939"/>
                </a:cubicBezTo>
                <a:lnTo>
                  <a:pt x="263848" y="76683"/>
                </a:lnTo>
                <a:cubicBezTo>
                  <a:pt x="266552" y="72032"/>
                  <a:pt x="271527" y="69220"/>
                  <a:pt x="276881" y="69220"/>
                </a:cubicBezTo>
                <a:cubicBezTo>
                  <a:pt x="282235" y="69220"/>
                  <a:pt x="287210" y="72086"/>
                  <a:pt x="289914" y="76683"/>
                </a:cubicBezTo>
                <a:lnTo>
                  <a:pt x="341397" y="164939"/>
                </a:lnTo>
                <a:cubicBezTo>
                  <a:pt x="344479" y="170239"/>
                  <a:pt x="346426" y="176349"/>
                  <a:pt x="345020" y="182298"/>
                </a:cubicBezTo>
                <a:cubicBezTo>
                  <a:pt x="339179" y="206525"/>
                  <a:pt x="310896" y="224966"/>
                  <a:pt x="276881" y="224966"/>
                </a:cubicBezTo>
                <a:close/>
                <a:moveTo>
                  <a:pt x="68571" y="105885"/>
                </a:moveTo>
                <a:lnTo>
                  <a:pt x="29419" y="173051"/>
                </a:lnTo>
                <a:lnTo>
                  <a:pt x="107778" y="173051"/>
                </a:lnTo>
                <a:lnTo>
                  <a:pt x="68571" y="105885"/>
                </a:lnTo>
                <a:close/>
                <a:moveTo>
                  <a:pt x="487" y="182298"/>
                </a:moveTo>
                <a:cubicBezTo>
                  <a:pt x="-919" y="176349"/>
                  <a:pt x="1027" y="170239"/>
                  <a:pt x="4110" y="164939"/>
                </a:cubicBezTo>
                <a:lnTo>
                  <a:pt x="55593" y="76683"/>
                </a:lnTo>
                <a:cubicBezTo>
                  <a:pt x="58296" y="72032"/>
                  <a:pt x="63272" y="69220"/>
                  <a:pt x="68625" y="69220"/>
                </a:cubicBezTo>
                <a:cubicBezTo>
                  <a:pt x="73979" y="69220"/>
                  <a:pt x="78954" y="72086"/>
                  <a:pt x="81658" y="76683"/>
                </a:cubicBezTo>
                <a:lnTo>
                  <a:pt x="133141" y="164939"/>
                </a:lnTo>
                <a:cubicBezTo>
                  <a:pt x="136223" y="170239"/>
                  <a:pt x="138170" y="176349"/>
                  <a:pt x="136764" y="182298"/>
                </a:cubicBezTo>
                <a:cubicBezTo>
                  <a:pt x="130924" y="206525"/>
                  <a:pt x="102641" y="224966"/>
                  <a:pt x="68625" y="224966"/>
                </a:cubicBezTo>
                <a:cubicBezTo>
                  <a:pt x="34610" y="224966"/>
                  <a:pt x="6327" y="206579"/>
                  <a:pt x="487" y="18229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7153725" y="4298580"/>
            <a:ext cx="2085838" cy="295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4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Implementation Gap</a:t>
            </a:r>
            <a:endParaRPr sz="1600" b="0" i="0" u="none" strike="noStrike" cap="none"/>
          </a:p>
        </p:txBody>
      </p:sp>
      <p:sp>
        <p:nvSpPr>
          <p:cNvPr id="61" name="Google Shape;61;p5"/>
          <p:cNvSpPr/>
          <p:nvPr/>
        </p:nvSpPr>
        <p:spPr>
          <a:xfrm>
            <a:off x="7153725" y="4593920"/>
            <a:ext cx="2048921" cy="22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3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Law vs. Reality</a:t>
            </a:r>
            <a:endParaRPr sz="1600" b="0" i="0" u="none" strike="noStrike" cap="none"/>
          </a:p>
        </p:txBody>
      </p:sp>
      <p:sp>
        <p:nvSpPr>
          <p:cNvPr id="62" name="Google Shape;62;p5"/>
          <p:cNvSpPr/>
          <p:nvPr/>
        </p:nvSpPr>
        <p:spPr>
          <a:xfrm>
            <a:off x="6415375" y="5000012"/>
            <a:ext cx="5399182" cy="44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8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2024</a:t>
            </a:r>
            <a:endParaRPr sz="1600" b="0" i="0" u="none" strike="noStrike" cap="none"/>
          </a:p>
        </p:txBody>
      </p:sp>
      <p:sp>
        <p:nvSpPr>
          <p:cNvPr id="63" name="Google Shape;63;p5"/>
          <p:cNvSpPr/>
          <p:nvPr/>
        </p:nvSpPr>
        <p:spPr>
          <a:xfrm>
            <a:off x="6415375" y="5553774"/>
            <a:ext cx="5260742" cy="107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8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Japan's amended law mandating reasonable accommodation took effect April 2024, yet practical implementation remains limited. The disconnect between legal protection and workplace reality creates invisible barriers.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381000" y="457200"/>
            <a:ext cx="76200" cy="4572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571500" y="38100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PROBLEM DEFINITION</a:t>
            </a:r>
            <a:endParaRPr sz="1600" b="0" i="0" u="none" strike="noStrike" cap="none"/>
          </a:p>
        </p:txBody>
      </p:sp>
      <p:sp>
        <p:nvSpPr>
          <p:cNvPr id="71" name="Google Shape;71;p6"/>
          <p:cNvSpPr/>
          <p:nvPr/>
        </p:nvSpPr>
        <p:spPr>
          <a:xfrm>
            <a:off x="571500" y="609600"/>
            <a:ext cx="64960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Problem Background &amp; Target Beneficiary</a:t>
            </a:r>
            <a:endParaRPr sz="1600" b="0" i="0" u="none" strike="noStrike" cap="none"/>
          </a:p>
        </p:txBody>
      </p:sp>
      <p:sp>
        <p:nvSpPr>
          <p:cNvPr id="72" name="Google Shape;72;p6"/>
          <p:cNvSpPr/>
          <p:nvPr/>
        </p:nvSpPr>
        <p:spPr>
          <a:xfrm>
            <a:off x="384175" y="1298575"/>
            <a:ext cx="6502400" cy="2368550"/>
          </a:xfrm>
          <a:prstGeom prst="roundRect">
            <a:avLst>
              <a:gd name="adj" fmla="val 4826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01663" y="15303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815975" y="1492251"/>
            <a:ext cx="59721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The Core Problem</a:t>
            </a:r>
            <a:endParaRPr sz="1600" b="0" i="0" u="none" strike="noStrike" cap="none"/>
          </a:p>
        </p:txBody>
      </p:sp>
      <p:sp>
        <p:nvSpPr>
          <p:cNvPr id="75" name="Google Shape;75;p6"/>
          <p:cNvSpPr/>
          <p:nvPr/>
        </p:nvSpPr>
        <p:spPr>
          <a:xfrm>
            <a:off x="577850" y="1873251"/>
            <a:ext cx="6191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Neurodivergent individuals in Japan face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systemic barriers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in education, employment, and social participation due to persistent stigma, lack of public awareness, and inadequate practical accommodations.</a:t>
            </a:r>
            <a:endParaRPr sz="1600" b="0" i="0" u="none" strike="noStrike" cap="none"/>
          </a:p>
        </p:txBody>
      </p:sp>
      <p:sp>
        <p:nvSpPr>
          <p:cNvPr id="76" name="Google Shape;76;p6"/>
          <p:cNvSpPr/>
          <p:nvPr/>
        </p:nvSpPr>
        <p:spPr>
          <a:xfrm>
            <a:off x="577850" y="2730501"/>
            <a:ext cx="6191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Despite legal protections under the 2016 Act (amended 2024), the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implementation gap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between policy and practice leaves many without support. Cultural factors compound these challenges, making Japan's neurodivergent inclusion landscape uniquely complex.</a:t>
            </a:r>
            <a:endParaRPr sz="1600" b="0" i="0" u="none" strike="noStrike" cap="none"/>
          </a:p>
        </p:txBody>
      </p:sp>
      <p:sp>
        <p:nvSpPr>
          <p:cNvPr id="77" name="Google Shape;77;p6"/>
          <p:cNvSpPr/>
          <p:nvPr/>
        </p:nvSpPr>
        <p:spPr>
          <a:xfrm>
            <a:off x="384175" y="3825875"/>
            <a:ext cx="6502400" cy="2854325"/>
          </a:xfrm>
          <a:prstGeom prst="roundRect">
            <a:avLst>
              <a:gd name="adj" fmla="val 4004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589756" y="4057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107156" y="-5953"/>
                </a:moveTo>
                <a:cubicBezTo>
                  <a:pt x="113742" y="-5953"/>
                  <a:pt x="119063" y="-633"/>
                  <a:pt x="119063" y="5953"/>
                </a:cubicBezTo>
                <a:lnTo>
                  <a:pt x="119063" y="12762"/>
                </a:lnTo>
                <a:cubicBezTo>
                  <a:pt x="155563" y="17971"/>
                  <a:pt x="184435" y="46844"/>
                  <a:pt x="189644" y="83344"/>
                </a:cubicBezTo>
                <a:lnTo>
                  <a:pt x="196453" y="83344"/>
                </a:lnTo>
                <a:cubicBezTo>
                  <a:pt x="203039" y="83344"/>
                  <a:pt x="208359" y="88664"/>
                  <a:pt x="208359" y="95250"/>
                </a:cubicBezTo>
                <a:cubicBezTo>
                  <a:pt x="208359" y="101836"/>
                  <a:pt x="203039" y="107156"/>
                  <a:pt x="196453" y="107156"/>
                </a:cubicBezTo>
                <a:lnTo>
                  <a:pt x="189644" y="107156"/>
                </a:lnTo>
                <a:cubicBezTo>
                  <a:pt x="184435" y="143656"/>
                  <a:pt x="155563" y="172529"/>
                  <a:pt x="119063" y="177738"/>
                </a:cubicBezTo>
                <a:lnTo>
                  <a:pt x="119063" y="184547"/>
                </a:lnTo>
                <a:cubicBezTo>
                  <a:pt x="119063" y="191133"/>
                  <a:pt x="113742" y="196453"/>
                  <a:pt x="107156" y="196453"/>
                </a:cubicBezTo>
                <a:cubicBezTo>
                  <a:pt x="100571" y="196453"/>
                  <a:pt x="95250" y="191133"/>
                  <a:pt x="95250" y="184547"/>
                </a:cubicBezTo>
                <a:lnTo>
                  <a:pt x="95250" y="177738"/>
                </a:lnTo>
                <a:cubicBezTo>
                  <a:pt x="58750" y="172529"/>
                  <a:pt x="29877" y="143656"/>
                  <a:pt x="24668" y="107156"/>
                </a:cubicBezTo>
                <a:lnTo>
                  <a:pt x="17859" y="107156"/>
                </a:lnTo>
                <a:cubicBezTo>
                  <a:pt x="11274" y="107156"/>
                  <a:pt x="5953" y="101836"/>
                  <a:pt x="5953" y="95250"/>
                </a:cubicBezTo>
                <a:cubicBezTo>
                  <a:pt x="5953" y="88664"/>
                  <a:pt x="11274" y="83344"/>
                  <a:pt x="17859" y="83344"/>
                </a:cubicBezTo>
                <a:lnTo>
                  <a:pt x="24668" y="83344"/>
                </a:lnTo>
                <a:cubicBezTo>
                  <a:pt x="29877" y="46844"/>
                  <a:pt x="58750" y="17971"/>
                  <a:pt x="95250" y="12762"/>
                </a:cubicBezTo>
                <a:lnTo>
                  <a:pt x="95250" y="5953"/>
                </a:lnTo>
                <a:cubicBezTo>
                  <a:pt x="95250" y="-633"/>
                  <a:pt x="100571" y="-5953"/>
                  <a:pt x="107156" y="-5953"/>
                </a:cubicBezTo>
                <a:close/>
                <a:moveTo>
                  <a:pt x="48816" y="107156"/>
                </a:moveTo>
                <a:cubicBezTo>
                  <a:pt x="53541" y="130485"/>
                  <a:pt x="71921" y="148865"/>
                  <a:pt x="95250" y="153591"/>
                </a:cubicBezTo>
                <a:lnTo>
                  <a:pt x="95250" y="148828"/>
                </a:lnTo>
                <a:cubicBezTo>
                  <a:pt x="95250" y="142242"/>
                  <a:pt x="100571" y="136922"/>
                  <a:pt x="107156" y="136922"/>
                </a:cubicBezTo>
                <a:cubicBezTo>
                  <a:pt x="113742" y="136922"/>
                  <a:pt x="119063" y="142242"/>
                  <a:pt x="119063" y="148828"/>
                </a:cubicBezTo>
                <a:lnTo>
                  <a:pt x="119063" y="153591"/>
                </a:lnTo>
                <a:cubicBezTo>
                  <a:pt x="142391" y="148865"/>
                  <a:pt x="160772" y="130485"/>
                  <a:pt x="165497" y="107156"/>
                </a:cubicBezTo>
                <a:lnTo>
                  <a:pt x="160734" y="107156"/>
                </a:lnTo>
                <a:cubicBezTo>
                  <a:pt x="154149" y="107156"/>
                  <a:pt x="148828" y="101836"/>
                  <a:pt x="148828" y="95250"/>
                </a:cubicBezTo>
                <a:cubicBezTo>
                  <a:pt x="148828" y="88664"/>
                  <a:pt x="154149" y="83344"/>
                  <a:pt x="160734" y="83344"/>
                </a:cubicBezTo>
                <a:lnTo>
                  <a:pt x="165497" y="83344"/>
                </a:lnTo>
                <a:cubicBezTo>
                  <a:pt x="160772" y="60015"/>
                  <a:pt x="142391" y="41635"/>
                  <a:pt x="119063" y="36909"/>
                </a:cubicBezTo>
                <a:lnTo>
                  <a:pt x="119063" y="41672"/>
                </a:lnTo>
                <a:cubicBezTo>
                  <a:pt x="119063" y="48258"/>
                  <a:pt x="113742" y="53578"/>
                  <a:pt x="107156" y="53578"/>
                </a:cubicBezTo>
                <a:cubicBezTo>
                  <a:pt x="100571" y="53578"/>
                  <a:pt x="95250" y="48258"/>
                  <a:pt x="95250" y="41672"/>
                </a:cubicBezTo>
                <a:lnTo>
                  <a:pt x="95250" y="36909"/>
                </a:lnTo>
                <a:cubicBezTo>
                  <a:pt x="71921" y="41635"/>
                  <a:pt x="53541" y="60015"/>
                  <a:pt x="48816" y="83344"/>
                </a:cubicBezTo>
                <a:lnTo>
                  <a:pt x="53578" y="83344"/>
                </a:lnTo>
                <a:cubicBezTo>
                  <a:pt x="60164" y="83344"/>
                  <a:pt x="65484" y="88664"/>
                  <a:pt x="65484" y="95250"/>
                </a:cubicBezTo>
                <a:cubicBezTo>
                  <a:pt x="65484" y="101836"/>
                  <a:pt x="60164" y="107156"/>
                  <a:pt x="53578" y="107156"/>
                </a:cubicBezTo>
                <a:lnTo>
                  <a:pt x="48816" y="107156"/>
                </a:lnTo>
                <a:close/>
                <a:moveTo>
                  <a:pt x="107156" y="77391"/>
                </a:moveTo>
                <a:cubicBezTo>
                  <a:pt x="117013" y="77391"/>
                  <a:pt x="125016" y="85393"/>
                  <a:pt x="125016" y="95250"/>
                </a:cubicBezTo>
                <a:cubicBezTo>
                  <a:pt x="125016" y="105107"/>
                  <a:pt x="117013" y="113109"/>
                  <a:pt x="107156" y="113109"/>
                </a:cubicBezTo>
                <a:cubicBezTo>
                  <a:pt x="97299" y="113109"/>
                  <a:pt x="89297" y="105107"/>
                  <a:pt x="89297" y="95250"/>
                </a:cubicBezTo>
                <a:cubicBezTo>
                  <a:pt x="89297" y="85393"/>
                  <a:pt x="97299" y="77391"/>
                  <a:pt x="107156" y="7739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15975" y="4019550"/>
            <a:ext cx="59721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Problem Scope</a:t>
            </a:r>
            <a:endParaRPr sz="1600" b="0" i="0" u="none" strike="noStrike" cap="none"/>
          </a:p>
        </p:txBody>
      </p:sp>
      <p:sp>
        <p:nvSpPr>
          <p:cNvPr id="80" name="Google Shape;80;p6"/>
          <p:cNvSpPr/>
          <p:nvPr/>
        </p:nvSpPr>
        <p:spPr>
          <a:xfrm>
            <a:off x="581025" y="4403725"/>
            <a:ext cx="1958975" cy="1149350"/>
          </a:xfrm>
          <a:prstGeom prst="roundRect">
            <a:avLst>
              <a:gd name="adj" fmla="val 6630"/>
            </a:avLst>
          </a:prstGeom>
          <a:solidFill>
            <a:srgbClr val="191919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430040" y="452120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60400" y="4826001"/>
            <a:ext cx="1800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Education</a:t>
            </a:r>
            <a:endParaRPr sz="1600" b="0" i="0" u="none" strike="noStrike" cap="none"/>
          </a:p>
        </p:txBody>
      </p:sp>
      <p:sp>
        <p:nvSpPr>
          <p:cNvPr id="83" name="Google Shape;83;p6"/>
          <p:cNvSpPr/>
          <p:nvPr/>
        </p:nvSpPr>
        <p:spPr>
          <a:xfrm>
            <a:off x="665163" y="5054601"/>
            <a:ext cx="1790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Inadequate support in schools and universities</a:t>
            </a:r>
            <a:endParaRPr sz="1600" b="0" i="0" u="none" strike="noStrike" cap="none"/>
          </a:p>
        </p:txBody>
      </p:sp>
      <p:sp>
        <p:nvSpPr>
          <p:cNvPr id="84" name="Google Shape;84;p6"/>
          <p:cNvSpPr/>
          <p:nvPr/>
        </p:nvSpPr>
        <p:spPr>
          <a:xfrm>
            <a:off x="2656979" y="4403725"/>
            <a:ext cx="1958975" cy="1149350"/>
          </a:xfrm>
          <a:prstGeom prst="roundRect">
            <a:avLst>
              <a:gd name="adj" fmla="val 6630"/>
            </a:avLst>
          </a:prstGeom>
          <a:solidFill>
            <a:srgbClr val="191919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520380" y="45212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736354" y="4826001"/>
            <a:ext cx="1800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Employment</a:t>
            </a:r>
            <a:endParaRPr sz="1600" b="0" i="0" u="none" strike="noStrike" cap="none"/>
          </a:p>
        </p:txBody>
      </p:sp>
      <p:sp>
        <p:nvSpPr>
          <p:cNvPr id="87" name="Google Shape;87;p6"/>
          <p:cNvSpPr/>
          <p:nvPr/>
        </p:nvSpPr>
        <p:spPr>
          <a:xfrm>
            <a:off x="2741116" y="5054601"/>
            <a:ext cx="1790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Workplace discrimination and lack of accommodations</a:t>
            </a:r>
            <a:endParaRPr sz="1600" b="0" i="0" u="none" strike="noStrike" cap="none"/>
          </a:p>
        </p:txBody>
      </p:sp>
      <p:sp>
        <p:nvSpPr>
          <p:cNvPr id="88" name="Google Shape;88;p6"/>
          <p:cNvSpPr/>
          <p:nvPr/>
        </p:nvSpPr>
        <p:spPr>
          <a:xfrm>
            <a:off x="4733032" y="4403725"/>
            <a:ext cx="1958975" cy="1149350"/>
          </a:xfrm>
          <a:prstGeom prst="roundRect">
            <a:avLst>
              <a:gd name="adj" fmla="val 6630"/>
            </a:avLst>
          </a:prstGeom>
          <a:solidFill>
            <a:srgbClr val="191919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596335" y="45212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124033" y="3840"/>
                </a:moveTo>
                <a:cubicBezTo>
                  <a:pt x="118542" y="-1250"/>
                  <a:pt x="110058" y="-1250"/>
                  <a:pt x="104611" y="3840"/>
                </a:cubicBezTo>
                <a:lnTo>
                  <a:pt x="4599" y="96709"/>
                </a:lnTo>
                <a:cubicBezTo>
                  <a:pt x="313" y="100727"/>
                  <a:pt x="-1116" y="106933"/>
                  <a:pt x="1027" y="112380"/>
                </a:cubicBezTo>
                <a:cubicBezTo>
                  <a:pt x="3170" y="117827"/>
                  <a:pt x="8394" y="121444"/>
                  <a:pt x="14288" y="121444"/>
                </a:cubicBezTo>
                <a:lnTo>
                  <a:pt x="21431" y="121444"/>
                </a:lnTo>
                <a:lnTo>
                  <a:pt x="21431" y="200025"/>
                </a:lnTo>
                <a:cubicBezTo>
                  <a:pt x="21431" y="215786"/>
                  <a:pt x="34245" y="228600"/>
                  <a:pt x="50006" y="228600"/>
                </a:cubicBezTo>
                <a:lnTo>
                  <a:pt x="178594" y="228600"/>
                </a:lnTo>
                <a:cubicBezTo>
                  <a:pt x="194355" y="228600"/>
                  <a:pt x="207169" y="215786"/>
                  <a:pt x="207169" y="200025"/>
                </a:cubicBezTo>
                <a:lnTo>
                  <a:pt x="207169" y="121444"/>
                </a:lnTo>
                <a:lnTo>
                  <a:pt x="214313" y="121444"/>
                </a:lnTo>
                <a:cubicBezTo>
                  <a:pt x="220206" y="121444"/>
                  <a:pt x="225475" y="117827"/>
                  <a:pt x="227618" y="112380"/>
                </a:cubicBezTo>
                <a:cubicBezTo>
                  <a:pt x="229761" y="106933"/>
                  <a:pt x="228332" y="100682"/>
                  <a:pt x="224046" y="96709"/>
                </a:cubicBezTo>
                <a:lnTo>
                  <a:pt x="124033" y="3840"/>
                </a:lnTo>
                <a:close/>
                <a:moveTo>
                  <a:pt x="107156" y="142875"/>
                </a:moveTo>
                <a:lnTo>
                  <a:pt x="121444" y="142875"/>
                </a:lnTo>
                <a:cubicBezTo>
                  <a:pt x="133276" y="142875"/>
                  <a:pt x="142875" y="152474"/>
                  <a:pt x="142875" y="164306"/>
                </a:cubicBezTo>
                <a:lnTo>
                  <a:pt x="142875" y="207169"/>
                </a:lnTo>
                <a:lnTo>
                  <a:pt x="85725" y="207169"/>
                </a:lnTo>
                <a:lnTo>
                  <a:pt x="85725" y="164306"/>
                </a:lnTo>
                <a:cubicBezTo>
                  <a:pt x="85725" y="152474"/>
                  <a:pt x="95324" y="142875"/>
                  <a:pt x="107156" y="14287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812407" y="4826001"/>
            <a:ext cx="1800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Social Life</a:t>
            </a:r>
            <a:endParaRPr sz="1600" b="0" i="0" u="none" strike="noStrike" cap="none"/>
          </a:p>
        </p:txBody>
      </p:sp>
      <p:sp>
        <p:nvSpPr>
          <p:cNvPr id="91" name="Google Shape;91;p6"/>
          <p:cNvSpPr/>
          <p:nvPr/>
        </p:nvSpPr>
        <p:spPr>
          <a:xfrm>
            <a:off x="4817170" y="5054601"/>
            <a:ext cx="1790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Social isolation and communication barriers</a:t>
            </a:r>
            <a:endParaRPr sz="1600" b="0" i="0" u="none" strike="noStrike" cap="none"/>
          </a:p>
        </p:txBody>
      </p:sp>
      <p:sp>
        <p:nvSpPr>
          <p:cNvPr id="92" name="Google Shape;92;p6"/>
          <p:cNvSpPr/>
          <p:nvPr/>
        </p:nvSpPr>
        <p:spPr>
          <a:xfrm>
            <a:off x="7082135" y="1298575"/>
            <a:ext cx="4721225" cy="5378450"/>
          </a:xfrm>
          <a:prstGeom prst="roundRect">
            <a:avLst>
              <a:gd name="adj" fmla="val 2421"/>
            </a:avLst>
          </a:pr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262626"/>
              </a:gs>
            </a:gsLst>
            <a:lin ang="2700000" scaled="0"/>
          </a:gradFill>
          <a:ln w="9525" cap="flat" cmpd="sng">
            <a:solidFill>
              <a:srgbClr val="6366F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275811" y="149225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7413923" y="164465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28575" y="57150"/>
                </a:moveTo>
                <a:cubicBezTo>
                  <a:pt x="28575" y="29551"/>
                  <a:pt x="50982" y="7144"/>
                  <a:pt x="78581" y="7144"/>
                </a:cubicBezTo>
                <a:cubicBezTo>
                  <a:pt x="106180" y="7144"/>
                  <a:pt x="128588" y="29551"/>
                  <a:pt x="128588" y="57150"/>
                </a:cubicBezTo>
                <a:cubicBezTo>
                  <a:pt x="128588" y="84749"/>
                  <a:pt x="106180" y="107156"/>
                  <a:pt x="78581" y="107156"/>
                </a:cubicBezTo>
                <a:cubicBezTo>
                  <a:pt x="50982" y="107156"/>
                  <a:pt x="28575" y="84749"/>
                  <a:pt x="28575" y="57150"/>
                </a:cubicBezTo>
                <a:close/>
                <a:moveTo>
                  <a:pt x="0" y="207169"/>
                </a:moveTo>
                <a:cubicBezTo>
                  <a:pt x="0" y="163770"/>
                  <a:pt x="35183" y="128588"/>
                  <a:pt x="78581" y="128588"/>
                </a:cubicBezTo>
                <a:cubicBezTo>
                  <a:pt x="121980" y="128588"/>
                  <a:pt x="157163" y="163770"/>
                  <a:pt x="157163" y="207169"/>
                </a:cubicBezTo>
                <a:lnTo>
                  <a:pt x="157163" y="209848"/>
                </a:lnTo>
                <a:cubicBezTo>
                  <a:pt x="157163" y="220206"/>
                  <a:pt x="148769" y="228600"/>
                  <a:pt x="138410" y="228600"/>
                </a:cubicBezTo>
                <a:lnTo>
                  <a:pt x="18752" y="228600"/>
                </a:lnTo>
                <a:cubicBezTo>
                  <a:pt x="8394" y="228600"/>
                  <a:pt x="0" y="220206"/>
                  <a:pt x="0" y="209848"/>
                </a:cubicBezTo>
                <a:lnTo>
                  <a:pt x="0" y="207169"/>
                </a:lnTo>
                <a:close/>
                <a:moveTo>
                  <a:pt x="192881" y="28575"/>
                </a:moveTo>
                <a:cubicBezTo>
                  <a:pt x="216538" y="28575"/>
                  <a:pt x="235744" y="47781"/>
                  <a:pt x="235744" y="71438"/>
                </a:cubicBezTo>
                <a:cubicBezTo>
                  <a:pt x="235744" y="95094"/>
                  <a:pt x="216538" y="114300"/>
                  <a:pt x="192881" y="114300"/>
                </a:cubicBezTo>
                <a:cubicBezTo>
                  <a:pt x="169225" y="114300"/>
                  <a:pt x="150019" y="95094"/>
                  <a:pt x="150019" y="71438"/>
                </a:cubicBezTo>
                <a:cubicBezTo>
                  <a:pt x="150019" y="47781"/>
                  <a:pt x="169225" y="28575"/>
                  <a:pt x="192881" y="28575"/>
                </a:cubicBezTo>
                <a:close/>
                <a:moveTo>
                  <a:pt x="192881" y="135731"/>
                </a:moveTo>
                <a:cubicBezTo>
                  <a:pt x="228377" y="135731"/>
                  <a:pt x="257175" y="164529"/>
                  <a:pt x="257175" y="200025"/>
                </a:cubicBezTo>
                <a:lnTo>
                  <a:pt x="257175" y="210026"/>
                </a:lnTo>
                <a:cubicBezTo>
                  <a:pt x="257175" y="220295"/>
                  <a:pt x="248870" y="228600"/>
                  <a:pt x="238601" y="228600"/>
                </a:cubicBezTo>
                <a:lnTo>
                  <a:pt x="173950" y="228600"/>
                </a:lnTo>
                <a:cubicBezTo>
                  <a:pt x="176897" y="223019"/>
                  <a:pt x="178594" y="216634"/>
                  <a:pt x="178594" y="209848"/>
                </a:cubicBezTo>
                <a:lnTo>
                  <a:pt x="178594" y="207169"/>
                </a:lnTo>
                <a:cubicBezTo>
                  <a:pt x="178594" y="184175"/>
                  <a:pt x="170825" y="163011"/>
                  <a:pt x="157832" y="146134"/>
                </a:cubicBezTo>
                <a:cubicBezTo>
                  <a:pt x="167923" y="139571"/>
                  <a:pt x="179978" y="135731"/>
                  <a:pt x="192881" y="1357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923511" y="1606551"/>
            <a:ext cx="1962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Target Beneficiary</a:t>
            </a:r>
            <a:endParaRPr sz="1600" b="0" i="0" u="none" strike="noStrike" cap="none"/>
          </a:p>
        </p:txBody>
      </p:sp>
      <p:sp>
        <p:nvSpPr>
          <p:cNvPr id="96" name="Google Shape;96;p6"/>
          <p:cNvSpPr/>
          <p:nvPr/>
        </p:nvSpPr>
        <p:spPr>
          <a:xfrm>
            <a:off x="7275811" y="2178051"/>
            <a:ext cx="4333875" cy="723900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390111" y="2292351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Demographics</a:t>
            </a:r>
            <a:endParaRPr sz="1600" b="0" i="0" u="none" strike="noStrike" cap="none"/>
          </a:p>
        </p:txBody>
      </p:sp>
      <p:sp>
        <p:nvSpPr>
          <p:cNvPr id="98" name="Google Shape;98;p6"/>
          <p:cNvSpPr/>
          <p:nvPr/>
        </p:nvSpPr>
        <p:spPr>
          <a:xfrm>
            <a:off x="7390111" y="2559051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Neurodivergent youth and young adults, ages 16-30</a:t>
            </a:r>
            <a:endParaRPr sz="1600" b="0" i="0" u="none" strike="noStrike" cap="none"/>
          </a:p>
        </p:txBody>
      </p:sp>
      <p:sp>
        <p:nvSpPr>
          <p:cNvPr id="99" name="Google Shape;99;p6"/>
          <p:cNvSpPr/>
          <p:nvPr/>
        </p:nvSpPr>
        <p:spPr>
          <a:xfrm>
            <a:off x="7275811" y="3016251"/>
            <a:ext cx="4333875" cy="723900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390111" y="3130551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Conditions</a:t>
            </a:r>
            <a:endParaRPr sz="1600" b="0" i="0" u="none" strike="noStrike" cap="none"/>
          </a:p>
        </p:txBody>
      </p:sp>
      <p:sp>
        <p:nvSpPr>
          <p:cNvPr id="101" name="Google Shape;101;p6"/>
          <p:cNvSpPr/>
          <p:nvPr/>
        </p:nvSpPr>
        <p:spPr>
          <a:xfrm>
            <a:off x="7390111" y="3397251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ASD, ADHD, and related neurodevelopmental conditions</a:t>
            </a:r>
            <a:endParaRPr sz="1600" b="0" i="0" u="none" strike="noStrike" cap="none"/>
          </a:p>
        </p:txBody>
      </p:sp>
      <p:sp>
        <p:nvSpPr>
          <p:cNvPr id="102" name="Google Shape;102;p6"/>
          <p:cNvSpPr/>
          <p:nvPr/>
        </p:nvSpPr>
        <p:spPr>
          <a:xfrm>
            <a:off x="7275811" y="3854451"/>
            <a:ext cx="4333875" cy="723900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390111" y="3968751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Location</a:t>
            </a:r>
            <a:endParaRPr sz="1600" b="0" i="0" u="none" strike="noStrike" cap="none"/>
          </a:p>
        </p:txBody>
      </p:sp>
      <p:sp>
        <p:nvSpPr>
          <p:cNvPr id="104" name="Google Shape;104;p6"/>
          <p:cNvSpPr/>
          <p:nvPr/>
        </p:nvSpPr>
        <p:spPr>
          <a:xfrm>
            <a:off x="7390111" y="4235451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Urban Japan, primarily Tokyo and surrounding prefectures</a:t>
            </a:r>
            <a:endParaRPr sz="1600" b="0" i="0" u="none" strike="noStrike" cap="none"/>
          </a:p>
        </p:txBody>
      </p:sp>
      <p:sp>
        <p:nvSpPr>
          <p:cNvPr id="105" name="Google Shape;105;p6"/>
          <p:cNvSpPr/>
          <p:nvPr/>
        </p:nvSpPr>
        <p:spPr>
          <a:xfrm>
            <a:off x="7275811" y="4692651"/>
            <a:ext cx="4333875" cy="952500"/>
          </a:xfrm>
          <a:prstGeom prst="roundRect">
            <a:avLst>
              <a:gd name="adj" fmla="val 8000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7390111" y="4806951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Focus</a:t>
            </a:r>
            <a:endParaRPr sz="1600" b="0" i="0" u="none" strike="noStrike" cap="none"/>
          </a:p>
        </p:txBody>
      </p:sp>
      <p:sp>
        <p:nvSpPr>
          <p:cNvPr id="107" name="Google Shape;107;p6"/>
          <p:cNvSpPr/>
          <p:nvPr/>
        </p:nvSpPr>
        <p:spPr>
          <a:xfrm>
            <a:off x="7390111" y="5073651"/>
            <a:ext cx="4181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High-functioning individuals navigating education-to-work transitions</a:t>
            </a:r>
            <a:endParaRPr sz="1600" b="0" i="0" u="none" strike="noStrike" cap="none"/>
          </a:p>
        </p:txBody>
      </p:sp>
      <p:sp>
        <p:nvSpPr>
          <p:cNvPr id="108" name="Google Shape;108;p6"/>
          <p:cNvSpPr/>
          <p:nvPr/>
        </p:nvSpPr>
        <p:spPr>
          <a:xfrm>
            <a:off x="7275811" y="5759451"/>
            <a:ext cx="4333875" cy="723900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390111" y="5873751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Key Challenge</a:t>
            </a:r>
            <a:endParaRPr sz="1600" b="0" i="0" u="none" strike="noStrike" cap="none"/>
          </a:p>
        </p:txBody>
      </p:sp>
      <p:sp>
        <p:nvSpPr>
          <p:cNvPr id="110" name="Google Shape;110;p6"/>
          <p:cNvSpPr/>
          <p:nvPr/>
        </p:nvSpPr>
        <p:spPr>
          <a:xfrm>
            <a:off x="7390111" y="6140451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Gap between legal protections and practical implementation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71500" y="381000"/>
            <a:ext cx="6638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EVIDENCE BASE</a:t>
            </a:r>
            <a:endParaRPr sz="1600" b="0" i="0" u="none" strike="noStrike" cap="none"/>
          </a:p>
        </p:txBody>
      </p:sp>
      <p:sp>
        <p:nvSpPr>
          <p:cNvPr id="118" name="Google Shape;118;p7"/>
          <p:cNvSpPr/>
          <p:nvPr/>
        </p:nvSpPr>
        <p:spPr>
          <a:xfrm>
            <a:off x="571500" y="609600"/>
            <a:ext cx="67341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Japan-Specific Evidence &amp; Current Context</a:t>
            </a:r>
            <a:endParaRPr sz="1600" b="0" i="0" u="none" strike="noStrike" cap="none"/>
          </a:p>
        </p:txBody>
      </p:sp>
      <p:sp>
        <p:nvSpPr>
          <p:cNvPr id="119" name="Google Shape;119;p7"/>
          <p:cNvSpPr/>
          <p:nvPr/>
        </p:nvSpPr>
        <p:spPr>
          <a:xfrm>
            <a:off x="384175" y="1222375"/>
            <a:ext cx="6759575" cy="2368550"/>
          </a:xfrm>
          <a:prstGeom prst="roundRect">
            <a:avLst>
              <a:gd name="adj" fmla="val 4826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539750" y="1377951"/>
            <a:ext cx="6534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ASD Prevalence Trends in Japan (GBD 2021)</a:t>
            </a:r>
            <a:endParaRPr sz="1600" b="0" i="0" u="none" strike="noStrike" cap="none"/>
          </a:p>
        </p:txBody>
      </p:sp>
      <p:pic>
        <p:nvPicPr>
          <p:cNvPr id="121" name="Google Shape;121;p7" descr="https://kimi-img.moonshot.cn/pub/slides/26-05-07-12:34:38-d7u1cnhg4pnh1ihdhv6g.png"/>
          <p:cNvPicPr preferRelativeResize="0"/>
          <p:nvPr/>
        </p:nvPicPr>
        <p:blipFill rotWithShape="1">
          <a:blip r:embed="rId3">
            <a:alphaModFix/>
          </a:blip>
          <a:srcRect t="25" b="25"/>
          <a:stretch/>
        </p:blipFill>
        <p:spPr>
          <a:xfrm>
            <a:off x="539750" y="1720851"/>
            <a:ext cx="6448425" cy="1714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384175" y="3711577"/>
            <a:ext cx="3321050" cy="2759075"/>
          </a:xfrm>
          <a:prstGeom prst="roundRect">
            <a:avLst>
              <a:gd name="adj" fmla="val 4143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587375" y="446405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extrusionOk="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92175" y="4425951"/>
            <a:ext cx="15335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Regional Variations</a:t>
            </a:r>
            <a:endParaRPr sz="1600" b="0" i="0" u="none" strike="noStrike" cap="none"/>
          </a:p>
        </p:txBody>
      </p:sp>
      <p:sp>
        <p:nvSpPr>
          <p:cNvPr id="125" name="Google Shape;125;p7"/>
          <p:cNvSpPr/>
          <p:nvPr/>
        </p:nvSpPr>
        <p:spPr>
          <a:xfrm>
            <a:off x="539750" y="4768851"/>
            <a:ext cx="3086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Higher ASD burden in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Tokyo, Aomori, Fukuoka, Nagano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. Urban areas show greater prevalence due to diagnostic access and awareness, not solely environmental factors.</a:t>
            </a:r>
            <a:endParaRPr sz="1600" b="0" i="0" u="none" strike="noStrike" cap="none"/>
          </a:p>
        </p:txBody>
      </p:sp>
      <p:sp>
        <p:nvSpPr>
          <p:cNvPr id="126" name="Google Shape;126;p7"/>
          <p:cNvSpPr/>
          <p:nvPr/>
        </p:nvSpPr>
        <p:spPr>
          <a:xfrm>
            <a:off x="3824585" y="3711577"/>
            <a:ext cx="3321050" cy="2759075"/>
          </a:xfrm>
          <a:prstGeom prst="roundRect">
            <a:avLst>
              <a:gd name="adj" fmla="val 4143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980160" y="446405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 extrusionOk="0">
                <a:moveTo>
                  <a:pt x="178594" y="-23812"/>
                </a:moveTo>
                <a:cubicBezTo>
                  <a:pt x="172008" y="-23812"/>
                  <a:pt x="166688" y="-18492"/>
                  <a:pt x="166688" y="-11906"/>
                </a:cubicBezTo>
                <a:cubicBezTo>
                  <a:pt x="166688" y="-5321"/>
                  <a:pt x="172008" y="0"/>
                  <a:pt x="178594" y="0"/>
                </a:cubicBezTo>
                <a:lnTo>
                  <a:pt x="197458" y="0"/>
                </a:lnTo>
                <a:lnTo>
                  <a:pt x="176361" y="21096"/>
                </a:lnTo>
                <a:cubicBezTo>
                  <a:pt x="166576" y="15255"/>
                  <a:pt x="155116" y="11906"/>
                  <a:pt x="142875" y="11906"/>
                </a:cubicBezTo>
                <a:cubicBezTo>
                  <a:pt x="129704" y="11906"/>
                  <a:pt x="117425" y="15813"/>
                  <a:pt x="107156" y="22510"/>
                </a:cubicBezTo>
                <a:cubicBezTo>
                  <a:pt x="96887" y="15813"/>
                  <a:pt x="84609" y="11906"/>
                  <a:pt x="71438" y="11906"/>
                </a:cubicBezTo>
                <a:cubicBezTo>
                  <a:pt x="35272" y="11906"/>
                  <a:pt x="5953" y="41225"/>
                  <a:pt x="5953" y="77391"/>
                </a:cubicBezTo>
                <a:cubicBezTo>
                  <a:pt x="5953" y="109500"/>
                  <a:pt x="29059" y="136215"/>
                  <a:pt x="59531" y="141796"/>
                </a:cubicBezTo>
                <a:lnTo>
                  <a:pt x="59531" y="154781"/>
                </a:lnTo>
                <a:lnTo>
                  <a:pt x="47625" y="154781"/>
                </a:lnTo>
                <a:cubicBezTo>
                  <a:pt x="41039" y="154781"/>
                  <a:pt x="35719" y="160102"/>
                  <a:pt x="35719" y="166688"/>
                </a:cubicBezTo>
                <a:cubicBezTo>
                  <a:pt x="35719" y="173273"/>
                  <a:pt x="41039" y="178594"/>
                  <a:pt x="47625" y="178594"/>
                </a:cubicBezTo>
                <a:lnTo>
                  <a:pt x="59531" y="178594"/>
                </a:lnTo>
                <a:lnTo>
                  <a:pt x="59531" y="190500"/>
                </a:lnTo>
                <a:cubicBezTo>
                  <a:pt x="59531" y="197086"/>
                  <a:pt x="64852" y="202406"/>
                  <a:pt x="71438" y="202406"/>
                </a:cubicBezTo>
                <a:cubicBezTo>
                  <a:pt x="78023" y="202406"/>
                  <a:pt x="83344" y="197086"/>
                  <a:pt x="83344" y="190500"/>
                </a:cubicBezTo>
                <a:lnTo>
                  <a:pt x="83344" y="178594"/>
                </a:lnTo>
                <a:lnTo>
                  <a:pt x="95250" y="178594"/>
                </a:lnTo>
                <a:cubicBezTo>
                  <a:pt x="101836" y="178594"/>
                  <a:pt x="107156" y="173273"/>
                  <a:pt x="107156" y="166688"/>
                </a:cubicBezTo>
                <a:cubicBezTo>
                  <a:pt x="107156" y="160102"/>
                  <a:pt x="101836" y="154781"/>
                  <a:pt x="95250" y="154781"/>
                </a:cubicBezTo>
                <a:lnTo>
                  <a:pt x="83344" y="154781"/>
                </a:lnTo>
                <a:lnTo>
                  <a:pt x="83344" y="141796"/>
                </a:lnTo>
                <a:cubicBezTo>
                  <a:pt x="92013" y="140196"/>
                  <a:pt x="100050" y="136922"/>
                  <a:pt x="107156" y="132271"/>
                </a:cubicBezTo>
                <a:cubicBezTo>
                  <a:pt x="117425" y="138968"/>
                  <a:pt x="129704" y="142875"/>
                  <a:pt x="142875" y="142875"/>
                </a:cubicBezTo>
                <a:cubicBezTo>
                  <a:pt x="179040" y="142875"/>
                  <a:pt x="208359" y="113556"/>
                  <a:pt x="208359" y="77391"/>
                </a:cubicBezTo>
                <a:cubicBezTo>
                  <a:pt x="208359" y="62099"/>
                  <a:pt x="203113" y="47997"/>
                  <a:pt x="194295" y="36835"/>
                </a:cubicBezTo>
                <a:lnTo>
                  <a:pt x="214313" y="16855"/>
                </a:lnTo>
                <a:lnTo>
                  <a:pt x="214313" y="35719"/>
                </a:lnTo>
                <a:cubicBezTo>
                  <a:pt x="214313" y="42304"/>
                  <a:pt x="219633" y="47625"/>
                  <a:pt x="226219" y="47625"/>
                </a:cubicBezTo>
                <a:cubicBezTo>
                  <a:pt x="232804" y="47625"/>
                  <a:pt x="238125" y="42304"/>
                  <a:pt x="238125" y="35719"/>
                </a:cubicBezTo>
                <a:lnTo>
                  <a:pt x="238125" y="-11906"/>
                </a:lnTo>
                <a:cubicBezTo>
                  <a:pt x="238125" y="-18492"/>
                  <a:pt x="232804" y="-23812"/>
                  <a:pt x="226219" y="-23812"/>
                </a:cubicBezTo>
                <a:lnTo>
                  <a:pt x="178594" y="-23812"/>
                </a:lnTo>
                <a:close/>
                <a:moveTo>
                  <a:pt x="125016" y="115044"/>
                </a:moveTo>
                <a:cubicBezTo>
                  <a:pt x="132531" y="104403"/>
                  <a:pt x="136922" y="91418"/>
                  <a:pt x="136922" y="77391"/>
                </a:cubicBezTo>
                <a:cubicBezTo>
                  <a:pt x="136922" y="63364"/>
                  <a:pt x="132531" y="50378"/>
                  <a:pt x="125016" y="39737"/>
                </a:cubicBezTo>
                <a:cubicBezTo>
                  <a:pt x="130448" y="37170"/>
                  <a:pt x="136475" y="35719"/>
                  <a:pt x="142875" y="35719"/>
                </a:cubicBezTo>
                <a:cubicBezTo>
                  <a:pt x="165906" y="35719"/>
                  <a:pt x="184547" y="54359"/>
                  <a:pt x="184547" y="77391"/>
                </a:cubicBezTo>
                <a:cubicBezTo>
                  <a:pt x="184547" y="100422"/>
                  <a:pt x="165906" y="119063"/>
                  <a:pt x="142875" y="119063"/>
                </a:cubicBezTo>
                <a:cubicBezTo>
                  <a:pt x="136475" y="119063"/>
                  <a:pt x="130411" y="117611"/>
                  <a:pt x="125016" y="115044"/>
                </a:cubicBezTo>
                <a:close/>
                <a:moveTo>
                  <a:pt x="107156" y="55922"/>
                </a:moveTo>
                <a:cubicBezTo>
                  <a:pt x="110951" y="62210"/>
                  <a:pt x="113109" y="69540"/>
                  <a:pt x="113109" y="77391"/>
                </a:cubicBezTo>
                <a:cubicBezTo>
                  <a:pt x="113109" y="85241"/>
                  <a:pt x="110951" y="92608"/>
                  <a:pt x="107156" y="98859"/>
                </a:cubicBezTo>
                <a:cubicBezTo>
                  <a:pt x="103361" y="92571"/>
                  <a:pt x="101203" y="85241"/>
                  <a:pt x="101203" y="77391"/>
                </a:cubicBezTo>
                <a:cubicBezTo>
                  <a:pt x="101203" y="69540"/>
                  <a:pt x="103361" y="62173"/>
                  <a:pt x="107156" y="55922"/>
                </a:cubicBezTo>
                <a:close/>
                <a:moveTo>
                  <a:pt x="89297" y="39737"/>
                </a:moveTo>
                <a:cubicBezTo>
                  <a:pt x="81781" y="50378"/>
                  <a:pt x="77391" y="63364"/>
                  <a:pt x="77391" y="77391"/>
                </a:cubicBezTo>
                <a:cubicBezTo>
                  <a:pt x="77391" y="91418"/>
                  <a:pt x="81781" y="104403"/>
                  <a:pt x="89297" y="115044"/>
                </a:cubicBezTo>
                <a:cubicBezTo>
                  <a:pt x="83902" y="117611"/>
                  <a:pt x="77837" y="119063"/>
                  <a:pt x="71438" y="119063"/>
                </a:cubicBezTo>
                <a:cubicBezTo>
                  <a:pt x="48406" y="119063"/>
                  <a:pt x="29766" y="100422"/>
                  <a:pt x="29766" y="77391"/>
                </a:cubicBezTo>
                <a:cubicBezTo>
                  <a:pt x="29766" y="54359"/>
                  <a:pt x="48406" y="35719"/>
                  <a:pt x="71438" y="35719"/>
                </a:cubicBezTo>
                <a:cubicBezTo>
                  <a:pt x="77837" y="35719"/>
                  <a:pt x="83902" y="37170"/>
                  <a:pt x="89297" y="3973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332585" y="4425951"/>
            <a:ext cx="1352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Gender Disparity</a:t>
            </a:r>
            <a:endParaRPr sz="1600" b="0" i="0" u="none" strike="noStrike" cap="none"/>
          </a:p>
        </p:txBody>
      </p:sp>
      <p:sp>
        <p:nvSpPr>
          <p:cNvPr id="129" name="Google Shape;129;p7"/>
          <p:cNvSpPr/>
          <p:nvPr/>
        </p:nvSpPr>
        <p:spPr>
          <a:xfrm>
            <a:off x="3980160" y="4768851"/>
            <a:ext cx="3086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Male-to-female ratio 4:1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, with significant underdiagnosis in females who employ masking strategies. This gap suggests many women remain unsupported.</a:t>
            </a:r>
            <a:endParaRPr sz="1600" b="0" i="0" u="none" strike="noStrike" cap="none"/>
          </a:p>
        </p:txBody>
      </p:sp>
      <p:sp>
        <p:nvSpPr>
          <p:cNvPr id="130" name="Google Shape;130;p7"/>
          <p:cNvSpPr/>
          <p:nvPr/>
        </p:nvSpPr>
        <p:spPr>
          <a:xfrm>
            <a:off x="7303096" y="1222375"/>
            <a:ext cx="4502150" cy="2292350"/>
          </a:xfrm>
          <a:prstGeom prst="roundRect">
            <a:avLst>
              <a:gd name="adj" fmla="val 4986"/>
            </a:avLst>
          </a:prstGeom>
          <a:gradFill>
            <a:gsLst>
              <a:gs pos="0">
                <a:srgbClr val="6366F1">
                  <a:alpha val="30196"/>
                </a:srgbClr>
              </a:gs>
              <a:gs pos="100000">
                <a:srgbClr val="262626"/>
              </a:gs>
            </a:gsLst>
            <a:lin ang="2700000" scaled="0"/>
          </a:gradFill>
          <a:ln w="9525" cap="flat" cmpd="sng">
            <a:solidFill>
              <a:srgbClr val="6366F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7503914" y="1425576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 extrusionOk="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3578" y="93762"/>
                </a:moveTo>
                <a:lnTo>
                  <a:pt x="53578" y="107156"/>
                </a:lnTo>
                <a:lnTo>
                  <a:pt x="40184" y="107156"/>
                </a:lnTo>
                <a:cubicBezTo>
                  <a:pt x="37237" y="107156"/>
                  <a:pt x="34826" y="109567"/>
                  <a:pt x="34826" y="112514"/>
                </a:cubicBezTo>
                <a:lnTo>
                  <a:pt x="34826" y="123230"/>
                </a:lnTo>
                <a:cubicBezTo>
                  <a:pt x="34826" y="126176"/>
                  <a:pt x="37237" y="128588"/>
                  <a:pt x="40184" y="128588"/>
                </a:cubicBezTo>
                <a:lnTo>
                  <a:pt x="53578" y="128588"/>
                </a:lnTo>
                <a:lnTo>
                  <a:pt x="53578" y="141982"/>
                </a:lnTo>
                <a:cubicBezTo>
                  <a:pt x="53578" y="144929"/>
                  <a:pt x="55989" y="147340"/>
                  <a:pt x="58936" y="147340"/>
                </a:cubicBezTo>
                <a:lnTo>
                  <a:pt x="69652" y="147340"/>
                </a:lnTo>
                <a:cubicBezTo>
                  <a:pt x="72598" y="147340"/>
                  <a:pt x="75009" y="144929"/>
                  <a:pt x="75009" y="141982"/>
                </a:cubicBezTo>
                <a:lnTo>
                  <a:pt x="75009" y="128588"/>
                </a:lnTo>
                <a:lnTo>
                  <a:pt x="88404" y="128588"/>
                </a:lnTo>
                <a:cubicBezTo>
                  <a:pt x="91351" y="128588"/>
                  <a:pt x="93762" y="126176"/>
                  <a:pt x="93762" y="123230"/>
                </a:cubicBezTo>
                <a:lnTo>
                  <a:pt x="93762" y="112514"/>
                </a:lnTo>
                <a:cubicBezTo>
                  <a:pt x="93762" y="109567"/>
                  <a:pt x="91351" y="107156"/>
                  <a:pt x="88404" y="107156"/>
                </a:cubicBezTo>
                <a:lnTo>
                  <a:pt x="75009" y="107156"/>
                </a:lnTo>
                <a:lnTo>
                  <a:pt x="75009" y="93762"/>
                </a:lnTo>
                <a:cubicBezTo>
                  <a:pt x="75009" y="90815"/>
                  <a:pt x="72598" y="88404"/>
                  <a:pt x="69652" y="88404"/>
                </a:cubicBezTo>
                <a:lnTo>
                  <a:pt x="58936" y="88404"/>
                </a:lnTo>
                <a:cubicBezTo>
                  <a:pt x="55989" y="88404"/>
                  <a:pt x="53578" y="90815"/>
                  <a:pt x="53578" y="93762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677745" y="1377951"/>
            <a:ext cx="4057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Key Statistics</a:t>
            </a:r>
            <a:endParaRPr sz="1600" b="0" i="0" u="none" strike="noStrike" cap="none"/>
          </a:p>
        </p:txBody>
      </p:sp>
      <p:sp>
        <p:nvSpPr>
          <p:cNvPr id="133" name="Google Shape;133;p7"/>
          <p:cNvSpPr/>
          <p:nvPr/>
        </p:nvSpPr>
        <p:spPr>
          <a:xfrm>
            <a:off x="7458670" y="175895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425333" y="1758951"/>
            <a:ext cx="371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sz="1600" b="0" i="0" u="none" strike="noStrike" cap="none"/>
          </a:p>
        </p:txBody>
      </p:sp>
      <p:sp>
        <p:nvSpPr>
          <p:cNvPr id="135" name="Google Shape;135;p7"/>
          <p:cNvSpPr/>
          <p:nvPr/>
        </p:nvSpPr>
        <p:spPr>
          <a:xfrm>
            <a:off x="7877770" y="1758951"/>
            <a:ext cx="3362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56%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lifetime suicidal ideation (ASD+ADHD traits)</a:t>
            </a:r>
            <a:endParaRPr sz="1600" b="0" i="0" u="none" strike="noStrike" cap="none"/>
          </a:p>
        </p:txBody>
      </p:sp>
      <p:sp>
        <p:nvSpPr>
          <p:cNvPr id="136" name="Google Shape;136;p7"/>
          <p:cNvSpPr/>
          <p:nvPr/>
        </p:nvSpPr>
        <p:spPr>
          <a:xfrm>
            <a:off x="7458670" y="213995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425333" y="2139951"/>
            <a:ext cx="371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sz="1600" b="0" i="0" u="none" strike="noStrike" cap="none"/>
          </a:p>
        </p:txBody>
      </p:sp>
      <p:sp>
        <p:nvSpPr>
          <p:cNvPr id="138" name="Google Shape;138;p7"/>
          <p:cNvSpPr/>
          <p:nvPr/>
        </p:nvSpPr>
        <p:spPr>
          <a:xfrm>
            <a:off x="7877770" y="2139951"/>
            <a:ext cx="3848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33.9%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lifetime suicidal ideation across all neurodivergent youth</a:t>
            </a:r>
            <a:endParaRPr sz="1600" b="0" i="0" u="none" strike="noStrike" cap="none"/>
          </a:p>
        </p:txBody>
      </p:sp>
      <p:sp>
        <p:nvSpPr>
          <p:cNvPr id="139" name="Google Shape;139;p7"/>
          <p:cNvSpPr/>
          <p:nvPr/>
        </p:nvSpPr>
        <p:spPr>
          <a:xfrm>
            <a:off x="7458670" y="267335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7425333" y="2673351"/>
            <a:ext cx="371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 b="0" i="0" u="none" strike="noStrike" cap="none"/>
          </a:p>
        </p:txBody>
      </p:sp>
      <p:sp>
        <p:nvSpPr>
          <p:cNvPr id="141" name="Google Shape;141;p7"/>
          <p:cNvSpPr/>
          <p:nvPr/>
        </p:nvSpPr>
        <p:spPr>
          <a:xfrm>
            <a:off x="7877770" y="2673351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3.26%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ASD prevalence (2014 birth cohort)</a:t>
            </a:r>
            <a:endParaRPr sz="1600" b="0" i="0" u="none" strike="noStrike" cap="none"/>
          </a:p>
        </p:txBody>
      </p:sp>
      <p:sp>
        <p:nvSpPr>
          <p:cNvPr id="142" name="Google Shape;142;p7"/>
          <p:cNvSpPr/>
          <p:nvPr/>
        </p:nvSpPr>
        <p:spPr>
          <a:xfrm>
            <a:off x="7458670" y="305435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7425333" y="3054351"/>
            <a:ext cx="371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sz="1600" b="0" i="0" u="none" strike="noStrike" cap="none"/>
          </a:p>
        </p:txBody>
      </p:sp>
      <p:sp>
        <p:nvSpPr>
          <p:cNvPr id="144" name="Google Shape;144;p7"/>
          <p:cNvSpPr/>
          <p:nvPr/>
        </p:nvSpPr>
        <p:spPr>
          <a:xfrm>
            <a:off x="7877770" y="3054351"/>
            <a:ext cx="3286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2.23%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cumulative incidence (2009 birth cohort)</a:t>
            </a:r>
            <a:endParaRPr sz="1600" b="0" i="0" u="none" strike="noStrike" cap="none"/>
          </a:p>
        </p:txBody>
      </p:sp>
      <p:sp>
        <p:nvSpPr>
          <p:cNvPr id="145" name="Google Shape;145;p7"/>
          <p:cNvSpPr/>
          <p:nvPr/>
        </p:nvSpPr>
        <p:spPr>
          <a:xfrm>
            <a:off x="7303096" y="3635377"/>
            <a:ext cx="4502150" cy="2835275"/>
          </a:xfrm>
          <a:prstGeom prst="roundRect">
            <a:avLst>
              <a:gd name="adj" fmla="val 4031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7471767" y="416877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 extrusionOk="0">
                <a:moveTo>
                  <a:pt x="56793" y="51368"/>
                </a:moveTo>
                <a:lnTo>
                  <a:pt x="50531" y="45106"/>
                </a:lnTo>
                <a:cubicBezTo>
                  <a:pt x="46345" y="40920"/>
                  <a:pt x="46345" y="34123"/>
                  <a:pt x="50531" y="29937"/>
                </a:cubicBezTo>
                <a:lnTo>
                  <a:pt x="88940" y="-8506"/>
                </a:lnTo>
                <a:cubicBezTo>
                  <a:pt x="93125" y="-12691"/>
                  <a:pt x="99923" y="-12691"/>
                  <a:pt x="104109" y="-8506"/>
                </a:cubicBezTo>
                <a:lnTo>
                  <a:pt x="110371" y="-2210"/>
                </a:lnTo>
                <a:cubicBezTo>
                  <a:pt x="114557" y="1976"/>
                  <a:pt x="114557" y="8773"/>
                  <a:pt x="110371" y="12959"/>
                </a:cubicBezTo>
                <a:lnTo>
                  <a:pt x="71962" y="51368"/>
                </a:lnTo>
                <a:cubicBezTo>
                  <a:pt x="67776" y="55554"/>
                  <a:pt x="60979" y="55554"/>
                  <a:pt x="56793" y="51368"/>
                </a:cubicBezTo>
                <a:close/>
                <a:moveTo>
                  <a:pt x="92422" y="70891"/>
                </a:moveTo>
                <a:lnTo>
                  <a:pt x="81908" y="60376"/>
                </a:lnTo>
                <a:lnTo>
                  <a:pt x="119412" y="22871"/>
                </a:lnTo>
                <a:lnTo>
                  <a:pt x="159395" y="62854"/>
                </a:lnTo>
                <a:lnTo>
                  <a:pt x="121890" y="100359"/>
                </a:lnTo>
                <a:lnTo>
                  <a:pt x="111376" y="89844"/>
                </a:lnTo>
                <a:lnTo>
                  <a:pt x="33687" y="167532"/>
                </a:lnTo>
                <a:cubicBezTo>
                  <a:pt x="28463" y="172756"/>
                  <a:pt x="19991" y="172756"/>
                  <a:pt x="14734" y="167532"/>
                </a:cubicBezTo>
                <a:cubicBezTo>
                  <a:pt x="9477" y="162308"/>
                  <a:pt x="9510" y="153836"/>
                  <a:pt x="14734" y="148579"/>
                </a:cubicBezTo>
                <a:lnTo>
                  <a:pt x="92422" y="70891"/>
                </a:lnTo>
                <a:close/>
                <a:moveTo>
                  <a:pt x="130898" y="125440"/>
                </a:moveTo>
                <a:cubicBezTo>
                  <a:pt x="126712" y="121254"/>
                  <a:pt x="126712" y="114456"/>
                  <a:pt x="130898" y="110270"/>
                </a:cubicBezTo>
                <a:lnTo>
                  <a:pt x="169307" y="71862"/>
                </a:lnTo>
                <a:cubicBezTo>
                  <a:pt x="173493" y="67676"/>
                  <a:pt x="180290" y="67676"/>
                  <a:pt x="184476" y="71862"/>
                </a:cubicBezTo>
                <a:lnTo>
                  <a:pt x="190738" y="78124"/>
                </a:lnTo>
                <a:cubicBezTo>
                  <a:pt x="194924" y="82309"/>
                  <a:pt x="194924" y="89107"/>
                  <a:pt x="190738" y="93293"/>
                </a:cubicBezTo>
                <a:lnTo>
                  <a:pt x="152329" y="131735"/>
                </a:lnTo>
                <a:cubicBezTo>
                  <a:pt x="148144" y="135921"/>
                  <a:pt x="141346" y="135921"/>
                  <a:pt x="137160" y="131735"/>
                </a:cubicBezTo>
                <a:lnTo>
                  <a:pt x="130898" y="12547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677745" y="4121151"/>
            <a:ext cx="4057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Legal Framework</a:t>
            </a:r>
            <a:endParaRPr sz="1600" b="0" i="0" u="none" strike="noStrike" cap="none"/>
          </a:p>
        </p:txBody>
      </p:sp>
      <p:sp>
        <p:nvSpPr>
          <p:cNvPr id="148" name="Google Shape;148;p7"/>
          <p:cNvSpPr/>
          <p:nvPr/>
        </p:nvSpPr>
        <p:spPr>
          <a:xfrm>
            <a:off x="7458670" y="4464051"/>
            <a:ext cx="4267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The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Act for Eliminating Discrimination against Persons with Disabilities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was enacted in 2016 and amended in April 2024 to mandate reasonable accommodation for all business operators.</a:t>
            </a:r>
            <a:endParaRPr sz="1600" b="0" i="0" u="none" strike="noStrike" cap="none"/>
          </a:p>
        </p:txBody>
      </p:sp>
      <p:sp>
        <p:nvSpPr>
          <p:cNvPr id="149" name="Google Shape;149;p7"/>
          <p:cNvSpPr/>
          <p:nvPr/>
        </p:nvSpPr>
        <p:spPr>
          <a:xfrm>
            <a:off x="7458670" y="5530851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Sources: GBD 2021, Frontiers Psychiatry 2025, Japanese Law Translation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571500" y="381000"/>
            <a:ext cx="5019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ROOT CAUSE ANALYSIS</a:t>
            </a:r>
            <a:endParaRPr sz="1600" b="0" i="0" u="none" strike="noStrike" cap="none"/>
          </a:p>
        </p:txBody>
      </p:sp>
      <p:sp>
        <p:nvSpPr>
          <p:cNvPr id="157" name="Google Shape;157;p8"/>
          <p:cNvSpPr/>
          <p:nvPr/>
        </p:nvSpPr>
        <p:spPr>
          <a:xfrm>
            <a:off x="571500" y="609600"/>
            <a:ext cx="51149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Root Causes &amp; Systemic Barriers</a:t>
            </a:r>
            <a:endParaRPr sz="1600" b="0" i="0" u="none" strike="noStrike" cap="none"/>
          </a:p>
        </p:txBody>
      </p:sp>
      <p:sp>
        <p:nvSpPr>
          <p:cNvPr id="158" name="Google Shape;158;p8"/>
          <p:cNvSpPr/>
          <p:nvPr/>
        </p:nvSpPr>
        <p:spPr>
          <a:xfrm>
            <a:off x="384175" y="1222375"/>
            <a:ext cx="2159000" cy="4549775"/>
          </a:xfrm>
          <a:prstGeom prst="roundRect">
            <a:avLst>
              <a:gd name="adj" fmla="val 5294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39750" y="137795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720725" y="153035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71438" y="0"/>
                </a:moveTo>
                <a:cubicBezTo>
                  <a:pt x="79340" y="0"/>
                  <a:pt x="85725" y="6385"/>
                  <a:pt x="85725" y="14288"/>
                </a:cubicBezTo>
                <a:lnTo>
                  <a:pt x="85725" y="64294"/>
                </a:lnTo>
                <a:lnTo>
                  <a:pt x="57150" y="64294"/>
                </a:lnTo>
                <a:lnTo>
                  <a:pt x="57150" y="14288"/>
                </a:lnTo>
                <a:cubicBezTo>
                  <a:pt x="57150" y="6385"/>
                  <a:pt x="63535" y="0"/>
                  <a:pt x="71438" y="0"/>
                </a:cubicBezTo>
                <a:close/>
                <a:moveTo>
                  <a:pt x="14288" y="28575"/>
                </a:moveTo>
                <a:cubicBezTo>
                  <a:pt x="14288" y="20672"/>
                  <a:pt x="20672" y="14288"/>
                  <a:pt x="28575" y="14288"/>
                </a:cubicBezTo>
                <a:cubicBezTo>
                  <a:pt x="36478" y="14288"/>
                  <a:pt x="42863" y="20672"/>
                  <a:pt x="42863" y="28575"/>
                </a:cubicBezTo>
                <a:lnTo>
                  <a:pt x="42863" y="64294"/>
                </a:lnTo>
                <a:lnTo>
                  <a:pt x="14288" y="64294"/>
                </a:lnTo>
                <a:lnTo>
                  <a:pt x="14288" y="28575"/>
                </a:lnTo>
                <a:close/>
                <a:moveTo>
                  <a:pt x="100013" y="28575"/>
                </a:moveTo>
                <a:cubicBezTo>
                  <a:pt x="100013" y="20672"/>
                  <a:pt x="106397" y="14288"/>
                  <a:pt x="114300" y="14288"/>
                </a:cubicBezTo>
                <a:cubicBezTo>
                  <a:pt x="122203" y="14288"/>
                  <a:pt x="128588" y="20672"/>
                  <a:pt x="128588" y="28575"/>
                </a:cubicBezTo>
                <a:lnTo>
                  <a:pt x="128588" y="71438"/>
                </a:lnTo>
                <a:cubicBezTo>
                  <a:pt x="128588" y="79340"/>
                  <a:pt x="122203" y="85725"/>
                  <a:pt x="114300" y="85725"/>
                </a:cubicBezTo>
                <a:cubicBezTo>
                  <a:pt x="106397" y="85725"/>
                  <a:pt x="100013" y="79340"/>
                  <a:pt x="100013" y="71438"/>
                </a:cubicBezTo>
                <a:lnTo>
                  <a:pt x="100013" y="28575"/>
                </a:lnTo>
                <a:close/>
                <a:moveTo>
                  <a:pt x="142875" y="57150"/>
                </a:moveTo>
                <a:cubicBezTo>
                  <a:pt x="142875" y="49247"/>
                  <a:pt x="149260" y="42863"/>
                  <a:pt x="157163" y="42863"/>
                </a:cubicBezTo>
                <a:cubicBezTo>
                  <a:pt x="165065" y="42863"/>
                  <a:pt x="171450" y="49247"/>
                  <a:pt x="171450" y="57150"/>
                </a:cubicBezTo>
                <a:lnTo>
                  <a:pt x="171450" y="85725"/>
                </a:lnTo>
                <a:cubicBezTo>
                  <a:pt x="171450" y="93628"/>
                  <a:pt x="165065" y="100013"/>
                  <a:pt x="157163" y="100013"/>
                </a:cubicBezTo>
                <a:cubicBezTo>
                  <a:pt x="149260" y="100013"/>
                  <a:pt x="142875" y="93628"/>
                  <a:pt x="142875" y="85725"/>
                </a:cubicBezTo>
                <a:lnTo>
                  <a:pt x="142875" y="57150"/>
                </a:lnTo>
                <a:close/>
                <a:moveTo>
                  <a:pt x="100013" y="96441"/>
                </a:moveTo>
                <a:lnTo>
                  <a:pt x="100013" y="96173"/>
                </a:lnTo>
                <a:cubicBezTo>
                  <a:pt x="104209" y="98584"/>
                  <a:pt x="109076" y="100013"/>
                  <a:pt x="114300" y="100013"/>
                </a:cubicBezTo>
                <a:cubicBezTo>
                  <a:pt x="120194" y="100013"/>
                  <a:pt x="125641" y="98227"/>
                  <a:pt x="130195" y="95190"/>
                </a:cubicBezTo>
                <a:cubicBezTo>
                  <a:pt x="134079" y="106308"/>
                  <a:pt x="144706" y="114300"/>
                  <a:pt x="157163" y="114300"/>
                </a:cubicBezTo>
                <a:cubicBezTo>
                  <a:pt x="162386" y="114300"/>
                  <a:pt x="167253" y="112916"/>
                  <a:pt x="171450" y="110460"/>
                </a:cubicBezTo>
                <a:lnTo>
                  <a:pt x="171450" y="114300"/>
                </a:lnTo>
                <a:cubicBezTo>
                  <a:pt x="171450" y="137651"/>
                  <a:pt x="160243" y="158413"/>
                  <a:pt x="142875" y="171450"/>
                </a:cubicBezTo>
                <a:lnTo>
                  <a:pt x="142875" y="214313"/>
                </a:lnTo>
                <a:cubicBezTo>
                  <a:pt x="142875" y="222215"/>
                  <a:pt x="136490" y="228600"/>
                  <a:pt x="128588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lnTo>
                  <a:pt x="42863" y="179308"/>
                </a:lnTo>
                <a:cubicBezTo>
                  <a:pt x="35138" y="175781"/>
                  <a:pt x="28039" y="170914"/>
                  <a:pt x="21922" y="164797"/>
                </a:cubicBezTo>
                <a:lnTo>
                  <a:pt x="16743" y="159618"/>
                </a:lnTo>
                <a:cubicBezTo>
                  <a:pt x="6028" y="148903"/>
                  <a:pt x="0" y="134347"/>
                  <a:pt x="0" y="119211"/>
                </a:cubicBezTo>
                <a:lnTo>
                  <a:pt x="0" y="107156"/>
                </a:lnTo>
                <a:cubicBezTo>
                  <a:pt x="0" y="91395"/>
                  <a:pt x="12814" y="78581"/>
                  <a:pt x="28575" y="78581"/>
                </a:cubicBezTo>
                <a:lnTo>
                  <a:pt x="67866" y="78581"/>
                </a:lnTo>
                <a:cubicBezTo>
                  <a:pt x="77733" y="78581"/>
                  <a:pt x="85725" y="86573"/>
                  <a:pt x="85725" y="96441"/>
                </a:cubicBezTo>
                <a:cubicBezTo>
                  <a:pt x="85725" y="106308"/>
                  <a:pt x="77733" y="114300"/>
                  <a:pt x="67866" y="114300"/>
                </a:cubicBezTo>
                <a:lnTo>
                  <a:pt x="42863" y="114300"/>
                </a:lnTo>
                <a:cubicBezTo>
                  <a:pt x="38933" y="114300"/>
                  <a:pt x="35719" y="117515"/>
                  <a:pt x="35719" y="121444"/>
                </a:cubicBezTo>
                <a:cubicBezTo>
                  <a:pt x="35719" y="125373"/>
                  <a:pt x="38933" y="128588"/>
                  <a:pt x="42863" y="128588"/>
                </a:cubicBezTo>
                <a:lnTo>
                  <a:pt x="67866" y="128588"/>
                </a:lnTo>
                <a:cubicBezTo>
                  <a:pt x="85636" y="128588"/>
                  <a:pt x="100013" y="114211"/>
                  <a:pt x="100013" y="9644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39750" y="2025651"/>
            <a:ext cx="1933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Cultural Stigma</a:t>
            </a:r>
            <a:endParaRPr sz="1600" b="0" i="0" u="none" strike="noStrike" cap="none"/>
          </a:p>
        </p:txBody>
      </p:sp>
      <p:sp>
        <p:nvSpPr>
          <p:cNvPr id="162" name="Google Shape;162;p8"/>
          <p:cNvSpPr/>
          <p:nvPr/>
        </p:nvSpPr>
        <p:spPr>
          <a:xfrm>
            <a:off x="539750" y="2368551"/>
            <a:ext cx="1924050" cy="28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The proverb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"the nail that sticks out gets hammered down"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reflects intense conformity pressure. Standing out risks mockery and bullying, especially in classrooms.</a:t>
            </a:r>
            <a:endParaRPr sz="1600" b="0" i="0" u="none" strike="noStrike" cap="none"/>
          </a:p>
        </p:txBody>
      </p:sp>
      <p:sp>
        <p:nvSpPr>
          <p:cNvPr id="163" name="Google Shape;163;p8"/>
          <p:cNvSpPr/>
          <p:nvPr/>
        </p:nvSpPr>
        <p:spPr>
          <a:xfrm>
            <a:off x="539750" y="5311777"/>
            <a:ext cx="1847850" cy="635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539750" y="5429250"/>
            <a:ext cx="1914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Impact: Social exclusion</a:t>
            </a:r>
            <a:endParaRPr sz="1600" b="0" i="0" u="none" strike="noStrike" cap="none"/>
          </a:p>
        </p:txBody>
      </p:sp>
      <p:sp>
        <p:nvSpPr>
          <p:cNvPr id="165" name="Google Shape;165;p8"/>
          <p:cNvSpPr/>
          <p:nvPr/>
        </p:nvSpPr>
        <p:spPr>
          <a:xfrm>
            <a:off x="2700635" y="1222375"/>
            <a:ext cx="2159000" cy="4549775"/>
          </a:xfrm>
          <a:prstGeom prst="roundRect">
            <a:avLst>
              <a:gd name="adj" fmla="val 5294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2856210" y="137795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2994323" y="153035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856210" y="2025651"/>
            <a:ext cx="1933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Lack of Awareness</a:t>
            </a:r>
            <a:endParaRPr sz="1600" b="0" i="0" u="none" strike="noStrike" cap="none"/>
          </a:p>
        </p:txBody>
      </p:sp>
      <p:sp>
        <p:nvSpPr>
          <p:cNvPr id="169" name="Google Shape;169;p8"/>
          <p:cNvSpPr/>
          <p:nvPr/>
        </p:nvSpPr>
        <p:spPr>
          <a:xfrm>
            <a:off x="2856210" y="2368551"/>
            <a:ext cx="1924050" cy="28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Studies show autism is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significantly more stigmatized in Japan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than the US. Even after intervention, Japanese students stigmatize autism at high rates unlike US students.</a:t>
            </a:r>
            <a:endParaRPr sz="1600" b="0" i="0" u="none" strike="noStrike" cap="none"/>
          </a:p>
        </p:txBody>
      </p:sp>
      <p:sp>
        <p:nvSpPr>
          <p:cNvPr id="170" name="Google Shape;170;p8"/>
          <p:cNvSpPr/>
          <p:nvPr/>
        </p:nvSpPr>
        <p:spPr>
          <a:xfrm>
            <a:off x="2856210" y="5311777"/>
            <a:ext cx="1847850" cy="635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856210" y="5429250"/>
            <a:ext cx="1914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Impact: Underdiagnosis</a:t>
            </a:r>
            <a:endParaRPr sz="1600" b="0" i="0" u="none" strike="noStrike" cap="none"/>
          </a:p>
        </p:txBody>
      </p:sp>
      <p:sp>
        <p:nvSpPr>
          <p:cNvPr id="172" name="Google Shape;172;p8"/>
          <p:cNvSpPr/>
          <p:nvPr/>
        </p:nvSpPr>
        <p:spPr>
          <a:xfrm>
            <a:off x="5017096" y="1222375"/>
            <a:ext cx="2159000" cy="4549775"/>
          </a:xfrm>
          <a:prstGeom prst="roundRect">
            <a:avLst>
              <a:gd name="adj" fmla="val 5294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5172670" y="137795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5353645" y="153035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5172670" y="2025651"/>
            <a:ext cx="19335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Inadequate Accommodation</a:t>
            </a:r>
            <a:endParaRPr sz="1600" b="0" i="0" u="none" strike="noStrike" cap="none"/>
          </a:p>
        </p:txBody>
      </p:sp>
      <p:sp>
        <p:nvSpPr>
          <p:cNvPr id="176" name="Google Shape;176;p8"/>
          <p:cNvSpPr/>
          <p:nvPr/>
        </p:nvSpPr>
        <p:spPr>
          <a:xfrm>
            <a:off x="5172670" y="2635251"/>
            <a:ext cx="1924050" cy="256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Despite the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2024 legal mandate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, practical implementation remains limited. Many businesses lack knowledge or resources to provide meaningful accommodations.</a:t>
            </a:r>
            <a:endParaRPr sz="1600" b="0" i="0" u="none" strike="noStrike" cap="none"/>
          </a:p>
        </p:txBody>
      </p:sp>
      <p:sp>
        <p:nvSpPr>
          <p:cNvPr id="177" name="Google Shape;177;p8"/>
          <p:cNvSpPr/>
          <p:nvPr/>
        </p:nvSpPr>
        <p:spPr>
          <a:xfrm>
            <a:off x="5172670" y="5311777"/>
            <a:ext cx="1847850" cy="635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172670" y="5429250"/>
            <a:ext cx="1914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Impact: Workplace barriers</a:t>
            </a:r>
            <a:endParaRPr sz="1600" b="0" i="0" u="none" strike="noStrike" cap="none"/>
          </a:p>
        </p:txBody>
      </p:sp>
      <p:sp>
        <p:nvSpPr>
          <p:cNvPr id="179" name="Google Shape;179;p8"/>
          <p:cNvSpPr/>
          <p:nvPr/>
        </p:nvSpPr>
        <p:spPr>
          <a:xfrm>
            <a:off x="7333555" y="1222375"/>
            <a:ext cx="2159000" cy="4549775"/>
          </a:xfrm>
          <a:prstGeom prst="roundRect">
            <a:avLst>
              <a:gd name="adj" fmla="val 5294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489131" y="137795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627243" y="153035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57150" y="28575"/>
                </a:moveTo>
                <a:cubicBezTo>
                  <a:pt x="57150" y="12814"/>
                  <a:pt x="69964" y="0"/>
                  <a:pt x="85725" y="0"/>
                </a:cubicBezTo>
                <a:lnTo>
                  <a:pt x="171450" y="0"/>
                </a:lnTo>
                <a:cubicBezTo>
                  <a:pt x="187211" y="0"/>
                  <a:pt x="200025" y="12814"/>
                  <a:pt x="200025" y="28575"/>
                </a:cubicBezTo>
                <a:lnTo>
                  <a:pt x="200025" y="57150"/>
                </a:lnTo>
                <a:lnTo>
                  <a:pt x="228600" y="57150"/>
                </a:lnTo>
                <a:cubicBezTo>
                  <a:pt x="244361" y="57150"/>
                  <a:pt x="257175" y="69964"/>
                  <a:pt x="257175" y="85725"/>
                </a:cubicBezTo>
                <a:lnTo>
                  <a:pt x="257175" y="200025"/>
                </a:lnTo>
                <a:cubicBezTo>
                  <a:pt x="257175" y="215786"/>
                  <a:pt x="244361" y="228600"/>
                  <a:pt x="228600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85725"/>
                </a:lnTo>
                <a:cubicBezTo>
                  <a:pt x="0" y="69964"/>
                  <a:pt x="12814" y="57150"/>
                  <a:pt x="28575" y="57150"/>
                </a:cubicBezTo>
                <a:lnTo>
                  <a:pt x="57150" y="57150"/>
                </a:lnTo>
                <a:lnTo>
                  <a:pt x="57150" y="28575"/>
                </a:lnTo>
                <a:close/>
                <a:moveTo>
                  <a:pt x="121444" y="157163"/>
                </a:moveTo>
                <a:cubicBezTo>
                  <a:pt x="113541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150019" y="207169"/>
                </a:lnTo>
                <a:lnTo>
                  <a:pt x="150019" y="171450"/>
                </a:lnTo>
                <a:cubicBezTo>
                  <a:pt x="150019" y="163547"/>
                  <a:pt x="143634" y="157163"/>
                  <a:pt x="135731" y="157163"/>
                </a:cubicBezTo>
                <a:lnTo>
                  <a:pt x="121444" y="157163"/>
                </a:lnTo>
                <a:close/>
                <a:moveTo>
                  <a:pt x="57150" y="164306"/>
                </a:moveTo>
                <a:lnTo>
                  <a:pt x="57150" y="150019"/>
                </a:lnTo>
                <a:cubicBezTo>
                  <a:pt x="57150" y="146090"/>
                  <a:pt x="53935" y="142875"/>
                  <a:pt x="50006" y="142875"/>
                </a:cubicBezTo>
                <a:lnTo>
                  <a:pt x="35719" y="142875"/>
                </a:lnTo>
                <a:cubicBezTo>
                  <a:pt x="31790" y="142875"/>
                  <a:pt x="28575" y="146090"/>
                  <a:pt x="28575" y="150019"/>
                </a:cubicBezTo>
                <a:lnTo>
                  <a:pt x="28575" y="164306"/>
                </a:lnTo>
                <a:cubicBezTo>
                  <a:pt x="28575" y="168235"/>
                  <a:pt x="31790" y="171450"/>
                  <a:pt x="35719" y="171450"/>
                </a:cubicBezTo>
                <a:lnTo>
                  <a:pt x="50006" y="171450"/>
                </a:lnTo>
                <a:cubicBezTo>
                  <a:pt x="53935" y="171450"/>
                  <a:pt x="57150" y="168235"/>
                  <a:pt x="57150" y="164306"/>
                </a:cubicBezTo>
                <a:close/>
                <a:moveTo>
                  <a:pt x="50006" y="114300"/>
                </a:moveTo>
                <a:cubicBezTo>
                  <a:pt x="53935" y="114300"/>
                  <a:pt x="57150" y="111085"/>
                  <a:pt x="57150" y="107156"/>
                </a:cubicBezTo>
                <a:lnTo>
                  <a:pt x="57150" y="92869"/>
                </a:lnTo>
                <a:cubicBezTo>
                  <a:pt x="57150" y="88940"/>
                  <a:pt x="53935" y="85725"/>
                  <a:pt x="50006" y="85725"/>
                </a:cubicBezTo>
                <a:lnTo>
                  <a:pt x="35719" y="85725"/>
                </a:lnTo>
                <a:cubicBezTo>
                  <a:pt x="31790" y="85725"/>
                  <a:pt x="28575" y="88940"/>
                  <a:pt x="28575" y="92869"/>
                </a:cubicBezTo>
                <a:lnTo>
                  <a:pt x="28575" y="107156"/>
                </a:lnTo>
                <a:cubicBezTo>
                  <a:pt x="28575" y="111085"/>
                  <a:pt x="31790" y="114300"/>
                  <a:pt x="35719" y="114300"/>
                </a:cubicBezTo>
                <a:lnTo>
                  <a:pt x="50006" y="114300"/>
                </a:lnTo>
                <a:close/>
                <a:moveTo>
                  <a:pt x="228600" y="164306"/>
                </a:moveTo>
                <a:lnTo>
                  <a:pt x="228600" y="150019"/>
                </a:lnTo>
                <a:cubicBezTo>
                  <a:pt x="228600" y="146090"/>
                  <a:pt x="225385" y="142875"/>
                  <a:pt x="221456" y="142875"/>
                </a:cubicBezTo>
                <a:lnTo>
                  <a:pt x="207169" y="142875"/>
                </a:lnTo>
                <a:cubicBezTo>
                  <a:pt x="203240" y="142875"/>
                  <a:pt x="200025" y="146090"/>
                  <a:pt x="200025" y="150019"/>
                </a:cubicBezTo>
                <a:lnTo>
                  <a:pt x="200025" y="164306"/>
                </a:lnTo>
                <a:cubicBezTo>
                  <a:pt x="200025" y="168235"/>
                  <a:pt x="203240" y="171450"/>
                  <a:pt x="207169" y="171450"/>
                </a:cubicBezTo>
                <a:lnTo>
                  <a:pt x="221456" y="171450"/>
                </a:lnTo>
                <a:cubicBezTo>
                  <a:pt x="225385" y="171450"/>
                  <a:pt x="228600" y="168235"/>
                  <a:pt x="228600" y="164306"/>
                </a:cubicBezTo>
                <a:close/>
                <a:moveTo>
                  <a:pt x="221456" y="114300"/>
                </a:moveTo>
                <a:cubicBezTo>
                  <a:pt x="225385" y="114300"/>
                  <a:pt x="228600" y="111085"/>
                  <a:pt x="228600" y="107156"/>
                </a:cubicBezTo>
                <a:lnTo>
                  <a:pt x="228600" y="92869"/>
                </a:lnTo>
                <a:cubicBezTo>
                  <a:pt x="228600" y="88940"/>
                  <a:pt x="225385" y="85725"/>
                  <a:pt x="221456" y="85725"/>
                </a:cubicBezTo>
                <a:lnTo>
                  <a:pt x="207169" y="85725"/>
                </a:lnTo>
                <a:cubicBezTo>
                  <a:pt x="203240" y="85725"/>
                  <a:pt x="200025" y="88940"/>
                  <a:pt x="200025" y="92869"/>
                </a:cubicBezTo>
                <a:lnTo>
                  <a:pt x="200025" y="107156"/>
                </a:lnTo>
                <a:cubicBezTo>
                  <a:pt x="200025" y="111085"/>
                  <a:pt x="203240" y="114300"/>
                  <a:pt x="207169" y="114300"/>
                </a:cubicBezTo>
                <a:lnTo>
                  <a:pt x="221456" y="114300"/>
                </a:lnTo>
                <a:close/>
                <a:moveTo>
                  <a:pt x="117872" y="46434"/>
                </a:moveTo>
                <a:lnTo>
                  <a:pt x="117872" y="60722"/>
                </a:lnTo>
                <a:lnTo>
                  <a:pt x="103584" y="60722"/>
                </a:lnTo>
                <a:cubicBezTo>
                  <a:pt x="99655" y="60722"/>
                  <a:pt x="96441" y="63937"/>
                  <a:pt x="96441" y="67866"/>
                </a:cubicBezTo>
                <a:lnTo>
                  <a:pt x="96441" y="75009"/>
                </a:lnTo>
                <a:cubicBezTo>
                  <a:pt x="96441" y="78938"/>
                  <a:pt x="99655" y="82153"/>
                  <a:pt x="103584" y="82153"/>
                </a:cubicBezTo>
                <a:lnTo>
                  <a:pt x="117872" y="82153"/>
                </a:lnTo>
                <a:lnTo>
                  <a:pt x="117872" y="96441"/>
                </a:lnTo>
                <a:cubicBezTo>
                  <a:pt x="117872" y="100370"/>
                  <a:pt x="121087" y="103584"/>
                  <a:pt x="125016" y="103584"/>
                </a:cubicBezTo>
                <a:lnTo>
                  <a:pt x="132159" y="103584"/>
                </a:lnTo>
                <a:cubicBezTo>
                  <a:pt x="136088" y="103584"/>
                  <a:pt x="139303" y="100370"/>
                  <a:pt x="139303" y="96441"/>
                </a:cubicBezTo>
                <a:lnTo>
                  <a:pt x="139303" y="82153"/>
                </a:lnTo>
                <a:lnTo>
                  <a:pt x="153591" y="82153"/>
                </a:lnTo>
                <a:cubicBezTo>
                  <a:pt x="157520" y="82153"/>
                  <a:pt x="160734" y="78938"/>
                  <a:pt x="160734" y="75009"/>
                </a:cubicBezTo>
                <a:lnTo>
                  <a:pt x="160734" y="67866"/>
                </a:lnTo>
                <a:cubicBezTo>
                  <a:pt x="160734" y="63937"/>
                  <a:pt x="157520" y="60722"/>
                  <a:pt x="153591" y="60722"/>
                </a:cubicBezTo>
                <a:lnTo>
                  <a:pt x="139303" y="60722"/>
                </a:lnTo>
                <a:lnTo>
                  <a:pt x="139303" y="46434"/>
                </a:lnTo>
                <a:cubicBezTo>
                  <a:pt x="139303" y="42505"/>
                  <a:pt x="136088" y="39291"/>
                  <a:pt x="132159" y="39291"/>
                </a:cubicBezTo>
                <a:lnTo>
                  <a:pt x="125016" y="39291"/>
                </a:lnTo>
                <a:cubicBezTo>
                  <a:pt x="121087" y="39291"/>
                  <a:pt x="117872" y="42505"/>
                  <a:pt x="117872" y="46434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489131" y="2025651"/>
            <a:ext cx="1933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Limited Infrastructure</a:t>
            </a:r>
            <a:endParaRPr sz="1600" b="0" i="0" u="none" strike="noStrike" cap="none"/>
          </a:p>
        </p:txBody>
      </p:sp>
      <p:sp>
        <p:nvSpPr>
          <p:cNvPr id="183" name="Google Shape;183;p8"/>
          <p:cNvSpPr/>
          <p:nvPr/>
        </p:nvSpPr>
        <p:spPr>
          <a:xfrm>
            <a:off x="7489131" y="2368551"/>
            <a:ext cx="1924050" cy="28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Insufficient specialized educational and workplace support services. Existing support focuses on children or severe disabilities, leaving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youth and high-functioning adults underserved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sz="1600" b="0" i="0" u="none" strike="noStrike" cap="none"/>
          </a:p>
        </p:txBody>
      </p:sp>
      <p:sp>
        <p:nvSpPr>
          <p:cNvPr id="184" name="Google Shape;184;p8"/>
          <p:cNvSpPr/>
          <p:nvPr/>
        </p:nvSpPr>
        <p:spPr>
          <a:xfrm>
            <a:off x="7489131" y="5311777"/>
            <a:ext cx="1847850" cy="635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7489131" y="5429250"/>
            <a:ext cx="1914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Impact: Service gaps</a:t>
            </a:r>
            <a:endParaRPr sz="1600" b="0" i="0" u="none" strike="noStrike" cap="none"/>
          </a:p>
        </p:txBody>
      </p:sp>
      <p:sp>
        <p:nvSpPr>
          <p:cNvPr id="186" name="Google Shape;186;p8"/>
          <p:cNvSpPr/>
          <p:nvPr/>
        </p:nvSpPr>
        <p:spPr>
          <a:xfrm>
            <a:off x="9650016" y="1222375"/>
            <a:ext cx="2159000" cy="4549775"/>
          </a:xfrm>
          <a:prstGeom prst="roundRect">
            <a:avLst>
              <a:gd name="adj" fmla="val 5294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9805591" y="137795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9943704" y="153035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9805591" y="2025651"/>
            <a:ext cx="1933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Communication Barriers</a:t>
            </a:r>
            <a:endParaRPr sz="1600" b="0" i="0" u="none" strike="noStrike" cap="none"/>
          </a:p>
        </p:txBody>
      </p:sp>
      <p:sp>
        <p:nvSpPr>
          <p:cNvPr id="190" name="Google Shape;190;p8"/>
          <p:cNvSpPr/>
          <p:nvPr/>
        </p:nvSpPr>
        <p:spPr>
          <a:xfrm>
            <a:off x="9805591" y="2368551"/>
            <a:ext cx="1924050" cy="28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Meiwaku culture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makes it difficult to express needs. Lack of constructive dialogue frameworks means many suffer in silence rather than request help.</a:t>
            </a:r>
            <a:endParaRPr sz="1600" b="0" i="0" u="none" strike="noStrike" cap="none"/>
          </a:p>
        </p:txBody>
      </p:sp>
      <p:sp>
        <p:nvSpPr>
          <p:cNvPr id="191" name="Google Shape;191;p8"/>
          <p:cNvSpPr/>
          <p:nvPr/>
        </p:nvSpPr>
        <p:spPr>
          <a:xfrm>
            <a:off x="9805591" y="5311777"/>
            <a:ext cx="1847850" cy="635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9805591" y="5429250"/>
            <a:ext cx="1914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Impact: Silent suffering</a:t>
            </a:r>
            <a:endParaRPr sz="1600" b="0" i="0" u="none" strike="noStrike" cap="none"/>
          </a:p>
        </p:txBody>
      </p:sp>
      <p:sp>
        <p:nvSpPr>
          <p:cNvPr id="193" name="Google Shape;193;p8"/>
          <p:cNvSpPr/>
          <p:nvPr/>
        </p:nvSpPr>
        <p:spPr>
          <a:xfrm>
            <a:off x="384175" y="5934076"/>
            <a:ext cx="11426825" cy="539750"/>
          </a:xfrm>
          <a:prstGeom prst="roundRect">
            <a:avLst>
              <a:gd name="adj" fmla="val 21176"/>
            </a:avLst>
          </a:pr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262626"/>
              </a:gs>
            </a:gsLst>
            <a:lin ang="0" scaled="0"/>
          </a:gradFill>
          <a:ln w="9525" cap="flat" cmpd="sng">
            <a:solidFill>
              <a:srgbClr val="6366F1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49089" y="61214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49300" y="6089652"/>
            <a:ext cx="10944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These interconnected barriers create a cycle: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Stigma prevents disclosure → Non-disclosure limits accommodation → Lack of accommodation reinforces stigma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71500" y="3810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SDG ALIGNMENT</a:t>
            </a:r>
            <a:endParaRPr sz="1600" b="0" i="0" u="none" strike="noStrike" cap="none"/>
          </a:p>
        </p:txBody>
      </p:sp>
      <p:sp>
        <p:nvSpPr>
          <p:cNvPr id="203" name="Google Shape;203;p9"/>
          <p:cNvSpPr/>
          <p:nvPr/>
        </p:nvSpPr>
        <p:spPr>
          <a:xfrm>
            <a:off x="571500" y="609600"/>
            <a:ext cx="48577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SDG Alignment &amp; Project Logic</a:t>
            </a:r>
            <a:endParaRPr sz="1600" b="0" i="0" u="none" strike="noStrike" cap="none"/>
          </a:p>
        </p:txBody>
      </p:sp>
      <p:sp>
        <p:nvSpPr>
          <p:cNvPr id="204" name="Google Shape;204;p9"/>
          <p:cNvSpPr/>
          <p:nvPr/>
        </p:nvSpPr>
        <p:spPr>
          <a:xfrm>
            <a:off x="390525" y="1228725"/>
            <a:ext cx="4333875" cy="3105150"/>
          </a:xfrm>
          <a:prstGeom prst="roundRect">
            <a:avLst>
              <a:gd name="adj" fmla="val 3681"/>
            </a:avLst>
          </a:prstGeom>
          <a:gradFill>
            <a:gsLst>
              <a:gs pos="0">
                <a:srgbClr val="6366F1">
                  <a:alpha val="30196"/>
                </a:srgbClr>
              </a:gs>
              <a:gs pos="100000">
                <a:srgbClr val="262626"/>
              </a:gs>
            </a:gsLst>
            <a:lin ang="2700000" scaled="0"/>
          </a:gradFill>
          <a:ln w="254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590550" y="14287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747018" y="1562100"/>
            <a:ext cx="4381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10</a:t>
            </a:r>
            <a:endParaRPr sz="1600" b="0" i="0" u="none" strike="noStrike" cap="none"/>
          </a:p>
        </p:txBody>
      </p:sp>
      <p:sp>
        <p:nvSpPr>
          <p:cNvPr id="207" name="Google Shape;207;p9"/>
          <p:cNvSpPr/>
          <p:nvPr/>
        </p:nvSpPr>
        <p:spPr>
          <a:xfrm>
            <a:off x="1352550" y="146685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Reduced Inequalities</a:t>
            </a:r>
            <a:endParaRPr sz="1600" b="0" i="0" u="none" strike="noStrike" cap="none"/>
          </a:p>
        </p:txBody>
      </p:sp>
      <p:sp>
        <p:nvSpPr>
          <p:cNvPr id="208" name="Google Shape;208;p9"/>
          <p:cNvSpPr/>
          <p:nvPr/>
        </p:nvSpPr>
        <p:spPr>
          <a:xfrm>
            <a:off x="1352550" y="1771650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Primary SDG</a:t>
            </a:r>
            <a:endParaRPr sz="1600" b="0" i="0" u="none" strike="noStrike" cap="none"/>
          </a:p>
        </p:txBody>
      </p:sp>
      <p:sp>
        <p:nvSpPr>
          <p:cNvPr id="209" name="Google Shape;209;p9"/>
          <p:cNvSpPr/>
          <p:nvPr/>
        </p:nvSpPr>
        <p:spPr>
          <a:xfrm>
            <a:off x="590550" y="2152650"/>
            <a:ext cx="3933825" cy="952500"/>
          </a:xfrm>
          <a:prstGeom prst="roundRect">
            <a:avLst>
              <a:gd name="adj" fmla="val 8000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704850" y="2266950"/>
            <a:ext cx="3781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Target 10.2</a:t>
            </a:r>
            <a:endParaRPr sz="1600" b="0" i="0" u="none" strike="noStrike" cap="none"/>
          </a:p>
        </p:txBody>
      </p:sp>
      <p:sp>
        <p:nvSpPr>
          <p:cNvPr id="211" name="Google Shape;211;p9"/>
          <p:cNvSpPr/>
          <p:nvPr/>
        </p:nvSpPr>
        <p:spPr>
          <a:xfrm>
            <a:off x="704850" y="2533650"/>
            <a:ext cx="378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Empower and promote the social, economic and political inclusion of all</a:t>
            </a:r>
            <a:endParaRPr sz="1600" b="0" i="0" u="none" strike="noStrike" cap="none"/>
          </a:p>
        </p:txBody>
      </p:sp>
      <p:sp>
        <p:nvSpPr>
          <p:cNvPr id="212" name="Google Shape;212;p9"/>
          <p:cNvSpPr/>
          <p:nvPr/>
        </p:nvSpPr>
        <p:spPr>
          <a:xfrm>
            <a:off x="590550" y="3181350"/>
            <a:ext cx="3933825" cy="952500"/>
          </a:xfrm>
          <a:prstGeom prst="roundRect">
            <a:avLst>
              <a:gd name="adj" fmla="val 8000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704850" y="3295650"/>
            <a:ext cx="3781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Target 10.3</a:t>
            </a:r>
            <a:endParaRPr sz="1600" b="0" i="0" u="none" strike="noStrike" cap="none"/>
          </a:p>
        </p:txBody>
      </p:sp>
      <p:sp>
        <p:nvSpPr>
          <p:cNvPr id="214" name="Google Shape;214;p9"/>
          <p:cNvSpPr/>
          <p:nvPr/>
        </p:nvSpPr>
        <p:spPr>
          <a:xfrm>
            <a:off x="704850" y="3562350"/>
            <a:ext cx="378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Ensure equal opportunity and reduce inequalities of outcome</a:t>
            </a:r>
            <a:endParaRPr sz="1600" b="0" i="0" u="none" strike="noStrike" cap="none"/>
          </a:p>
        </p:txBody>
      </p:sp>
      <p:sp>
        <p:nvSpPr>
          <p:cNvPr id="215" name="Google Shape;215;p9"/>
          <p:cNvSpPr/>
          <p:nvPr/>
        </p:nvSpPr>
        <p:spPr>
          <a:xfrm>
            <a:off x="384175" y="4498975"/>
            <a:ext cx="2092325" cy="2159000"/>
          </a:xfrm>
          <a:prstGeom prst="roundRect">
            <a:avLst>
              <a:gd name="adj" fmla="val 5463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39750" y="469265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F8F8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712192" y="4787903"/>
            <a:ext cx="209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sz="1600" b="0" i="0" u="none" strike="noStrike" cap="none"/>
          </a:p>
        </p:txBody>
      </p:sp>
      <p:sp>
        <p:nvSpPr>
          <p:cNvPr id="218" name="Google Shape;218;p9"/>
          <p:cNvSpPr/>
          <p:nvPr/>
        </p:nvSpPr>
        <p:spPr>
          <a:xfrm>
            <a:off x="1111250" y="4654553"/>
            <a:ext cx="1295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Quality Education</a:t>
            </a:r>
            <a:endParaRPr sz="1600" b="0" i="0" u="none" strike="noStrike" cap="none"/>
          </a:p>
        </p:txBody>
      </p:sp>
      <p:sp>
        <p:nvSpPr>
          <p:cNvPr id="219" name="Google Shape;219;p9"/>
          <p:cNvSpPr/>
          <p:nvPr/>
        </p:nvSpPr>
        <p:spPr>
          <a:xfrm>
            <a:off x="539750" y="5264153"/>
            <a:ext cx="185737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Target 4.5: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Eliminate gender disparities and ensure equal access to all levels of education for persons with disabilities</a:t>
            </a:r>
            <a:endParaRPr sz="1600" b="0" i="0" u="none" strike="noStrike" cap="none"/>
          </a:p>
        </p:txBody>
      </p:sp>
      <p:sp>
        <p:nvSpPr>
          <p:cNvPr id="220" name="Google Shape;220;p9"/>
          <p:cNvSpPr/>
          <p:nvPr/>
        </p:nvSpPr>
        <p:spPr>
          <a:xfrm>
            <a:off x="2637135" y="4498975"/>
            <a:ext cx="2092325" cy="2159000"/>
          </a:xfrm>
          <a:prstGeom prst="roundRect">
            <a:avLst>
              <a:gd name="adj" fmla="val 5463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2792710" y="465455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F8F8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2962771" y="4749803"/>
            <a:ext cx="209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8</a:t>
            </a:r>
            <a:endParaRPr sz="1600" b="0" i="0" u="none" strike="noStrike" cap="none"/>
          </a:p>
        </p:txBody>
      </p:sp>
      <p:sp>
        <p:nvSpPr>
          <p:cNvPr id="223" name="Google Shape;223;p9"/>
          <p:cNvSpPr/>
          <p:nvPr/>
        </p:nvSpPr>
        <p:spPr>
          <a:xfrm>
            <a:off x="3364210" y="4749803"/>
            <a:ext cx="1076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Decent Work</a:t>
            </a:r>
            <a:endParaRPr sz="1600" b="0" i="0" u="none" strike="noStrike" cap="none"/>
          </a:p>
        </p:txBody>
      </p:sp>
      <p:sp>
        <p:nvSpPr>
          <p:cNvPr id="224" name="Google Shape;224;p9"/>
          <p:cNvSpPr/>
          <p:nvPr/>
        </p:nvSpPr>
        <p:spPr>
          <a:xfrm>
            <a:off x="2792710" y="5187953"/>
            <a:ext cx="185737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Target 8.5: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Achieve full and productive employment and decent work for all, including persons with disabilities</a:t>
            </a:r>
            <a:endParaRPr sz="1600" b="0" i="0" u="none" strike="noStrike" cap="none"/>
          </a:p>
        </p:txBody>
      </p:sp>
      <p:sp>
        <p:nvSpPr>
          <p:cNvPr id="225" name="Google Shape;225;p9"/>
          <p:cNvSpPr/>
          <p:nvPr/>
        </p:nvSpPr>
        <p:spPr>
          <a:xfrm>
            <a:off x="4890095" y="1222375"/>
            <a:ext cx="6921500" cy="5435600"/>
          </a:xfrm>
          <a:prstGeom prst="roundRect">
            <a:avLst>
              <a:gd name="adj" fmla="val 2103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5107583" y="14541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5321896" y="1416051"/>
            <a:ext cx="6391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Project Logic Model</a:t>
            </a:r>
            <a:endParaRPr sz="1600" b="0" i="0" u="none" strike="noStrike" cap="none"/>
          </a:p>
        </p:txBody>
      </p:sp>
      <p:sp>
        <p:nvSpPr>
          <p:cNvPr id="228" name="Google Shape;228;p9"/>
          <p:cNvSpPr/>
          <p:nvPr/>
        </p:nvSpPr>
        <p:spPr>
          <a:xfrm>
            <a:off x="5083771" y="188813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217121" y="20214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693371" y="1888134"/>
            <a:ext cx="6010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If we address...</a:t>
            </a:r>
            <a:endParaRPr sz="1600" b="0" i="0" u="none" strike="noStrike" cap="none"/>
          </a:p>
        </p:txBody>
      </p:sp>
      <p:sp>
        <p:nvSpPr>
          <p:cNvPr id="231" name="Google Shape;231;p9"/>
          <p:cNvSpPr/>
          <p:nvPr/>
        </p:nvSpPr>
        <p:spPr>
          <a:xfrm>
            <a:off x="5693371" y="2192934"/>
            <a:ext cx="60007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The awareness gap, cultural barriers, and lack of practical resources preventing neurodivergent inclusion in Japan</a:t>
            </a:r>
            <a:endParaRPr sz="1600" b="0" i="0" u="none" strike="noStrike" cap="none"/>
          </a:p>
        </p:txBody>
      </p:sp>
      <p:sp>
        <p:nvSpPr>
          <p:cNvPr id="232" name="Google Shape;232;p9"/>
          <p:cNvSpPr/>
          <p:nvPr/>
        </p:nvSpPr>
        <p:spPr>
          <a:xfrm>
            <a:off x="8263235" y="279439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083771" y="312906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205214" y="326241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5693371" y="3129065"/>
            <a:ext cx="6010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By creating...</a:t>
            </a:r>
            <a:endParaRPr sz="1600" b="0" i="0" u="none" strike="noStrike" cap="none"/>
          </a:p>
        </p:txBody>
      </p:sp>
      <p:sp>
        <p:nvSpPr>
          <p:cNvPr id="236" name="Google Shape;236;p9"/>
          <p:cNvSpPr/>
          <p:nvPr/>
        </p:nvSpPr>
        <p:spPr>
          <a:xfrm>
            <a:off x="5693371" y="3433865"/>
            <a:ext cx="60007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Culturally-sensitive awareness toolkits, peer support workshops, and digital resources that empower both neurodivergent youth and institutions</a:t>
            </a:r>
            <a:endParaRPr sz="1600" b="0" i="0" u="none" strike="noStrike" cap="none"/>
          </a:p>
        </p:txBody>
      </p:sp>
      <p:sp>
        <p:nvSpPr>
          <p:cNvPr id="237" name="Google Shape;237;p9"/>
          <p:cNvSpPr/>
          <p:nvPr/>
        </p:nvSpPr>
        <p:spPr>
          <a:xfrm>
            <a:off x="8263235" y="403532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5083771" y="437009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5217121" y="45034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693371" y="4370091"/>
            <a:ext cx="6010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Then we achieve...</a:t>
            </a:r>
            <a:endParaRPr sz="1600" b="0" i="0" u="none" strike="noStrike" cap="none"/>
          </a:p>
        </p:txBody>
      </p:sp>
      <p:sp>
        <p:nvSpPr>
          <p:cNvPr id="241" name="Google Shape;241;p9"/>
          <p:cNvSpPr/>
          <p:nvPr/>
        </p:nvSpPr>
        <p:spPr>
          <a:xfrm>
            <a:off x="5693371" y="4674891"/>
            <a:ext cx="60007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Increased institutional awareness, improved self-advocacy skills, successful accommodation requests, and greater social participation</a:t>
            </a:r>
            <a:endParaRPr sz="1600" b="0" i="0" u="none" strike="noStrike" cap="none"/>
          </a:p>
        </p:txBody>
      </p:sp>
      <p:sp>
        <p:nvSpPr>
          <p:cNvPr id="242" name="Google Shape;242;p9"/>
          <p:cNvSpPr/>
          <p:nvPr/>
        </p:nvSpPr>
        <p:spPr>
          <a:xfrm>
            <a:off x="8263235" y="527635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083771" y="56110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5217121" y="57443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693371" y="5611020"/>
            <a:ext cx="6010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Contributing to...</a:t>
            </a:r>
            <a:endParaRPr sz="1600" b="0" i="0" u="none" strike="noStrike" cap="none"/>
          </a:p>
        </p:txBody>
      </p:sp>
      <p:sp>
        <p:nvSpPr>
          <p:cNvPr id="246" name="Google Shape;246;p9"/>
          <p:cNvSpPr/>
          <p:nvPr/>
        </p:nvSpPr>
        <p:spPr>
          <a:xfrm>
            <a:off x="5693371" y="5915820"/>
            <a:ext cx="60007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SDG 10 (Reduced Inequalities)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by promoting social and economic inclusion of neurodivergent individuals in Japanese society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571500" y="381000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LANDSCAPE ANALYSIS</a:t>
            </a:r>
            <a:endParaRPr sz="1600" b="0" i="0" u="none" strike="noStrike" cap="none"/>
          </a:p>
        </p:txBody>
      </p:sp>
      <p:sp>
        <p:nvSpPr>
          <p:cNvPr id="254" name="Google Shape;254;p10"/>
          <p:cNvSpPr/>
          <p:nvPr/>
        </p:nvSpPr>
        <p:spPr>
          <a:xfrm>
            <a:off x="571500" y="6096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Existing Support &amp; Remaining Gap</a:t>
            </a:r>
            <a:endParaRPr sz="1600" b="0" i="0" u="none" strike="noStrike" cap="none"/>
          </a:p>
        </p:txBody>
      </p:sp>
      <p:sp>
        <p:nvSpPr>
          <p:cNvPr id="255" name="Google Shape;255;p10"/>
          <p:cNvSpPr/>
          <p:nvPr/>
        </p:nvSpPr>
        <p:spPr>
          <a:xfrm>
            <a:off x="384175" y="1222375"/>
            <a:ext cx="5635625" cy="3854450"/>
          </a:xfrm>
          <a:prstGeom prst="roundRect">
            <a:avLst>
              <a:gd name="adj" fmla="val 2965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563563" y="142557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758825" y="1377953"/>
            <a:ext cx="5191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Existing Efforts</a:t>
            </a:r>
            <a:endParaRPr sz="1600" b="0" i="0" u="none" strike="noStrike" cap="none"/>
          </a:p>
        </p:txBody>
      </p:sp>
      <p:sp>
        <p:nvSpPr>
          <p:cNvPr id="258" name="Google Shape;258;p10"/>
          <p:cNvSpPr/>
          <p:nvPr/>
        </p:nvSpPr>
        <p:spPr>
          <a:xfrm>
            <a:off x="539750" y="17589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25475" y="18732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extrusionOk="0">
                <a:moveTo>
                  <a:pt x="50483" y="45660"/>
                </a:moveTo>
                <a:lnTo>
                  <a:pt x="44916" y="40094"/>
                </a:lnTo>
                <a:cubicBezTo>
                  <a:pt x="41196" y="36374"/>
                  <a:pt x="41196" y="30331"/>
                  <a:pt x="44916" y="26610"/>
                </a:cubicBezTo>
                <a:lnTo>
                  <a:pt x="79058" y="-7560"/>
                </a:lnTo>
                <a:cubicBezTo>
                  <a:pt x="82778" y="-11281"/>
                  <a:pt x="88821" y="-11281"/>
                  <a:pt x="92541" y="-7560"/>
                </a:cubicBezTo>
                <a:lnTo>
                  <a:pt x="98108" y="-1965"/>
                </a:lnTo>
                <a:cubicBezTo>
                  <a:pt x="101828" y="1756"/>
                  <a:pt x="101828" y="7799"/>
                  <a:pt x="98108" y="11519"/>
                </a:cubicBezTo>
                <a:lnTo>
                  <a:pt x="63966" y="45660"/>
                </a:lnTo>
                <a:cubicBezTo>
                  <a:pt x="60246" y="49381"/>
                  <a:pt x="54203" y="49381"/>
                  <a:pt x="50483" y="45660"/>
                </a:cubicBezTo>
                <a:close/>
                <a:moveTo>
                  <a:pt x="82153" y="63014"/>
                </a:moveTo>
                <a:lnTo>
                  <a:pt x="72807" y="53667"/>
                </a:lnTo>
                <a:lnTo>
                  <a:pt x="106144" y="20330"/>
                </a:lnTo>
                <a:lnTo>
                  <a:pt x="141684" y="55870"/>
                </a:lnTo>
                <a:lnTo>
                  <a:pt x="108347" y="89208"/>
                </a:lnTo>
                <a:lnTo>
                  <a:pt x="99000" y="79861"/>
                </a:lnTo>
                <a:lnTo>
                  <a:pt x="29944" y="148917"/>
                </a:lnTo>
                <a:cubicBezTo>
                  <a:pt x="25301" y="153561"/>
                  <a:pt x="17770" y="153561"/>
                  <a:pt x="13097" y="148917"/>
                </a:cubicBezTo>
                <a:cubicBezTo>
                  <a:pt x="8424" y="144274"/>
                  <a:pt x="8453" y="136743"/>
                  <a:pt x="13097" y="132070"/>
                </a:cubicBezTo>
                <a:lnTo>
                  <a:pt x="82153" y="63014"/>
                </a:lnTo>
                <a:close/>
                <a:moveTo>
                  <a:pt x="116354" y="111502"/>
                </a:moveTo>
                <a:cubicBezTo>
                  <a:pt x="112633" y="107781"/>
                  <a:pt x="112633" y="101739"/>
                  <a:pt x="116354" y="98018"/>
                </a:cubicBezTo>
                <a:lnTo>
                  <a:pt x="150495" y="63877"/>
                </a:lnTo>
                <a:cubicBezTo>
                  <a:pt x="154216" y="60156"/>
                  <a:pt x="160258" y="60156"/>
                  <a:pt x="163979" y="63877"/>
                </a:cubicBezTo>
                <a:lnTo>
                  <a:pt x="169545" y="69443"/>
                </a:lnTo>
                <a:cubicBezTo>
                  <a:pt x="173266" y="73164"/>
                  <a:pt x="173266" y="79206"/>
                  <a:pt x="169545" y="82927"/>
                </a:cubicBezTo>
                <a:lnTo>
                  <a:pt x="135404" y="117098"/>
                </a:lnTo>
                <a:cubicBezTo>
                  <a:pt x="131683" y="120819"/>
                  <a:pt x="125641" y="120819"/>
                  <a:pt x="121920" y="117098"/>
                </a:cubicBezTo>
                <a:lnTo>
                  <a:pt x="116354" y="111532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920750" y="1835153"/>
            <a:ext cx="340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Legal Framework</a:t>
            </a:r>
            <a:endParaRPr sz="1600" b="0" i="0" u="none" strike="noStrike" cap="none"/>
          </a:p>
        </p:txBody>
      </p:sp>
      <p:sp>
        <p:nvSpPr>
          <p:cNvPr id="261" name="Google Shape;261;p10"/>
          <p:cNvSpPr/>
          <p:nvPr/>
        </p:nvSpPr>
        <p:spPr>
          <a:xfrm>
            <a:off x="920750" y="2063753"/>
            <a:ext cx="3400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Act for Eliminating Discrimination (2016, amended 2024)</a:t>
            </a:r>
            <a:endParaRPr sz="1600" b="0" i="0" u="none" strike="noStrike" cap="none"/>
          </a:p>
        </p:txBody>
      </p:sp>
      <p:sp>
        <p:nvSpPr>
          <p:cNvPr id="262" name="Google Shape;262;p10"/>
          <p:cNvSpPr/>
          <p:nvPr/>
        </p:nvSpPr>
        <p:spPr>
          <a:xfrm>
            <a:off x="539750" y="24066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663575" y="2520953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 extrusionOk="0">
                <a:moveTo>
                  <a:pt x="28575" y="19050"/>
                </a:moveTo>
                <a:cubicBezTo>
                  <a:pt x="28575" y="8536"/>
                  <a:pt x="37111" y="0"/>
                  <a:pt x="47625" y="0"/>
                </a:cubicBezTo>
                <a:cubicBezTo>
                  <a:pt x="58139" y="0"/>
                  <a:pt x="66675" y="8536"/>
                  <a:pt x="66675" y="19050"/>
                </a:cubicBezTo>
                <a:cubicBezTo>
                  <a:pt x="66675" y="29564"/>
                  <a:pt x="58139" y="38100"/>
                  <a:pt x="47625" y="38100"/>
                </a:cubicBezTo>
                <a:cubicBezTo>
                  <a:pt x="37111" y="38100"/>
                  <a:pt x="28575" y="29564"/>
                  <a:pt x="28575" y="19050"/>
                </a:cubicBezTo>
                <a:close/>
                <a:moveTo>
                  <a:pt x="42863" y="114300"/>
                </a:moveTo>
                <a:lnTo>
                  <a:pt x="42863" y="142875"/>
                </a:lnTo>
                <a:cubicBezTo>
                  <a:pt x="42863" y="148144"/>
                  <a:pt x="38606" y="152400"/>
                  <a:pt x="33338" y="152400"/>
                </a:cubicBezTo>
                <a:cubicBezTo>
                  <a:pt x="28069" y="152400"/>
                  <a:pt x="23813" y="148144"/>
                  <a:pt x="23813" y="142875"/>
                </a:cubicBezTo>
                <a:lnTo>
                  <a:pt x="23813" y="85665"/>
                </a:lnTo>
                <a:lnTo>
                  <a:pt x="17591" y="95548"/>
                </a:lnTo>
                <a:cubicBezTo>
                  <a:pt x="14794" y="100013"/>
                  <a:pt x="8900" y="101322"/>
                  <a:pt x="4465" y="98524"/>
                </a:cubicBezTo>
                <a:cubicBezTo>
                  <a:pt x="30" y="95726"/>
                  <a:pt x="-1339" y="89862"/>
                  <a:pt x="1459" y="85427"/>
                </a:cubicBezTo>
                <a:lnTo>
                  <a:pt x="13335" y="66586"/>
                </a:lnTo>
                <a:cubicBezTo>
                  <a:pt x="20747" y="54769"/>
                  <a:pt x="33695" y="47625"/>
                  <a:pt x="47625" y="47625"/>
                </a:cubicBezTo>
                <a:cubicBezTo>
                  <a:pt x="61555" y="47625"/>
                  <a:pt x="74503" y="54769"/>
                  <a:pt x="81915" y="66556"/>
                </a:cubicBezTo>
                <a:lnTo>
                  <a:pt x="93791" y="85427"/>
                </a:lnTo>
                <a:cubicBezTo>
                  <a:pt x="96589" y="89892"/>
                  <a:pt x="95250" y="95756"/>
                  <a:pt x="90815" y="98554"/>
                </a:cubicBezTo>
                <a:cubicBezTo>
                  <a:pt x="86380" y="101352"/>
                  <a:pt x="80486" y="100013"/>
                  <a:pt x="77688" y="95577"/>
                </a:cubicBezTo>
                <a:lnTo>
                  <a:pt x="71438" y="85665"/>
                </a:lnTo>
                <a:lnTo>
                  <a:pt x="71438" y="142875"/>
                </a:lnTo>
                <a:cubicBezTo>
                  <a:pt x="71438" y="148144"/>
                  <a:pt x="67181" y="152400"/>
                  <a:pt x="61912" y="152400"/>
                </a:cubicBezTo>
                <a:cubicBezTo>
                  <a:pt x="56644" y="152400"/>
                  <a:pt x="52388" y="148144"/>
                  <a:pt x="52388" y="142875"/>
                </a:cubicBezTo>
                <a:lnTo>
                  <a:pt x="52388" y="114300"/>
                </a:lnTo>
                <a:lnTo>
                  <a:pt x="42863" y="11430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920750" y="2482853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NPO Children's Trees</a:t>
            </a:r>
            <a:endParaRPr sz="1600" b="0" i="0" u="none" strike="noStrike" cap="none"/>
          </a:p>
        </p:txBody>
      </p:sp>
      <p:sp>
        <p:nvSpPr>
          <p:cNvPr id="265" name="Google Shape;265;p10"/>
          <p:cNvSpPr/>
          <p:nvPr/>
        </p:nvSpPr>
        <p:spPr>
          <a:xfrm>
            <a:off x="920750" y="2711453"/>
            <a:ext cx="3076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Early intervention programs for children with autism</a:t>
            </a:r>
            <a:endParaRPr sz="1600" b="0" i="0" u="none" strike="noStrike" cap="none"/>
          </a:p>
        </p:txBody>
      </p:sp>
      <p:sp>
        <p:nvSpPr>
          <p:cNvPr id="266" name="Google Shape;266;p10"/>
          <p:cNvSpPr/>
          <p:nvPr/>
        </p:nvSpPr>
        <p:spPr>
          <a:xfrm>
            <a:off x="539750" y="30543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625475" y="31686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extrusionOk="0">
                <a:moveTo>
                  <a:pt x="80040" y="15835"/>
                </a:moveTo>
                <a:lnTo>
                  <a:pt x="45333" y="54412"/>
                </a:lnTo>
                <a:cubicBezTo>
                  <a:pt x="43964" y="55930"/>
                  <a:pt x="44023" y="58281"/>
                  <a:pt x="45482" y="59740"/>
                </a:cubicBezTo>
                <a:cubicBezTo>
                  <a:pt x="54560" y="68818"/>
                  <a:pt x="69294" y="68818"/>
                  <a:pt x="78373" y="59740"/>
                </a:cubicBezTo>
                <a:lnTo>
                  <a:pt x="87838" y="50274"/>
                </a:lnTo>
                <a:cubicBezTo>
                  <a:pt x="89089" y="49024"/>
                  <a:pt x="90666" y="48339"/>
                  <a:pt x="92273" y="48220"/>
                </a:cubicBezTo>
                <a:cubicBezTo>
                  <a:pt x="94298" y="48042"/>
                  <a:pt x="96381" y="48726"/>
                  <a:pt x="97929" y="50274"/>
                </a:cubicBezTo>
                <a:lnTo>
                  <a:pt x="150495" y="102394"/>
                </a:lnTo>
                <a:lnTo>
                  <a:pt x="171450" y="85725"/>
                </a:lnTo>
                <a:lnTo>
                  <a:pt x="171450" y="0"/>
                </a:lnTo>
                <a:lnTo>
                  <a:pt x="138113" y="19050"/>
                </a:lnTo>
                <a:lnTo>
                  <a:pt x="131028" y="14317"/>
                </a:lnTo>
                <a:cubicBezTo>
                  <a:pt x="126325" y="11192"/>
                  <a:pt x="120819" y="9525"/>
                  <a:pt x="115163" y="9525"/>
                </a:cubicBezTo>
                <a:lnTo>
                  <a:pt x="94208" y="9525"/>
                </a:lnTo>
                <a:cubicBezTo>
                  <a:pt x="93881" y="9525"/>
                  <a:pt x="93524" y="9525"/>
                  <a:pt x="93196" y="9555"/>
                </a:cubicBezTo>
                <a:cubicBezTo>
                  <a:pt x="88166" y="9823"/>
                  <a:pt x="83433" y="12085"/>
                  <a:pt x="80040" y="15835"/>
                </a:cubicBezTo>
                <a:close/>
                <a:moveTo>
                  <a:pt x="34707" y="44857"/>
                </a:moveTo>
                <a:lnTo>
                  <a:pt x="66496" y="9525"/>
                </a:lnTo>
                <a:lnTo>
                  <a:pt x="54709" y="9525"/>
                </a:lnTo>
                <a:cubicBezTo>
                  <a:pt x="47119" y="9525"/>
                  <a:pt x="39856" y="12531"/>
                  <a:pt x="34498" y="17889"/>
                </a:cubicBezTo>
                <a:lnTo>
                  <a:pt x="0" y="57150"/>
                </a:lnTo>
                <a:lnTo>
                  <a:pt x="0" y="161925"/>
                </a:lnTo>
                <a:lnTo>
                  <a:pt x="42863" y="121444"/>
                </a:lnTo>
                <a:lnTo>
                  <a:pt x="46553" y="124510"/>
                </a:lnTo>
                <a:cubicBezTo>
                  <a:pt x="53400" y="130225"/>
                  <a:pt x="62032" y="133350"/>
                  <a:pt x="70931" y="133350"/>
                </a:cubicBezTo>
                <a:lnTo>
                  <a:pt x="75605" y="133350"/>
                </a:lnTo>
                <a:lnTo>
                  <a:pt x="73521" y="131266"/>
                </a:lnTo>
                <a:cubicBezTo>
                  <a:pt x="70723" y="128468"/>
                  <a:pt x="70723" y="123944"/>
                  <a:pt x="73521" y="121176"/>
                </a:cubicBezTo>
                <a:cubicBezTo>
                  <a:pt x="76319" y="118408"/>
                  <a:pt x="80843" y="118378"/>
                  <a:pt x="83612" y="121176"/>
                </a:cubicBezTo>
                <a:lnTo>
                  <a:pt x="95816" y="133380"/>
                </a:lnTo>
                <a:lnTo>
                  <a:pt x="98494" y="133380"/>
                </a:lnTo>
                <a:cubicBezTo>
                  <a:pt x="104180" y="133380"/>
                  <a:pt x="109746" y="132100"/>
                  <a:pt x="114806" y="129719"/>
                </a:cubicBezTo>
                <a:lnTo>
                  <a:pt x="106859" y="121741"/>
                </a:lnTo>
                <a:cubicBezTo>
                  <a:pt x="104061" y="118943"/>
                  <a:pt x="104061" y="114419"/>
                  <a:pt x="106859" y="111651"/>
                </a:cubicBezTo>
                <a:cubicBezTo>
                  <a:pt x="109657" y="108883"/>
                  <a:pt x="114181" y="108853"/>
                  <a:pt x="116949" y="111651"/>
                </a:cubicBezTo>
                <a:lnTo>
                  <a:pt x="126474" y="121176"/>
                </a:lnTo>
                <a:lnTo>
                  <a:pt x="131683" y="115967"/>
                </a:lnTo>
                <a:cubicBezTo>
                  <a:pt x="134332" y="113318"/>
                  <a:pt x="135106" y="109478"/>
                  <a:pt x="133945" y="106114"/>
                </a:cubicBezTo>
                <a:lnTo>
                  <a:pt x="92899" y="65395"/>
                </a:lnTo>
                <a:lnTo>
                  <a:pt x="88463" y="69830"/>
                </a:lnTo>
                <a:cubicBezTo>
                  <a:pt x="73789" y="84505"/>
                  <a:pt x="50036" y="84505"/>
                  <a:pt x="35362" y="69830"/>
                </a:cubicBezTo>
                <a:cubicBezTo>
                  <a:pt x="28515" y="62984"/>
                  <a:pt x="28248" y="52001"/>
                  <a:pt x="34707" y="4482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920750" y="3130553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HandsOn Tokyo</a:t>
            </a:r>
            <a:endParaRPr sz="1600" b="0" i="0" u="none" strike="noStrike" cap="none"/>
          </a:p>
        </p:txBody>
      </p:sp>
      <p:sp>
        <p:nvSpPr>
          <p:cNvPr id="269" name="Google Shape;269;p10"/>
          <p:cNvSpPr/>
          <p:nvPr/>
        </p:nvSpPr>
        <p:spPr>
          <a:xfrm>
            <a:off x="920750" y="3359153"/>
            <a:ext cx="25622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Volunteer support for autism organizations</a:t>
            </a:r>
            <a:endParaRPr sz="1600" b="0" i="0" u="none" strike="noStrike" cap="none"/>
          </a:p>
        </p:txBody>
      </p:sp>
      <p:sp>
        <p:nvSpPr>
          <p:cNvPr id="270" name="Google Shape;270;p10"/>
          <p:cNvSpPr/>
          <p:nvPr/>
        </p:nvSpPr>
        <p:spPr>
          <a:xfrm>
            <a:off x="539750" y="37020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635000" y="38163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920750" y="3778253"/>
            <a:ext cx="2809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Hello Work Centers</a:t>
            </a:r>
            <a:endParaRPr sz="1600" b="0" i="0" u="none" strike="noStrike" cap="none"/>
          </a:p>
        </p:txBody>
      </p:sp>
      <p:sp>
        <p:nvSpPr>
          <p:cNvPr id="273" name="Google Shape;273;p10"/>
          <p:cNvSpPr/>
          <p:nvPr/>
        </p:nvSpPr>
        <p:spPr>
          <a:xfrm>
            <a:off x="920750" y="4006853"/>
            <a:ext cx="2800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Vocational support for persons with disabilities</a:t>
            </a:r>
            <a:endParaRPr sz="1600" b="0" i="0" u="none" strike="noStrike" cap="none"/>
          </a:p>
        </p:txBody>
      </p:sp>
      <p:sp>
        <p:nvSpPr>
          <p:cNvPr id="274" name="Google Shape;274;p10"/>
          <p:cNvSpPr/>
          <p:nvPr/>
        </p:nvSpPr>
        <p:spPr>
          <a:xfrm>
            <a:off x="539750" y="43497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635000" y="4464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920750" y="4425953"/>
            <a:ext cx="2762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TELL Japan</a:t>
            </a:r>
            <a:endParaRPr sz="1600" b="0" i="0" u="none" strike="noStrike" cap="none"/>
          </a:p>
        </p:txBody>
      </p:sp>
      <p:sp>
        <p:nvSpPr>
          <p:cNvPr id="277" name="Google Shape;277;p10"/>
          <p:cNvSpPr/>
          <p:nvPr/>
        </p:nvSpPr>
        <p:spPr>
          <a:xfrm>
            <a:off x="920750" y="4654553"/>
            <a:ext cx="2752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Workplace neurodiversity counseling services</a:t>
            </a:r>
            <a:endParaRPr sz="1600" b="0" i="0" u="none" strike="noStrike" cap="none"/>
          </a:p>
        </p:txBody>
      </p:sp>
      <p:sp>
        <p:nvSpPr>
          <p:cNvPr id="278" name="Google Shape;278;p10"/>
          <p:cNvSpPr/>
          <p:nvPr/>
        </p:nvSpPr>
        <p:spPr>
          <a:xfrm>
            <a:off x="6181725" y="1228725"/>
            <a:ext cx="5619750" cy="4019550"/>
          </a:xfrm>
          <a:prstGeom prst="roundRect">
            <a:avLst>
              <a:gd name="adj" fmla="val 2844"/>
            </a:avLst>
          </a:pr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262626"/>
              </a:gs>
            </a:gsLst>
            <a:lin ang="2700000" scaled="0"/>
          </a:gradFill>
          <a:ln w="254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367463" y="1438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6562725" y="1390650"/>
            <a:ext cx="5162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The Critical Gap</a:t>
            </a:r>
            <a:endParaRPr sz="1600" b="0" i="0" u="none" strike="noStrike" cap="none"/>
          </a:p>
        </p:txBody>
      </p:sp>
      <p:sp>
        <p:nvSpPr>
          <p:cNvPr id="281" name="Google Shape;281;p10"/>
          <p:cNvSpPr/>
          <p:nvPr/>
        </p:nvSpPr>
        <p:spPr>
          <a:xfrm>
            <a:off x="6343650" y="1771650"/>
            <a:ext cx="5295900" cy="1028700"/>
          </a:xfrm>
          <a:prstGeom prst="roundRect">
            <a:avLst>
              <a:gd name="adj" fmla="val 7407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467475" y="1924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extrusionOk="0">
                <a:moveTo>
                  <a:pt x="12204" y="-7412"/>
                </a:moveTo>
                <a:cubicBezTo>
                  <a:pt x="9406" y="-10210"/>
                  <a:pt x="4882" y="-10210"/>
                  <a:pt x="2113" y="-7412"/>
                </a:cubicBezTo>
                <a:cubicBezTo>
                  <a:pt x="-655" y="-4614"/>
                  <a:pt x="-685" y="-89"/>
                  <a:pt x="2084" y="2709"/>
                </a:cubicBezTo>
                <a:lnTo>
                  <a:pt x="159246" y="159871"/>
                </a:lnTo>
                <a:cubicBezTo>
                  <a:pt x="162044" y="162669"/>
                  <a:pt x="166568" y="162669"/>
                  <a:pt x="169337" y="159871"/>
                </a:cubicBezTo>
                <a:cubicBezTo>
                  <a:pt x="172105" y="157073"/>
                  <a:pt x="172135" y="152549"/>
                  <a:pt x="169337" y="149781"/>
                </a:cubicBezTo>
                <a:lnTo>
                  <a:pt x="92720" y="73134"/>
                </a:lnTo>
                <a:cubicBezTo>
                  <a:pt x="109091" y="69890"/>
                  <a:pt x="121444" y="55424"/>
                  <a:pt x="121444" y="38100"/>
                </a:cubicBezTo>
                <a:cubicBezTo>
                  <a:pt x="121444" y="18365"/>
                  <a:pt x="105460" y="2381"/>
                  <a:pt x="85725" y="2381"/>
                </a:cubicBezTo>
                <a:cubicBezTo>
                  <a:pt x="68401" y="2381"/>
                  <a:pt x="53935" y="14734"/>
                  <a:pt x="50691" y="31105"/>
                </a:cubicBezTo>
                <a:lnTo>
                  <a:pt x="12204" y="-7412"/>
                </a:lnTo>
                <a:close/>
                <a:moveTo>
                  <a:pt x="70128" y="90904"/>
                </a:moveTo>
                <a:cubicBezTo>
                  <a:pt x="44023" y="94238"/>
                  <a:pt x="23813" y="116532"/>
                  <a:pt x="23813" y="143560"/>
                </a:cubicBezTo>
                <a:cubicBezTo>
                  <a:pt x="23813" y="148441"/>
                  <a:pt x="27771" y="152400"/>
                  <a:pt x="32653" y="152400"/>
                </a:cubicBezTo>
                <a:lnTo>
                  <a:pt x="131624" y="152400"/>
                </a:lnTo>
                <a:lnTo>
                  <a:pt x="70128" y="9090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6724650" y="18859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Age Gap</a:t>
            </a:r>
            <a:endParaRPr sz="1600" b="0" i="0" u="none" strike="noStrike" cap="none"/>
          </a:p>
        </p:txBody>
      </p:sp>
      <p:sp>
        <p:nvSpPr>
          <p:cNvPr id="284" name="Google Shape;284;p10"/>
          <p:cNvSpPr/>
          <p:nvPr/>
        </p:nvSpPr>
        <p:spPr>
          <a:xfrm>
            <a:off x="6457950" y="2190750"/>
            <a:ext cx="5143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Most support focuses on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children or severe disabilities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. Limited youth-specific resources for high-functioning neurodivergent individuals.</a:t>
            </a:r>
            <a:endParaRPr sz="1600" b="0" i="0" u="none" strike="noStrike" cap="none"/>
          </a:p>
        </p:txBody>
      </p:sp>
      <p:sp>
        <p:nvSpPr>
          <p:cNvPr id="285" name="Google Shape;285;p10"/>
          <p:cNvSpPr/>
          <p:nvPr/>
        </p:nvSpPr>
        <p:spPr>
          <a:xfrm>
            <a:off x="6343650" y="2914650"/>
            <a:ext cx="5295900" cy="1028700"/>
          </a:xfrm>
          <a:prstGeom prst="roundRect">
            <a:avLst>
              <a:gd name="adj" fmla="val 7407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496050" y="3067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 extrusionOk="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6724650" y="3028950"/>
            <a:ext cx="1171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Institutional Gap</a:t>
            </a:r>
            <a:endParaRPr sz="1600" b="0" i="0" u="none" strike="noStrike" cap="none"/>
          </a:p>
        </p:txBody>
      </p:sp>
      <p:sp>
        <p:nvSpPr>
          <p:cNvPr id="288" name="Google Shape;288;p10"/>
          <p:cNvSpPr/>
          <p:nvPr/>
        </p:nvSpPr>
        <p:spPr>
          <a:xfrm>
            <a:off x="6457950" y="3333750"/>
            <a:ext cx="5143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No comprehensive awareness toolkit exists for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educational institutions and SMEs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. The 2024 law mandate lacks practical implementation guidance.</a:t>
            </a:r>
            <a:endParaRPr sz="1600" b="0" i="0" u="none" strike="noStrike" cap="none"/>
          </a:p>
        </p:txBody>
      </p:sp>
      <p:sp>
        <p:nvSpPr>
          <p:cNvPr id="289" name="Google Shape;289;p10"/>
          <p:cNvSpPr/>
          <p:nvPr/>
        </p:nvSpPr>
        <p:spPr>
          <a:xfrm>
            <a:off x="6343650" y="4057650"/>
            <a:ext cx="5295900" cy="1028700"/>
          </a:xfrm>
          <a:prstGeom prst="roundRect">
            <a:avLst>
              <a:gd name="adj" fmla="val 7407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457950" y="42100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 extrusionOk="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6724650" y="4171950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Peer Support Gap</a:t>
            </a:r>
            <a:endParaRPr sz="1600" b="0" i="0" u="none" strike="noStrike" cap="none"/>
          </a:p>
        </p:txBody>
      </p:sp>
      <p:sp>
        <p:nvSpPr>
          <p:cNvPr id="292" name="Google Shape;292;p10"/>
          <p:cNvSpPr/>
          <p:nvPr/>
        </p:nvSpPr>
        <p:spPr>
          <a:xfrm>
            <a:off x="6457950" y="4476750"/>
            <a:ext cx="5143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Lack of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peer-led, youth-focused support programs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that address the unique challenges of transitioning to adulthood in Japan.</a:t>
            </a:r>
            <a:endParaRPr sz="1600" b="0" i="0" u="none" strike="noStrike" cap="none"/>
          </a:p>
        </p:txBody>
      </p:sp>
      <p:sp>
        <p:nvSpPr>
          <p:cNvPr id="293" name="Google Shape;293;p10"/>
          <p:cNvSpPr/>
          <p:nvPr/>
        </p:nvSpPr>
        <p:spPr>
          <a:xfrm>
            <a:off x="6175375" y="5375275"/>
            <a:ext cx="5635625" cy="1111250"/>
          </a:xfrm>
          <a:prstGeom prst="roundRect">
            <a:avLst>
              <a:gd name="adj" fmla="val 10286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330950" y="5530853"/>
            <a:ext cx="5400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Our Unique Position</a:t>
            </a:r>
            <a:endParaRPr sz="1600" b="0" i="0" u="none" strike="noStrike" cap="none"/>
          </a:p>
        </p:txBody>
      </p:sp>
      <p:sp>
        <p:nvSpPr>
          <p:cNvPr id="295" name="Google Shape;295;p10"/>
          <p:cNvSpPr/>
          <p:nvPr/>
        </p:nvSpPr>
        <p:spPr>
          <a:xfrm>
            <a:off x="6330950" y="5835653"/>
            <a:ext cx="54006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NeuroBridge Japan fills these gaps by being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youth-led, culturally-adapted, and practical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- creating resources that existing organizations don't provide.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1" descr="https://kimi-web-img.moonshot.cn/img/thumbs.dreamstime.com/00e7bd82811a60f1ae48260e6b785d51f4b6ac78.jpg"/>
          <p:cNvPicPr preferRelativeResize="0"/>
          <p:nvPr/>
        </p:nvPicPr>
        <p:blipFill rotWithShape="1">
          <a:blip r:embed="rId3">
            <a:alphaModFix amt="15000"/>
          </a:blip>
          <a:srcRect t="9821" b="9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302" name="Google Shape;302;p1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91919">
                  <a:alpha val="98039"/>
                </a:srgbClr>
              </a:gs>
              <a:gs pos="50000">
                <a:srgbClr val="191919">
                  <a:alpha val="94901"/>
                </a:srgbClr>
              </a:gs>
              <a:gs pos="100000">
                <a:srgbClr val="6366F1">
                  <a:alpha val="10196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571500" y="381000"/>
            <a:ext cx="395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SOLUTION</a:t>
            </a:r>
            <a:endParaRPr sz="1600" b="0" i="0" u="none" strike="noStrike" cap="none"/>
          </a:p>
        </p:txBody>
      </p:sp>
      <p:sp>
        <p:nvSpPr>
          <p:cNvPr id="305" name="Google Shape;305;p11"/>
          <p:cNvSpPr/>
          <p:nvPr/>
        </p:nvSpPr>
        <p:spPr>
          <a:xfrm>
            <a:off x="571500" y="609600"/>
            <a:ext cx="40481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Project Solution Overview</a:t>
            </a:r>
            <a:endParaRPr sz="1600" b="0" i="0" u="none" strike="noStrike" cap="none"/>
          </a:p>
        </p:txBody>
      </p:sp>
      <p:sp>
        <p:nvSpPr>
          <p:cNvPr id="306" name="Google Shape;306;p11"/>
          <p:cNvSpPr/>
          <p:nvPr/>
        </p:nvSpPr>
        <p:spPr>
          <a:xfrm>
            <a:off x="390525" y="1228725"/>
            <a:ext cx="11411100" cy="1876500"/>
          </a:xfrm>
          <a:prstGeom prst="roundRect">
            <a:avLst>
              <a:gd name="adj" fmla="val 6091"/>
            </a:avLst>
          </a:prstGeom>
          <a:gradFill>
            <a:gsLst>
              <a:gs pos="0">
                <a:srgbClr val="6366F1">
                  <a:alpha val="30196"/>
                </a:srgbClr>
              </a:gs>
              <a:gs pos="100000">
                <a:srgbClr val="262626"/>
              </a:gs>
            </a:gsLst>
            <a:lin ang="0" scaled="0"/>
          </a:gradFill>
          <a:ln w="254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590550" y="142875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800100" y="1638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 extrusionOk="0">
                <a:moveTo>
                  <a:pt x="0" y="53578"/>
                </a:moveTo>
                <a:cubicBezTo>
                  <a:pt x="0" y="35830"/>
                  <a:pt x="14399" y="21431"/>
                  <a:pt x="32147" y="21431"/>
                </a:cubicBezTo>
                <a:lnTo>
                  <a:pt x="96441" y="21431"/>
                </a:lnTo>
                <a:cubicBezTo>
                  <a:pt x="114188" y="21431"/>
                  <a:pt x="128588" y="35830"/>
                  <a:pt x="128588" y="53578"/>
                </a:cubicBezTo>
                <a:lnTo>
                  <a:pt x="128588" y="64294"/>
                </a:lnTo>
                <a:lnTo>
                  <a:pt x="214313" y="64294"/>
                </a:lnTo>
                <a:lnTo>
                  <a:pt x="214313" y="53578"/>
                </a:lnTo>
                <a:cubicBezTo>
                  <a:pt x="214313" y="35830"/>
                  <a:pt x="228712" y="21431"/>
                  <a:pt x="246459" y="21431"/>
                </a:cubicBezTo>
                <a:lnTo>
                  <a:pt x="310753" y="21431"/>
                </a:lnTo>
                <a:cubicBezTo>
                  <a:pt x="328501" y="21431"/>
                  <a:pt x="342900" y="35830"/>
                  <a:pt x="342900" y="53578"/>
                </a:cubicBezTo>
                <a:lnTo>
                  <a:pt x="342900" y="117872"/>
                </a:lnTo>
                <a:cubicBezTo>
                  <a:pt x="342900" y="135620"/>
                  <a:pt x="328501" y="150019"/>
                  <a:pt x="310753" y="150019"/>
                </a:cubicBezTo>
                <a:lnTo>
                  <a:pt x="246459" y="150019"/>
                </a:lnTo>
                <a:cubicBezTo>
                  <a:pt x="228712" y="150019"/>
                  <a:pt x="214313" y="135620"/>
                  <a:pt x="214313" y="117872"/>
                </a:cubicBezTo>
                <a:lnTo>
                  <a:pt x="214313" y="107156"/>
                </a:lnTo>
                <a:lnTo>
                  <a:pt x="128588" y="107156"/>
                </a:lnTo>
                <a:lnTo>
                  <a:pt x="128588" y="117872"/>
                </a:lnTo>
                <a:cubicBezTo>
                  <a:pt x="128588" y="122761"/>
                  <a:pt x="127449" y="127449"/>
                  <a:pt x="125507" y="131601"/>
                </a:cubicBezTo>
                <a:lnTo>
                  <a:pt x="171450" y="192881"/>
                </a:lnTo>
                <a:lnTo>
                  <a:pt x="225028" y="192881"/>
                </a:lnTo>
                <a:cubicBezTo>
                  <a:pt x="242776" y="192881"/>
                  <a:pt x="257175" y="207280"/>
                  <a:pt x="257175" y="225028"/>
                </a:cubicBezTo>
                <a:lnTo>
                  <a:pt x="257175" y="289322"/>
                </a:lnTo>
                <a:cubicBezTo>
                  <a:pt x="257175" y="307070"/>
                  <a:pt x="242776" y="321469"/>
                  <a:pt x="225028" y="321469"/>
                </a:cubicBezTo>
                <a:lnTo>
                  <a:pt x="160734" y="321469"/>
                </a:lnTo>
                <a:cubicBezTo>
                  <a:pt x="142987" y="321469"/>
                  <a:pt x="128588" y="307070"/>
                  <a:pt x="128588" y="289322"/>
                </a:cubicBezTo>
                <a:lnTo>
                  <a:pt x="128588" y="225028"/>
                </a:lnTo>
                <a:cubicBezTo>
                  <a:pt x="128588" y="220139"/>
                  <a:pt x="129726" y="215451"/>
                  <a:pt x="131668" y="211299"/>
                </a:cubicBezTo>
                <a:lnTo>
                  <a:pt x="85725" y="150019"/>
                </a:lnTo>
                <a:lnTo>
                  <a:pt x="32147" y="150019"/>
                </a:lnTo>
                <a:cubicBezTo>
                  <a:pt x="14399" y="150019"/>
                  <a:pt x="0" y="135620"/>
                  <a:pt x="0" y="117872"/>
                </a:cubicBezTo>
                <a:lnTo>
                  <a:pt x="0" y="535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1504950" y="1485900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NeuroBridge Japan</a:t>
            </a:r>
            <a:endParaRPr sz="1600" b="0" i="0" u="none" strike="noStrike" cap="none"/>
          </a:p>
        </p:txBody>
      </p:sp>
      <p:sp>
        <p:nvSpPr>
          <p:cNvPr id="310" name="Google Shape;310;p11"/>
          <p:cNvSpPr/>
          <p:nvPr/>
        </p:nvSpPr>
        <p:spPr>
          <a:xfrm>
            <a:off x="1504950" y="1866900"/>
            <a:ext cx="32670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Bridging Neurodivergence &amp; Inclusion</a:t>
            </a:r>
            <a:endParaRPr sz="1600" b="0" i="0" u="none" strike="noStrike" cap="none"/>
          </a:p>
        </p:txBody>
      </p:sp>
      <p:sp>
        <p:nvSpPr>
          <p:cNvPr id="311" name="Google Shape;311;p11"/>
          <p:cNvSpPr/>
          <p:nvPr/>
        </p:nvSpPr>
        <p:spPr>
          <a:xfrm>
            <a:off x="590550" y="2343150"/>
            <a:ext cx="110966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 </a:t>
            </a:r>
            <a:r>
              <a:rPr lang="en-US" sz="13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youth-led awareness and peer support initiative</a:t>
            </a:r>
            <a:r>
              <a:rPr lang="en-US" sz="135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that creates culturally-sensitive toolkits, workshops, and digital resources to bridge the gap between neurodivergent young adults and inclusive educational/workplace environments in urban Japan.</a:t>
            </a:r>
            <a:endParaRPr sz="1600" b="0" i="0" u="none" strike="noStrike" cap="none"/>
          </a:p>
        </p:txBody>
      </p:sp>
      <p:sp>
        <p:nvSpPr>
          <p:cNvPr id="312" name="Google Shape;312;p11"/>
          <p:cNvSpPr/>
          <p:nvPr/>
        </p:nvSpPr>
        <p:spPr>
          <a:xfrm>
            <a:off x="384175" y="3265488"/>
            <a:ext cx="3702050" cy="2206625"/>
          </a:xfrm>
          <a:prstGeom prst="roundRect">
            <a:avLst>
              <a:gd name="adj" fmla="val 5180"/>
            </a:avLst>
          </a:prstGeom>
          <a:solidFill>
            <a:srgbClr val="262626">
              <a:alpha val="90196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539750" y="3421066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92150" y="357346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539750" y="4068766"/>
            <a:ext cx="3486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Core Concept</a:t>
            </a:r>
            <a:endParaRPr sz="1600" b="0" i="0" u="none" strike="noStrike" cap="none"/>
          </a:p>
        </p:txBody>
      </p:sp>
      <p:sp>
        <p:nvSpPr>
          <p:cNvPr id="316" name="Google Shape;316;p11"/>
          <p:cNvSpPr/>
          <p:nvPr/>
        </p:nvSpPr>
        <p:spPr>
          <a:xfrm>
            <a:off x="539750" y="4411666"/>
            <a:ext cx="34671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Build understanding from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both sides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- educating institutions while empowering neurodivergent youth to self-advocate</a:t>
            </a:r>
            <a:endParaRPr sz="1600" b="0" i="0" u="none" strike="noStrike" cap="none"/>
          </a:p>
        </p:txBody>
      </p:sp>
      <p:sp>
        <p:nvSpPr>
          <p:cNvPr id="317" name="Google Shape;317;p11"/>
          <p:cNvSpPr/>
          <p:nvPr/>
        </p:nvSpPr>
        <p:spPr>
          <a:xfrm>
            <a:off x="4244975" y="3265488"/>
            <a:ext cx="3702050" cy="2206625"/>
          </a:xfrm>
          <a:prstGeom prst="roundRect">
            <a:avLst>
              <a:gd name="adj" fmla="val 5180"/>
            </a:avLst>
          </a:prstGeom>
          <a:solidFill>
            <a:srgbClr val="262626">
              <a:alpha val="90196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4400550" y="3421066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4524375" y="357346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 extrusionOk="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4400550" y="4068766"/>
            <a:ext cx="3486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Target Settings</a:t>
            </a:r>
            <a:endParaRPr sz="1600" b="0" i="0" u="none" strike="noStrike" cap="none"/>
          </a:p>
        </p:txBody>
      </p:sp>
      <p:sp>
        <p:nvSpPr>
          <p:cNvPr id="321" name="Google Shape;321;p11"/>
          <p:cNvSpPr/>
          <p:nvPr/>
        </p:nvSpPr>
        <p:spPr>
          <a:xfrm>
            <a:off x="4400550" y="4411666"/>
            <a:ext cx="34671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Universities, vocational schools, and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SMEs in Tokyo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and surrounding prefectures</a:t>
            </a:r>
            <a:endParaRPr sz="1600" b="0" i="0" u="none" strike="noStrike" cap="none"/>
          </a:p>
        </p:txBody>
      </p:sp>
      <p:sp>
        <p:nvSpPr>
          <p:cNvPr id="322" name="Google Shape;322;p11"/>
          <p:cNvSpPr/>
          <p:nvPr/>
        </p:nvSpPr>
        <p:spPr>
          <a:xfrm>
            <a:off x="8105775" y="3265488"/>
            <a:ext cx="3702050" cy="2206625"/>
          </a:xfrm>
          <a:prstGeom prst="roundRect">
            <a:avLst>
              <a:gd name="adj" fmla="val 5180"/>
            </a:avLst>
          </a:prstGeom>
          <a:solidFill>
            <a:srgbClr val="262626">
              <a:alpha val="90196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8261350" y="3421066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8442325" y="357346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8261350" y="4068766"/>
            <a:ext cx="3486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Key Innovation</a:t>
            </a:r>
            <a:endParaRPr sz="1600" b="0" i="0" u="none" strike="noStrike" cap="none"/>
          </a:p>
        </p:txBody>
      </p:sp>
      <p:sp>
        <p:nvSpPr>
          <p:cNvPr id="326" name="Google Shape;326;p11"/>
          <p:cNvSpPr/>
          <p:nvPr/>
        </p:nvSpPr>
        <p:spPr>
          <a:xfrm>
            <a:off x="8261350" y="4411666"/>
            <a:ext cx="34671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Culturally-adapted approach that respects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meiwaku culture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while promoting constructive dialogue</a:t>
            </a:r>
            <a:endParaRPr sz="1600" b="0" i="0" u="none" strike="noStrike" cap="none"/>
          </a:p>
        </p:txBody>
      </p:sp>
      <p:sp>
        <p:nvSpPr>
          <p:cNvPr id="327" name="Google Shape;327;p11"/>
          <p:cNvSpPr/>
          <p:nvPr/>
        </p:nvSpPr>
        <p:spPr>
          <a:xfrm>
            <a:off x="384175" y="5629278"/>
            <a:ext cx="3702050" cy="844550"/>
          </a:xfrm>
          <a:prstGeom prst="roundRect">
            <a:avLst>
              <a:gd name="adj" fmla="val 9023"/>
            </a:avLst>
          </a:prstGeom>
          <a:solidFill>
            <a:srgbClr val="262626">
              <a:alpha val="80000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430213" y="5746752"/>
            <a:ext cx="36099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 b="0" i="0" u="none" strike="noStrike" cap="none"/>
          </a:p>
        </p:txBody>
      </p:sp>
      <p:sp>
        <p:nvSpPr>
          <p:cNvPr id="329" name="Google Shape;329;p11"/>
          <p:cNvSpPr/>
          <p:nvPr/>
        </p:nvSpPr>
        <p:spPr>
          <a:xfrm>
            <a:off x="463550" y="6127752"/>
            <a:ext cx="354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Core Deliverables</a:t>
            </a:r>
            <a:endParaRPr sz="1600" b="0" i="0" u="none" strike="noStrike" cap="none"/>
          </a:p>
        </p:txBody>
      </p:sp>
      <p:sp>
        <p:nvSpPr>
          <p:cNvPr id="330" name="Google Shape;330;p11"/>
          <p:cNvSpPr/>
          <p:nvPr/>
        </p:nvSpPr>
        <p:spPr>
          <a:xfrm>
            <a:off x="4244975" y="5629278"/>
            <a:ext cx="3702050" cy="844550"/>
          </a:xfrm>
          <a:prstGeom prst="roundRect">
            <a:avLst>
              <a:gd name="adj" fmla="val 9023"/>
            </a:avLst>
          </a:prstGeom>
          <a:solidFill>
            <a:srgbClr val="262626">
              <a:alpha val="80000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4291013" y="5746752"/>
            <a:ext cx="36099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50+</a:t>
            </a:r>
            <a:endParaRPr sz="1600" b="0" i="0" u="none" strike="noStrike" cap="none"/>
          </a:p>
        </p:txBody>
      </p:sp>
      <p:sp>
        <p:nvSpPr>
          <p:cNvPr id="332" name="Google Shape;332;p11"/>
          <p:cNvSpPr/>
          <p:nvPr/>
        </p:nvSpPr>
        <p:spPr>
          <a:xfrm>
            <a:off x="4324350" y="6127752"/>
            <a:ext cx="354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Pilot Beneficiaries</a:t>
            </a:r>
            <a:endParaRPr sz="1600" b="0" i="0" u="none" strike="noStrike" cap="none"/>
          </a:p>
        </p:txBody>
      </p:sp>
      <p:sp>
        <p:nvSpPr>
          <p:cNvPr id="333" name="Google Shape;333;p11"/>
          <p:cNvSpPr/>
          <p:nvPr/>
        </p:nvSpPr>
        <p:spPr>
          <a:xfrm>
            <a:off x="8105775" y="5629278"/>
            <a:ext cx="3702050" cy="844550"/>
          </a:xfrm>
          <a:prstGeom prst="roundRect">
            <a:avLst>
              <a:gd name="adj" fmla="val 9023"/>
            </a:avLst>
          </a:prstGeom>
          <a:solidFill>
            <a:srgbClr val="262626">
              <a:alpha val="80000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8151813" y="5746752"/>
            <a:ext cx="36099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12</a:t>
            </a:r>
            <a:endParaRPr sz="1600" b="0" i="0" u="none" strike="noStrike" cap="none"/>
          </a:p>
        </p:txBody>
      </p:sp>
      <p:sp>
        <p:nvSpPr>
          <p:cNvPr id="335" name="Google Shape;335;p11"/>
          <p:cNvSpPr/>
          <p:nvPr/>
        </p:nvSpPr>
        <p:spPr>
          <a:xfrm>
            <a:off x="8185150" y="6127752"/>
            <a:ext cx="354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Week Timeline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571500" y="381000"/>
            <a:ext cx="3743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IMPLEMENTATION</a:t>
            </a:r>
            <a:endParaRPr sz="1600" b="0" i="0" u="none" strike="noStrike" cap="none"/>
          </a:p>
        </p:txBody>
      </p:sp>
      <p:sp>
        <p:nvSpPr>
          <p:cNvPr id="343" name="Google Shape;343;p12"/>
          <p:cNvSpPr/>
          <p:nvPr/>
        </p:nvSpPr>
        <p:spPr>
          <a:xfrm>
            <a:off x="571500" y="609600"/>
            <a:ext cx="38385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Activities &amp; Deliverables</a:t>
            </a:r>
            <a:endParaRPr sz="1600" b="0" i="0" u="none" strike="noStrike" cap="none"/>
          </a:p>
        </p:txBody>
      </p:sp>
      <p:sp>
        <p:nvSpPr>
          <p:cNvPr id="344" name="Google Shape;344;p12"/>
          <p:cNvSpPr/>
          <p:nvPr/>
        </p:nvSpPr>
        <p:spPr>
          <a:xfrm>
            <a:off x="384175" y="1222375"/>
            <a:ext cx="3702050" cy="5254625"/>
          </a:xfrm>
          <a:prstGeom prst="roundRect">
            <a:avLst>
              <a:gd name="adj" fmla="val 3087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539750" y="1377953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706438" y="153035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 extrusionOk="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1187450" y="1397003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Deliverable 1</a:t>
            </a:r>
            <a:endParaRPr sz="1600" b="0" i="0" u="none" strike="noStrike" cap="none"/>
          </a:p>
        </p:txBody>
      </p:sp>
      <p:sp>
        <p:nvSpPr>
          <p:cNvPr id="348" name="Google Shape;348;p12"/>
          <p:cNvSpPr/>
          <p:nvPr/>
        </p:nvSpPr>
        <p:spPr>
          <a:xfrm>
            <a:off x="1187450" y="1663703"/>
            <a:ext cx="1314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Awareness Toolkit</a:t>
            </a:r>
            <a:endParaRPr sz="1600" b="0" i="0" u="none" strike="noStrike" cap="none"/>
          </a:p>
        </p:txBody>
      </p:sp>
      <p:sp>
        <p:nvSpPr>
          <p:cNvPr id="349" name="Google Shape;349;p12"/>
          <p:cNvSpPr/>
          <p:nvPr/>
        </p:nvSpPr>
        <p:spPr>
          <a:xfrm>
            <a:off x="539750" y="2025653"/>
            <a:ext cx="34671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 culturally-adapted guide for educators and employers covering:</a:t>
            </a:r>
            <a:endParaRPr sz="1600" b="0" i="0" u="none" strike="noStrike" cap="none"/>
          </a:p>
        </p:txBody>
      </p:sp>
      <p:sp>
        <p:nvSpPr>
          <p:cNvPr id="350" name="Google Shape;350;p12"/>
          <p:cNvSpPr/>
          <p:nvPr/>
        </p:nvSpPr>
        <p:spPr>
          <a:xfrm>
            <a:off x="567134" y="26733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782638" y="2635253"/>
            <a:ext cx="32289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Understanding neurodivergence in Japanese context</a:t>
            </a:r>
            <a:endParaRPr sz="1600" b="0" i="0" u="none" strike="noStrike" cap="none"/>
          </a:p>
        </p:txBody>
      </p:sp>
      <p:sp>
        <p:nvSpPr>
          <p:cNvPr id="352" name="Google Shape;352;p12"/>
          <p:cNvSpPr/>
          <p:nvPr/>
        </p:nvSpPr>
        <p:spPr>
          <a:xfrm>
            <a:off x="567134" y="32067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782638" y="3168653"/>
            <a:ext cx="32289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Reasonable accommodation examples (sensory-friendly spaces, flexible communication, task restructuring)</a:t>
            </a:r>
            <a:endParaRPr sz="1600" b="0" i="0" u="none" strike="noStrike" cap="none"/>
          </a:p>
        </p:txBody>
      </p:sp>
      <p:sp>
        <p:nvSpPr>
          <p:cNvPr id="354" name="Google Shape;354;p12"/>
          <p:cNvSpPr/>
          <p:nvPr/>
        </p:nvSpPr>
        <p:spPr>
          <a:xfrm>
            <a:off x="567134" y="39687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782638" y="3930653"/>
            <a:ext cx="32289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Constructive dialogue frameworks respecting meiwaku culture</a:t>
            </a:r>
            <a:endParaRPr sz="1600" b="0" i="0" u="none" strike="noStrike" cap="none"/>
          </a:p>
        </p:txBody>
      </p:sp>
      <p:sp>
        <p:nvSpPr>
          <p:cNvPr id="356" name="Google Shape;356;p12"/>
          <p:cNvSpPr/>
          <p:nvPr/>
        </p:nvSpPr>
        <p:spPr>
          <a:xfrm>
            <a:off x="567134" y="45021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782638" y="4464053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Visual guides and practical checklists</a:t>
            </a:r>
            <a:endParaRPr sz="1600" b="0" i="0" u="none" strike="noStrike" cap="none"/>
          </a:p>
        </p:txBody>
      </p:sp>
      <p:sp>
        <p:nvSpPr>
          <p:cNvPr id="358" name="Google Shape;358;p12"/>
          <p:cNvSpPr/>
          <p:nvPr/>
        </p:nvSpPr>
        <p:spPr>
          <a:xfrm>
            <a:off x="539750" y="6010278"/>
            <a:ext cx="3390900" cy="635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539750" y="6127752"/>
            <a:ext cx="3457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Format: Digital + Print</a:t>
            </a:r>
            <a:endParaRPr sz="1600" b="0" i="0" u="none" strike="noStrike" cap="none"/>
          </a:p>
        </p:txBody>
      </p:sp>
      <p:sp>
        <p:nvSpPr>
          <p:cNvPr id="360" name="Google Shape;360;p12"/>
          <p:cNvSpPr/>
          <p:nvPr/>
        </p:nvSpPr>
        <p:spPr>
          <a:xfrm>
            <a:off x="4244975" y="1222375"/>
            <a:ext cx="3702050" cy="5254625"/>
          </a:xfrm>
          <a:prstGeom prst="roundRect">
            <a:avLst>
              <a:gd name="adj" fmla="val 3087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4400550" y="1377953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4524375" y="153035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 extrusionOk="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5048250" y="1397003"/>
            <a:ext cx="1771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Deliverable 2</a:t>
            </a:r>
            <a:endParaRPr sz="1600" b="0" i="0" u="none" strike="noStrike" cap="none"/>
          </a:p>
        </p:txBody>
      </p:sp>
      <p:sp>
        <p:nvSpPr>
          <p:cNvPr id="364" name="Google Shape;364;p12"/>
          <p:cNvSpPr/>
          <p:nvPr/>
        </p:nvSpPr>
        <p:spPr>
          <a:xfrm>
            <a:off x="5048250" y="1663703"/>
            <a:ext cx="1752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Peer Support Workshops</a:t>
            </a:r>
            <a:endParaRPr sz="1600" b="0" i="0" u="none" strike="noStrike" cap="none"/>
          </a:p>
        </p:txBody>
      </p:sp>
      <p:sp>
        <p:nvSpPr>
          <p:cNvPr id="365" name="Google Shape;365;p12"/>
          <p:cNvSpPr/>
          <p:nvPr/>
        </p:nvSpPr>
        <p:spPr>
          <a:xfrm>
            <a:off x="4400550" y="2025653"/>
            <a:ext cx="34671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 3-session program designed for neurodivergent youth:</a:t>
            </a:r>
            <a:endParaRPr sz="1600" b="0" i="0" u="none" strike="noStrike" cap="none"/>
          </a:p>
        </p:txBody>
      </p:sp>
      <p:sp>
        <p:nvSpPr>
          <p:cNvPr id="366" name="Google Shape;366;p12"/>
          <p:cNvSpPr/>
          <p:nvPr/>
        </p:nvSpPr>
        <p:spPr>
          <a:xfrm>
            <a:off x="4400550" y="2635253"/>
            <a:ext cx="3390900" cy="876300"/>
          </a:xfrm>
          <a:prstGeom prst="roundRect">
            <a:avLst>
              <a:gd name="adj" fmla="val 8696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4514850" y="2749553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Session 1: Self-Advocacy Skills</a:t>
            </a:r>
            <a:endParaRPr sz="1600" b="0" i="0" u="none" strike="noStrike" cap="none"/>
          </a:p>
        </p:txBody>
      </p:sp>
      <p:sp>
        <p:nvSpPr>
          <p:cNvPr id="368" name="Google Shape;368;p12"/>
          <p:cNvSpPr/>
          <p:nvPr/>
        </p:nvSpPr>
        <p:spPr>
          <a:xfrm>
            <a:off x="4514850" y="3016253"/>
            <a:ext cx="32289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Understanding rights, preparing accommodation requests</a:t>
            </a:r>
            <a:endParaRPr sz="1600" b="0" i="0" u="none" strike="noStrike" cap="none"/>
          </a:p>
        </p:txBody>
      </p:sp>
      <p:sp>
        <p:nvSpPr>
          <p:cNvPr id="369" name="Google Shape;369;p12"/>
          <p:cNvSpPr/>
          <p:nvPr/>
        </p:nvSpPr>
        <p:spPr>
          <a:xfrm>
            <a:off x="4400550" y="3587753"/>
            <a:ext cx="3390900" cy="685800"/>
          </a:xfrm>
          <a:prstGeom prst="roundRect">
            <a:avLst>
              <a:gd name="adj" fmla="val 11111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514850" y="3702053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Session 2: Navigating Disclosure</a:t>
            </a:r>
            <a:endParaRPr sz="1600" b="0" i="0" u="none" strike="noStrike" cap="none"/>
          </a:p>
        </p:txBody>
      </p:sp>
      <p:sp>
        <p:nvSpPr>
          <p:cNvPr id="371" name="Google Shape;371;p12"/>
          <p:cNvSpPr/>
          <p:nvPr/>
        </p:nvSpPr>
        <p:spPr>
          <a:xfrm>
            <a:off x="4514850" y="3968753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When, how, and to whom to disclose neurodivergence</a:t>
            </a:r>
            <a:endParaRPr sz="1600" b="0" i="0" u="none" strike="noStrike" cap="none"/>
          </a:p>
        </p:txBody>
      </p:sp>
      <p:sp>
        <p:nvSpPr>
          <p:cNvPr id="372" name="Google Shape;372;p12"/>
          <p:cNvSpPr/>
          <p:nvPr/>
        </p:nvSpPr>
        <p:spPr>
          <a:xfrm>
            <a:off x="4400550" y="4349753"/>
            <a:ext cx="3390900" cy="685800"/>
          </a:xfrm>
          <a:prstGeom prst="roundRect">
            <a:avLst>
              <a:gd name="adj" fmla="val 11111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4514850" y="4464053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Session 3: Building Networks</a:t>
            </a:r>
            <a:endParaRPr sz="1600" b="0" i="0" u="none" strike="noStrike" cap="none"/>
          </a:p>
        </p:txBody>
      </p:sp>
      <p:sp>
        <p:nvSpPr>
          <p:cNvPr id="374" name="Google Shape;374;p12"/>
          <p:cNvSpPr/>
          <p:nvPr/>
        </p:nvSpPr>
        <p:spPr>
          <a:xfrm>
            <a:off x="4514850" y="4730753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Creating peer support groups and finding allies</a:t>
            </a:r>
            <a:endParaRPr sz="1600" b="0" i="0" u="none" strike="noStrike" cap="none"/>
          </a:p>
        </p:txBody>
      </p:sp>
      <p:sp>
        <p:nvSpPr>
          <p:cNvPr id="375" name="Google Shape;375;p12"/>
          <p:cNvSpPr/>
          <p:nvPr/>
        </p:nvSpPr>
        <p:spPr>
          <a:xfrm>
            <a:off x="4400550" y="6010278"/>
            <a:ext cx="3390900" cy="635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4400550" y="6127752"/>
            <a:ext cx="3457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Format: In-person + Online</a:t>
            </a:r>
            <a:endParaRPr sz="1600" b="0" i="0" u="none" strike="noStrike" cap="none"/>
          </a:p>
        </p:txBody>
      </p:sp>
      <p:sp>
        <p:nvSpPr>
          <p:cNvPr id="377" name="Google Shape;377;p12"/>
          <p:cNvSpPr/>
          <p:nvPr/>
        </p:nvSpPr>
        <p:spPr>
          <a:xfrm>
            <a:off x="8105775" y="1222375"/>
            <a:ext cx="3702050" cy="5254625"/>
          </a:xfrm>
          <a:prstGeom prst="roundRect">
            <a:avLst>
              <a:gd name="adj" fmla="val 3087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8261350" y="1377953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8385175" y="153035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 extrusionOk="0">
                <a:moveTo>
                  <a:pt x="57150" y="14288"/>
                </a:moveTo>
                <a:cubicBezTo>
                  <a:pt x="41389" y="14288"/>
                  <a:pt x="28575" y="27102"/>
                  <a:pt x="28575" y="42863"/>
                </a:cubicBezTo>
                <a:lnTo>
                  <a:pt x="28575" y="150019"/>
                </a:lnTo>
                <a:lnTo>
                  <a:pt x="57150" y="150019"/>
                </a:lnTo>
                <a:lnTo>
                  <a:pt x="57150" y="42863"/>
                </a:lnTo>
                <a:lnTo>
                  <a:pt x="228600" y="42863"/>
                </a:lnTo>
                <a:lnTo>
                  <a:pt x="228600" y="150019"/>
                </a:lnTo>
                <a:lnTo>
                  <a:pt x="257175" y="150019"/>
                </a:lnTo>
                <a:lnTo>
                  <a:pt x="257175" y="42863"/>
                </a:lnTo>
                <a:cubicBezTo>
                  <a:pt x="257175" y="27102"/>
                  <a:pt x="244361" y="14288"/>
                  <a:pt x="228600" y="14288"/>
                </a:cubicBezTo>
                <a:lnTo>
                  <a:pt x="57150" y="14288"/>
                </a:lnTo>
                <a:close/>
                <a:moveTo>
                  <a:pt x="8573" y="171450"/>
                </a:moveTo>
                <a:cubicBezTo>
                  <a:pt x="3840" y="171450"/>
                  <a:pt x="0" y="175290"/>
                  <a:pt x="0" y="180023"/>
                </a:cubicBezTo>
                <a:cubicBezTo>
                  <a:pt x="0" y="198953"/>
                  <a:pt x="15359" y="214313"/>
                  <a:pt x="34290" y="214313"/>
                </a:cubicBezTo>
                <a:lnTo>
                  <a:pt x="251460" y="214313"/>
                </a:lnTo>
                <a:cubicBezTo>
                  <a:pt x="270391" y="214313"/>
                  <a:pt x="285750" y="198953"/>
                  <a:pt x="285750" y="180023"/>
                </a:cubicBezTo>
                <a:cubicBezTo>
                  <a:pt x="285750" y="175290"/>
                  <a:pt x="281910" y="171450"/>
                  <a:pt x="277177" y="171450"/>
                </a:cubicBezTo>
                <a:lnTo>
                  <a:pt x="8573" y="1714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8909050" y="1397003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Deliverable 3</a:t>
            </a:r>
            <a:endParaRPr sz="1600" b="0" i="0" u="none" strike="noStrike" cap="none"/>
          </a:p>
        </p:txBody>
      </p:sp>
      <p:sp>
        <p:nvSpPr>
          <p:cNvPr id="381" name="Google Shape;381;p12"/>
          <p:cNvSpPr/>
          <p:nvPr/>
        </p:nvSpPr>
        <p:spPr>
          <a:xfrm>
            <a:off x="8909050" y="1663703"/>
            <a:ext cx="17811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Digital Resource Platform</a:t>
            </a:r>
            <a:endParaRPr sz="1600" b="0" i="0" u="none" strike="noStrike" cap="none"/>
          </a:p>
        </p:txBody>
      </p:sp>
      <p:sp>
        <p:nvSpPr>
          <p:cNvPr id="382" name="Google Shape;382;p12"/>
          <p:cNvSpPr/>
          <p:nvPr/>
        </p:nvSpPr>
        <p:spPr>
          <a:xfrm>
            <a:off x="8261350" y="2025653"/>
            <a:ext cx="34671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 curated online hub providing:</a:t>
            </a:r>
            <a:endParaRPr sz="1600" b="0" i="0" u="none" strike="noStrike" cap="none"/>
          </a:p>
        </p:txBody>
      </p:sp>
      <p:sp>
        <p:nvSpPr>
          <p:cNvPr id="383" name="Google Shape;383;p12"/>
          <p:cNvSpPr/>
          <p:nvPr/>
        </p:nvSpPr>
        <p:spPr>
          <a:xfrm>
            <a:off x="8288735" y="24257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8504238" y="2387603"/>
            <a:ext cx="32289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Local support directory (NPOs, clinics, support groups)</a:t>
            </a:r>
            <a:endParaRPr sz="1600" b="0" i="0" u="none" strike="noStrike" cap="none"/>
          </a:p>
        </p:txBody>
      </p:sp>
      <p:sp>
        <p:nvSpPr>
          <p:cNvPr id="385" name="Google Shape;385;p12"/>
          <p:cNvSpPr/>
          <p:nvPr/>
        </p:nvSpPr>
        <p:spPr>
          <a:xfrm>
            <a:off x="8288735" y="29591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8504238" y="2921003"/>
            <a:ext cx="32289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Success stories from Japanese neurodivergent individuals</a:t>
            </a:r>
            <a:endParaRPr sz="1600" b="0" i="0" u="none" strike="noStrike" cap="none"/>
          </a:p>
        </p:txBody>
      </p:sp>
      <p:sp>
        <p:nvSpPr>
          <p:cNvPr id="387" name="Google Shape;387;p12"/>
          <p:cNvSpPr/>
          <p:nvPr/>
        </p:nvSpPr>
        <p:spPr>
          <a:xfrm>
            <a:off x="8288735" y="34925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8504238" y="3454403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Practical accommodation request templates</a:t>
            </a:r>
            <a:endParaRPr sz="1600" b="0" i="0" u="none" strike="noStrike" cap="none"/>
          </a:p>
        </p:txBody>
      </p:sp>
      <p:sp>
        <p:nvSpPr>
          <p:cNvPr id="389" name="Google Shape;389;p12"/>
          <p:cNvSpPr/>
          <p:nvPr/>
        </p:nvSpPr>
        <p:spPr>
          <a:xfrm>
            <a:off x="8288735" y="37973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8504238" y="3759203"/>
            <a:ext cx="1733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FAQ and resource library</a:t>
            </a:r>
            <a:endParaRPr sz="1600" b="0" i="0" u="none" strike="noStrike" cap="none"/>
          </a:p>
        </p:txBody>
      </p:sp>
      <p:sp>
        <p:nvSpPr>
          <p:cNvPr id="391" name="Google Shape;391;p12"/>
          <p:cNvSpPr/>
          <p:nvPr/>
        </p:nvSpPr>
        <p:spPr>
          <a:xfrm>
            <a:off x="8261350" y="6010278"/>
            <a:ext cx="3390900" cy="635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8261350" y="6127752"/>
            <a:ext cx="3457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Format: Website + Mobile-friendly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71500" y="381000"/>
            <a:ext cx="5572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USER EXPERIENCE</a:t>
            </a:r>
            <a:endParaRPr sz="1600" b="0" i="0" u="none" strike="noStrike" cap="none"/>
          </a:p>
        </p:txBody>
      </p:sp>
      <p:sp>
        <p:nvSpPr>
          <p:cNvPr id="400" name="Google Shape;400;p13"/>
          <p:cNvSpPr/>
          <p:nvPr/>
        </p:nvSpPr>
        <p:spPr>
          <a:xfrm>
            <a:off x="571500" y="609600"/>
            <a:ext cx="56673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Beneficiary Journey &amp; User Scenario</a:t>
            </a:r>
            <a:endParaRPr sz="1600" b="0" i="0" u="none" strike="noStrike" cap="none"/>
          </a:p>
        </p:txBody>
      </p:sp>
      <p:sp>
        <p:nvSpPr>
          <p:cNvPr id="401" name="Google Shape;401;p13"/>
          <p:cNvSpPr/>
          <p:nvPr/>
        </p:nvSpPr>
        <p:spPr>
          <a:xfrm>
            <a:off x="384175" y="1222375"/>
            <a:ext cx="4692650" cy="5254625"/>
          </a:xfrm>
          <a:prstGeom prst="roundRect">
            <a:avLst>
              <a:gd name="adj" fmla="val 2436"/>
            </a:avLst>
          </a:pr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262626"/>
              </a:gs>
            </a:gsLst>
            <a:lin ang="2700000" scaled="0"/>
          </a:gradFill>
          <a:ln w="9525" cap="flat" cmpd="sng">
            <a:solidFill>
              <a:srgbClr val="6366F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575469" y="14160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 extrusionOk="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777875" y="1377953"/>
            <a:ext cx="42386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Meet Yuki</a:t>
            </a:r>
            <a:endParaRPr sz="1600" b="0" i="0" u="none" strike="noStrike" cap="none"/>
          </a:p>
        </p:txBody>
      </p:sp>
      <p:sp>
        <p:nvSpPr>
          <p:cNvPr id="404" name="Google Shape;404;p13"/>
          <p:cNvSpPr/>
          <p:nvPr/>
        </p:nvSpPr>
        <p:spPr>
          <a:xfrm>
            <a:off x="539750" y="1824038"/>
            <a:ext cx="4381500" cy="952500"/>
          </a:xfrm>
          <a:prstGeom prst="roundRect">
            <a:avLst>
              <a:gd name="adj" fmla="val 8000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682625" y="19764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 extrusionOk="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920750" y="1938337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Profile</a:t>
            </a:r>
            <a:endParaRPr sz="1600" b="0" i="0" u="none" strike="noStrike" cap="none"/>
          </a:p>
        </p:txBody>
      </p:sp>
      <p:sp>
        <p:nvSpPr>
          <p:cNvPr id="407" name="Google Shape;407;p13"/>
          <p:cNvSpPr/>
          <p:nvPr/>
        </p:nvSpPr>
        <p:spPr>
          <a:xfrm>
            <a:off x="654050" y="2205038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22-year-old university student with ASD, majoring in Computer Science</a:t>
            </a:r>
            <a:endParaRPr sz="1600" b="0" i="0" u="none" strike="noStrike" cap="none"/>
          </a:p>
        </p:txBody>
      </p:sp>
      <p:sp>
        <p:nvSpPr>
          <p:cNvPr id="408" name="Google Shape;408;p13"/>
          <p:cNvSpPr/>
          <p:nvPr/>
        </p:nvSpPr>
        <p:spPr>
          <a:xfrm>
            <a:off x="539750" y="2982916"/>
            <a:ext cx="4381500" cy="952500"/>
          </a:xfrm>
          <a:prstGeom prst="roundRect">
            <a:avLst>
              <a:gd name="adj" fmla="val 8000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673100" y="31353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920750" y="3097216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467"/>
                </a:solidFill>
                <a:latin typeface="Liter"/>
                <a:ea typeface="Liter"/>
                <a:cs typeface="Liter"/>
                <a:sym typeface="Liter"/>
              </a:rPr>
              <a:t>Current Challenge</a:t>
            </a:r>
            <a:endParaRPr sz="1600" b="0" i="0" u="none" strike="noStrike" cap="none"/>
          </a:p>
        </p:txBody>
      </p:sp>
      <p:sp>
        <p:nvSpPr>
          <p:cNvPr id="411" name="Google Shape;411;p13"/>
          <p:cNvSpPr/>
          <p:nvPr/>
        </p:nvSpPr>
        <p:spPr>
          <a:xfrm>
            <a:off x="654050" y="3363916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Struggles with group work, sensory overload in classrooms, anxiety about requesting accommodations</a:t>
            </a:r>
            <a:endParaRPr sz="1600" b="0" i="0" u="none" strike="noStrike" cap="none"/>
          </a:p>
        </p:txBody>
      </p:sp>
      <p:sp>
        <p:nvSpPr>
          <p:cNvPr id="412" name="Google Shape;412;p13"/>
          <p:cNvSpPr/>
          <p:nvPr/>
        </p:nvSpPr>
        <p:spPr>
          <a:xfrm>
            <a:off x="539750" y="4141789"/>
            <a:ext cx="4381500" cy="952500"/>
          </a:xfrm>
          <a:prstGeom prst="roundRect">
            <a:avLst>
              <a:gd name="adj" fmla="val 8000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673100" y="429418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39618" y="9525"/>
                </a:moveTo>
                <a:cubicBezTo>
                  <a:pt x="44768" y="9525"/>
                  <a:pt x="49798" y="10537"/>
                  <a:pt x="54471" y="12412"/>
                </a:cubicBezTo>
                <a:lnTo>
                  <a:pt x="70783" y="37773"/>
                </a:lnTo>
                <a:lnTo>
                  <a:pt x="48339" y="60216"/>
                </a:lnTo>
                <a:cubicBezTo>
                  <a:pt x="47893" y="60662"/>
                  <a:pt x="47625" y="61287"/>
                  <a:pt x="47655" y="61942"/>
                </a:cubicBezTo>
                <a:cubicBezTo>
                  <a:pt x="47685" y="62597"/>
                  <a:pt x="47952" y="63192"/>
                  <a:pt x="48429" y="63639"/>
                </a:cubicBezTo>
                <a:lnTo>
                  <a:pt x="81766" y="94595"/>
                </a:lnTo>
                <a:cubicBezTo>
                  <a:pt x="82629" y="95399"/>
                  <a:pt x="83969" y="95458"/>
                  <a:pt x="84892" y="94684"/>
                </a:cubicBezTo>
                <a:cubicBezTo>
                  <a:pt x="85814" y="93911"/>
                  <a:pt x="86023" y="92601"/>
                  <a:pt x="85398" y="91589"/>
                </a:cubicBezTo>
                <a:lnTo>
                  <a:pt x="67419" y="62389"/>
                </a:lnTo>
                <a:lnTo>
                  <a:pt x="94417" y="39886"/>
                </a:lnTo>
                <a:cubicBezTo>
                  <a:pt x="95190" y="39261"/>
                  <a:pt x="95458" y="38189"/>
                  <a:pt x="95131" y="37267"/>
                </a:cubicBezTo>
                <a:lnTo>
                  <a:pt x="88225" y="18038"/>
                </a:lnTo>
                <a:cubicBezTo>
                  <a:pt x="95131" y="12591"/>
                  <a:pt x="103763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920750" y="4256089"/>
            <a:ext cx="1133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467"/>
                </a:solidFill>
                <a:latin typeface="Liter"/>
                <a:ea typeface="Liter"/>
                <a:cs typeface="Liter"/>
                <a:sym typeface="Liter"/>
              </a:rPr>
              <a:t>Emotional State</a:t>
            </a:r>
            <a:endParaRPr sz="1600" b="0" i="0" u="none" strike="noStrike" cap="none"/>
          </a:p>
        </p:txBody>
      </p:sp>
      <p:sp>
        <p:nvSpPr>
          <p:cNvPr id="415" name="Google Shape;415;p13"/>
          <p:cNvSpPr/>
          <p:nvPr/>
        </p:nvSpPr>
        <p:spPr>
          <a:xfrm>
            <a:off x="654050" y="4522789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Feels like a burden (meiwaku), considering dropping out, isolated from peers</a:t>
            </a:r>
            <a:endParaRPr sz="1600" b="0" i="0" u="none" strike="noStrike" cap="none"/>
          </a:p>
        </p:txBody>
      </p:sp>
      <p:sp>
        <p:nvSpPr>
          <p:cNvPr id="416" name="Google Shape;416;p13"/>
          <p:cNvSpPr/>
          <p:nvPr/>
        </p:nvSpPr>
        <p:spPr>
          <a:xfrm>
            <a:off x="539750" y="5300663"/>
            <a:ext cx="4381500" cy="952500"/>
          </a:xfrm>
          <a:prstGeom prst="roundRect">
            <a:avLst>
              <a:gd name="adj" fmla="val 8000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673100" y="54530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920750" y="5414963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Goal</a:t>
            </a:r>
            <a:endParaRPr sz="1600" b="0" i="0" u="none" strike="noStrike" cap="none"/>
          </a:p>
        </p:txBody>
      </p:sp>
      <p:sp>
        <p:nvSpPr>
          <p:cNvPr id="419" name="Google Shape;419;p13"/>
          <p:cNvSpPr/>
          <p:nvPr/>
        </p:nvSpPr>
        <p:spPr>
          <a:xfrm>
            <a:off x="654050" y="5681663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Complete degree and transition to workplace with confidence and support</a:t>
            </a:r>
            <a:endParaRPr sz="1600" b="0" i="0" u="none" strike="noStrike" cap="none"/>
          </a:p>
        </p:txBody>
      </p:sp>
      <p:sp>
        <p:nvSpPr>
          <p:cNvPr id="420" name="Google Shape;420;p13"/>
          <p:cNvSpPr/>
          <p:nvPr/>
        </p:nvSpPr>
        <p:spPr>
          <a:xfrm>
            <a:off x="5238155" y="1222375"/>
            <a:ext cx="6569075" cy="958850"/>
          </a:xfrm>
          <a:prstGeom prst="roundRect">
            <a:avLst>
              <a:gd name="adj" fmla="val 11921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5355630" y="133985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2C36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5515570" y="1416053"/>
            <a:ext cx="133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467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sz="1600" b="0" i="0" u="none" strike="noStrike" cap="none"/>
          </a:p>
        </p:txBody>
      </p:sp>
      <p:sp>
        <p:nvSpPr>
          <p:cNvPr id="423" name="Google Shape;423;p13"/>
          <p:cNvSpPr/>
          <p:nvPr/>
        </p:nvSpPr>
        <p:spPr>
          <a:xfrm>
            <a:off x="5850930" y="1339853"/>
            <a:ext cx="5915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467"/>
                </a:solidFill>
                <a:latin typeface="Liter"/>
                <a:ea typeface="Liter"/>
                <a:cs typeface="Liter"/>
                <a:sym typeface="Liter"/>
              </a:rPr>
              <a:t>Current State: Struggling</a:t>
            </a:r>
            <a:endParaRPr sz="1600" b="0" i="0" u="none" strike="noStrike" cap="none"/>
          </a:p>
        </p:txBody>
      </p:sp>
      <p:sp>
        <p:nvSpPr>
          <p:cNvPr id="424" name="Google Shape;424;p13"/>
          <p:cNvSpPr/>
          <p:nvPr/>
        </p:nvSpPr>
        <p:spPr>
          <a:xfrm>
            <a:off x="5850930" y="1606553"/>
            <a:ext cx="59150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Yuki faces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sensory overload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in crowded classrooms, anxiety during group presentations, and fear of being seen as a burden if requesting help.</a:t>
            </a:r>
            <a:endParaRPr sz="1600" b="0" i="0" u="none" strike="noStrike" cap="none"/>
          </a:p>
        </p:txBody>
      </p:sp>
      <p:sp>
        <p:nvSpPr>
          <p:cNvPr id="425" name="Google Shape;425;p13"/>
          <p:cNvSpPr/>
          <p:nvPr/>
        </p:nvSpPr>
        <p:spPr>
          <a:xfrm>
            <a:off x="8465840" y="226060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 extrusionOk="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5238155" y="2492377"/>
            <a:ext cx="6569075" cy="958850"/>
          </a:xfrm>
          <a:prstGeom prst="roundRect">
            <a:avLst>
              <a:gd name="adj" fmla="val 11921"/>
            </a:avLst>
          </a:prstGeom>
          <a:solidFill>
            <a:srgbClr val="262626"/>
          </a:solidFill>
          <a:ln w="9525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5355630" y="2609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5501779" y="2686050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sz="1600" b="0" i="0" u="none" strike="noStrike" cap="none"/>
          </a:p>
        </p:txBody>
      </p:sp>
      <p:sp>
        <p:nvSpPr>
          <p:cNvPr id="429" name="Google Shape;429;p13"/>
          <p:cNvSpPr/>
          <p:nvPr/>
        </p:nvSpPr>
        <p:spPr>
          <a:xfrm>
            <a:off x="5850930" y="2609850"/>
            <a:ext cx="5915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Discovery: NeuroBridge</a:t>
            </a:r>
            <a:endParaRPr sz="1600" b="0" i="0" u="none" strike="noStrike" cap="none"/>
          </a:p>
        </p:txBody>
      </p:sp>
      <p:sp>
        <p:nvSpPr>
          <p:cNvPr id="430" name="Google Shape;430;p13"/>
          <p:cNvSpPr/>
          <p:nvPr/>
        </p:nvSpPr>
        <p:spPr>
          <a:xfrm>
            <a:off x="5850930" y="2876550"/>
            <a:ext cx="59150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Discovers NeuroBridge through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university disability services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. Downloads the toolkit and registers for the peer workshop series.</a:t>
            </a:r>
            <a:endParaRPr sz="1600" b="0" i="0" u="none" strike="noStrike" cap="none"/>
          </a:p>
        </p:txBody>
      </p:sp>
      <p:sp>
        <p:nvSpPr>
          <p:cNvPr id="431" name="Google Shape;431;p13"/>
          <p:cNvSpPr/>
          <p:nvPr/>
        </p:nvSpPr>
        <p:spPr>
          <a:xfrm>
            <a:off x="8465840" y="353060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 extrusionOk="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5238155" y="3762378"/>
            <a:ext cx="6569075" cy="958850"/>
          </a:xfrm>
          <a:prstGeom prst="roundRect">
            <a:avLst>
              <a:gd name="adj" fmla="val 11921"/>
            </a:avLst>
          </a:prstGeom>
          <a:solidFill>
            <a:srgbClr val="262626"/>
          </a:solidFill>
          <a:ln w="9525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5355630" y="387985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5501085" y="3956052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 b="0" i="0" u="none" strike="noStrike" cap="none"/>
          </a:p>
        </p:txBody>
      </p:sp>
      <p:sp>
        <p:nvSpPr>
          <p:cNvPr id="435" name="Google Shape;435;p13"/>
          <p:cNvSpPr/>
          <p:nvPr/>
        </p:nvSpPr>
        <p:spPr>
          <a:xfrm>
            <a:off x="5850930" y="3879852"/>
            <a:ext cx="5915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Intervention: Support &amp; Tools</a:t>
            </a:r>
            <a:endParaRPr sz="1600" b="0" i="0" u="none" strike="noStrike" cap="none"/>
          </a:p>
        </p:txBody>
      </p:sp>
      <p:sp>
        <p:nvSpPr>
          <p:cNvPr id="436" name="Google Shape;436;p13"/>
          <p:cNvSpPr/>
          <p:nvPr/>
        </p:nvSpPr>
        <p:spPr>
          <a:xfrm>
            <a:off x="5850930" y="4146552"/>
            <a:ext cx="59150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Attends peer workshops on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self-advocacy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, uses the accommodation request template, and joins a peer support group.</a:t>
            </a:r>
            <a:endParaRPr sz="1600" b="0" i="0" u="none" strike="noStrike" cap="none"/>
          </a:p>
        </p:txBody>
      </p:sp>
      <p:sp>
        <p:nvSpPr>
          <p:cNvPr id="437" name="Google Shape;437;p13"/>
          <p:cNvSpPr/>
          <p:nvPr/>
        </p:nvSpPr>
        <p:spPr>
          <a:xfrm>
            <a:off x="8465840" y="4800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 extrusionOk="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5238155" y="5032375"/>
            <a:ext cx="6569075" cy="958850"/>
          </a:xfrm>
          <a:prstGeom prst="roundRect">
            <a:avLst>
              <a:gd name="adj" fmla="val 11921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5355630" y="514985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5501184" y="5226053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5DF72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sz="1600" b="0" i="0" u="none" strike="noStrike" cap="none"/>
          </a:p>
        </p:txBody>
      </p:sp>
      <p:sp>
        <p:nvSpPr>
          <p:cNvPr id="441" name="Google Shape;441;p13"/>
          <p:cNvSpPr/>
          <p:nvPr/>
        </p:nvSpPr>
        <p:spPr>
          <a:xfrm>
            <a:off x="5850930" y="5149853"/>
            <a:ext cx="5915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5DF72"/>
                </a:solidFill>
                <a:latin typeface="Liter"/>
                <a:ea typeface="Liter"/>
                <a:cs typeface="Liter"/>
                <a:sym typeface="Liter"/>
              </a:rPr>
              <a:t>Outcome: Thriving</a:t>
            </a:r>
            <a:endParaRPr sz="1600" b="0" i="0" u="none" strike="noStrike" cap="none"/>
          </a:p>
        </p:txBody>
      </p:sp>
      <p:sp>
        <p:nvSpPr>
          <p:cNvPr id="442" name="Google Shape;442;p13"/>
          <p:cNvSpPr/>
          <p:nvPr/>
        </p:nvSpPr>
        <p:spPr>
          <a:xfrm>
            <a:off x="5850930" y="5416553"/>
            <a:ext cx="59150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Successfully requests and receives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note-taking support and sensory accommodations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. Completes degree and confidently navigates workplace.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4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571500" y="381000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COLLABORATION</a:t>
            </a:r>
            <a:endParaRPr sz="1600" b="0" i="0" u="none" strike="noStrike" cap="none"/>
          </a:p>
        </p:txBody>
      </p:sp>
      <p:sp>
        <p:nvSpPr>
          <p:cNvPr id="450" name="Google Shape;450;p14"/>
          <p:cNvSpPr/>
          <p:nvPr/>
        </p:nvSpPr>
        <p:spPr>
          <a:xfrm>
            <a:off x="571500" y="609600"/>
            <a:ext cx="4838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Partners &amp; Stakeholder Access</a:t>
            </a:r>
            <a:endParaRPr sz="1600" b="0" i="0" u="none" strike="noStrike" cap="none"/>
          </a:p>
        </p:txBody>
      </p:sp>
      <p:sp>
        <p:nvSpPr>
          <p:cNvPr id="451" name="Google Shape;451;p14"/>
          <p:cNvSpPr/>
          <p:nvPr/>
        </p:nvSpPr>
        <p:spPr>
          <a:xfrm>
            <a:off x="384175" y="1222375"/>
            <a:ext cx="5635625" cy="5254625"/>
          </a:xfrm>
          <a:prstGeom prst="roundRect">
            <a:avLst>
              <a:gd name="adj" fmla="val 2175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552847" y="142557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 extrusionOk="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758825" y="1377953"/>
            <a:ext cx="5191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Strategic Partners</a:t>
            </a:r>
            <a:endParaRPr sz="1600" b="0" i="0" u="none" strike="noStrike" cap="none"/>
          </a:p>
        </p:txBody>
      </p:sp>
      <p:sp>
        <p:nvSpPr>
          <p:cNvPr id="454" name="Google Shape;454;p14"/>
          <p:cNvSpPr/>
          <p:nvPr/>
        </p:nvSpPr>
        <p:spPr>
          <a:xfrm>
            <a:off x="539750" y="17589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615950" y="1835153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730250" y="19494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1111250" y="1835153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University Disability Services</a:t>
            </a:r>
            <a:endParaRPr sz="1600" b="0" i="0" u="none" strike="noStrike" cap="none"/>
          </a:p>
        </p:txBody>
      </p:sp>
      <p:sp>
        <p:nvSpPr>
          <p:cNvPr id="458" name="Google Shape;458;p14"/>
          <p:cNvSpPr/>
          <p:nvPr/>
        </p:nvSpPr>
        <p:spPr>
          <a:xfrm>
            <a:off x="1111250" y="2063753"/>
            <a:ext cx="3514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Direct access to beneficiaries, workshop venues, credibility</a:t>
            </a:r>
            <a:endParaRPr sz="1600" b="0" i="0" u="none" strike="noStrike" cap="none"/>
          </a:p>
        </p:txBody>
      </p:sp>
      <p:sp>
        <p:nvSpPr>
          <p:cNvPr id="459" name="Google Shape;459;p14"/>
          <p:cNvSpPr/>
          <p:nvPr/>
        </p:nvSpPr>
        <p:spPr>
          <a:xfrm>
            <a:off x="539750" y="24066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615950" y="2482853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730250" y="25971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1111250" y="2482853"/>
            <a:ext cx="3819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NPO Children's Trees</a:t>
            </a:r>
            <a:endParaRPr sz="1600" b="0" i="0" u="none" strike="noStrike" cap="none"/>
          </a:p>
        </p:txBody>
      </p:sp>
      <p:sp>
        <p:nvSpPr>
          <p:cNvPr id="463" name="Google Shape;463;p14"/>
          <p:cNvSpPr/>
          <p:nvPr/>
        </p:nvSpPr>
        <p:spPr>
          <a:xfrm>
            <a:off x="1111250" y="2711453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Established autism support network, early intervention expertise</a:t>
            </a:r>
            <a:endParaRPr sz="1600" b="0" i="0" u="none" strike="noStrike" cap="none"/>
          </a:p>
        </p:txBody>
      </p:sp>
      <p:sp>
        <p:nvSpPr>
          <p:cNvPr id="464" name="Google Shape;464;p14"/>
          <p:cNvSpPr/>
          <p:nvPr/>
        </p:nvSpPr>
        <p:spPr>
          <a:xfrm>
            <a:off x="539750" y="30543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615950" y="3130553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720725" y="32448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extrusionOk="0">
                <a:moveTo>
                  <a:pt x="80040" y="15835"/>
                </a:moveTo>
                <a:lnTo>
                  <a:pt x="45333" y="54412"/>
                </a:lnTo>
                <a:cubicBezTo>
                  <a:pt x="43964" y="55930"/>
                  <a:pt x="44023" y="58281"/>
                  <a:pt x="45482" y="59740"/>
                </a:cubicBezTo>
                <a:cubicBezTo>
                  <a:pt x="54560" y="68818"/>
                  <a:pt x="69294" y="68818"/>
                  <a:pt x="78373" y="59740"/>
                </a:cubicBezTo>
                <a:lnTo>
                  <a:pt x="87838" y="50274"/>
                </a:lnTo>
                <a:cubicBezTo>
                  <a:pt x="89089" y="49024"/>
                  <a:pt x="90666" y="48339"/>
                  <a:pt x="92273" y="48220"/>
                </a:cubicBezTo>
                <a:cubicBezTo>
                  <a:pt x="94298" y="48042"/>
                  <a:pt x="96381" y="48726"/>
                  <a:pt x="97929" y="50274"/>
                </a:cubicBezTo>
                <a:lnTo>
                  <a:pt x="150495" y="102394"/>
                </a:lnTo>
                <a:lnTo>
                  <a:pt x="171450" y="85725"/>
                </a:lnTo>
                <a:lnTo>
                  <a:pt x="171450" y="0"/>
                </a:lnTo>
                <a:lnTo>
                  <a:pt x="138113" y="19050"/>
                </a:lnTo>
                <a:lnTo>
                  <a:pt x="131028" y="14317"/>
                </a:lnTo>
                <a:cubicBezTo>
                  <a:pt x="126325" y="11192"/>
                  <a:pt x="120819" y="9525"/>
                  <a:pt x="115163" y="9525"/>
                </a:cubicBezTo>
                <a:lnTo>
                  <a:pt x="94208" y="9525"/>
                </a:lnTo>
                <a:cubicBezTo>
                  <a:pt x="93881" y="9525"/>
                  <a:pt x="93524" y="9525"/>
                  <a:pt x="93196" y="9555"/>
                </a:cubicBezTo>
                <a:cubicBezTo>
                  <a:pt x="88166" y="9823"/>
                  <a:pt x="83433" y="12085"/>
                  <a:pt x="80040" y="15835"/>
                </a:cubicBezTo>
                <a:close/>
                <a:moveTo>
                  <a:pt x="34707" y="44857"/>
                </a:moveTo>
                <a:lnTo>
                  <a:pt x="66496" y="9525"/>
                </a:lnTo>
                <a:lnTo>
                  <a:pt x="54709" y="9525"/>
                </a:lnTo>
                <a:cubicBezTo>
                  <a:pt x="47119" y="9525"/>
                  <a:pt x="39856" y="12531"/>
                  <a:pt x="34498" y="17889"/>
                </a:cubicBezTo>
                <a:lnTo>
                  <a:pt x="0" y="57150"/>
                </a:lnTo>
                <a:lnTo>
                  <a:pt x="0" y="161925"/>
                </a:lnTo>
                <a:lnTo>
                  <a:pt x="42863" y="121444"/>
                </a:lnTo>
                <a:lnTo>
                  <a:pt x="46553" y="124510"/>
                </a:lnTo>
                <a:cubicBezTo>
                  <a:pt x="53400" y="130225"/>
                  <a:pt x="62032" y="133350"/>
                  <a:pt x="70931" y="133350"/>
                </a:cubicBezTo>
                <a:lnTo>
                  <a:pt x="75605" y="133350"/>
                </a:lnTo>
                <a:lnTo>
                  <a:pt x="73521" y="131266"/>
                </a:lnTo>
                <a:cubicBezTo>
                  <a:pt x="70723" y="128468"/>
                  <a:pt x="70723" y="123944"/>
                  <a:pt x="73521" y="121176"/>
                </a:cubicBezTo>
                <a:cubicBezTo>
                  <a:pt x="76319" y="118408"/>
                  <a:pt x="80843" y="118378"/>
                  <a:pt x="83612" y="121176"/>
                </a:cubicBezTo>
                <a:lnTo>
                  <a:pt x="95816" y="133380"/>
                </a:lnTo>
                <a:lnTo>
                  <a:pt x="98494" y="133380"/>
                </a:lnTo>
                <a:cubicBezTo>
                  <a:pt x="104180" y="133380"/>
                  <a:pt x="109746" y="132100"/>
                  <a:pt x="114806" y="129719"/>
                </a:cubicBezTo>
                <a:lnTo>
                  <a:pt x="106859" y="121741"/>
                </a:lnTo>
                <a:cubicBezTo>
                  <a:pt x="104061" y="118943"/>
                  <a:pt x="104061" y="114419"/>
                  <a:pt x="106859" y="111651"/>
                </a:cubicBezTo>
                <a:cubicBezTo>
                  <a:pt x="109657" y="108883"/>
                  <a:pt x="114181" y="108853"/>
                  <a:pt x="116949" y="111651"/>
                </a:cubicBezTo>
                <a:lnTo>
                  <a:pt x="126474" y="121176"/>
                </a:lnTo>
                <a:lnTo>
                  <a:pt x="131683" y="115967"/>
                </a:lnTo>
                <a:cubicBezTo>
                  <a:pt x="134332" y="113318"/>
                  <a:pt x="135106" y="109478"/>
                  <a:pt x="133945" y="106114"/>
                </a:cubicBezTo>
                <a:lnTo>
                  <a:pt x="92899" y="65395"/>
                </a:lnTo>
                <a:lnTo>
                  <a:pt x="88463" y="69830"/>
                </a:lnTo>
                <a:cubicBezTo>
                  <a:pt x="73789" y="84505"/>
                  <a:pt x="50036" y="84505"/>
                  <a:pt x="35362" y="69830"/>
                </a:cubicBezTo>
                <a:cubicBezTo>
                  <a:pt x="28515" y="62984"/>
                  <a:pt x="28248" y="52001"/>
                  <a:pt x="34707" y="4482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1111250" y="3130553"/>
            <a:ext cx="3581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HandsOn Tokyo</a:t>
            </a:r>
            <a:endParaRPr sz="1600" b="0" i="0" u="none" strike="noStrike" cap="none"/>
          </a:p>
        </p:txBody>
      </p:sp>
      <p:sp>
        <p:nvSpPr>
          <p:cNvPr id="468" name="Google Shape;468;p14"/>
          <p:cNvSpPr/>
          <p:nvPr/>
        </p:nvSpPr>
        <p:spPr>
          <a:xfrm>
            <a:off x="1111250" y="3359153"/>
            <a:ext cx="3571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Volunteer base, community connections, event coordination</a:t>
            </a:r>
            <a:endParaRPr sz="1600" b="0" i="0" u="none" strike="noStrike" cap="none"/>
          </a:p>
        </p:txBody>
      </p:sp>
      <p:sp>
        <p:nvSpPr>
          <p:cNvPr id="469" name="Google Shape;469;p14"/>
          <p:cNvSpPr/>
          <p:nvPr/>
        </p:nvSpPr>
        <p:spPr>
          <a:xfrm>
            <a:off x="539750" y="37020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615950" y="3778253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720725" y="38925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extrusionOk="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1111250" y="3778253"/>
            <a:ext cx="40671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TELL Japan</a:t>
            </a:r>
            <a:endParaRPr sz="1600" b="0" i="0" u="none" strike="noStrike" cap="none"/>
          </a:p>
        </p:txBody>
      </p:sp>
      <p:sp>
        <p:nvSpPr>
          <p:cNvPr id="473" name="Google Shape;473;p14"/>
          <p:cNvSpPr/>
          <p:nvPr/>
        </p:nvSpPr>
        <p:spPr>
          <a:xfrm>
            <a:off x="1111250" y="4006853"/>
            <a:ext cx="4057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Mental health expertise, workplace counseling, professional network</a:t>
            </a:r>
            <a:endParaRPr sz="1600" b="0" i="0" u="none" strike="noStrike" cap="none"/>
          </a:p>
        </p:txBody>
      </p:sp>
      <p:sp>
        <p:nvSpPr>
          <p:cNvPr id="474" name="Google Shape;474;p14"/>
          <p:cNvSpPr/>
          <p:nvPr/>
        </p:nvSpPr>
        <p:spPr>
          <a:xfrm>
            <a:off x="539750" y="4349753"/>
            <a:ext cx="5324475" cy="571500"/>
          </a:xfrm>
          <a:prstGeom prst="roundRect">
            <a:avLst>
              <a:gd name="adj" fmla="val 1333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615950" y="4425953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749300" y="45402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 extrusionOk="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1111250" y="4425953"/>
            <a:ext cx="3743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Chambers of Commerce</a:t>
            </a:r>
            <a:endParaRPr sz="1600" b="0" i="0" u="none" strike="noStrike" cap="none"/>
          </a:p>
        </p:txBody>
      </p:sp>
      <p:sp>
        <p:nvSpPr>
          <p:cNvPr id="478" name="Google Shape;478;p14"/>
          <p:cNvSpPr/>
          <p:nvPr/>
        </p:nvSpPr>
        <p:spPr>
          <a:xfrm>
            <a:off x="1111250" y="4654553"/>
            <a:ext cx="3733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Access to SMEs for toolkit distribution, workplace partnerships</a:t>
            </a:r>
            <a:endParaRPr sz="1600" b="0" i="0" u="none" strike="noStrike" cap="none"/>
          </a:p>
        </p:txBody>
      </p:sp>
      <p:sp>
        <p:nvSpPr>
          <p:cNvPr id="479" name="Google Shape;479;p14"/>
          <p:cNvSpPr/>
          <p:nvPr/>
        </p:nvSpPr>
        <p:spPr>
          <a:xfrm>
            <a:off x="6175375" y="1222375"/>
            <a:ext cx="5635625" cy="3016250"/>
          </a:xfrm>
          <a:prstGeom prst="roundRect">
            <a:avLst>
              <a:gd name="adj" fmla="val 3789"/>
            </a:avLst>
          </a:pr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262626"/>
              </a:gs>
            </a:gsLst>
            <a:lin ang="2700000" scaled="0"/>
          </a:gradFill>
          <a:ln w="9525" cap="flat" cmpd="sng">
            <a:solidFill>
              <a:srgbClr val="6366F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4"/>
          <p:cNvSpPr/>
          <p:nvPr/>
        </p:nvSpPr>
        <p:spPr>
          <a:xfrm>
            <a:off x="6333331" y="142557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 extrusionOk="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6550025" y="1377953"/>
            <a:ext cx="5191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Beneficiary Access Strategy</a:t>
            </a:r>
            <a:endParaRPr sz="1600" b="0" i="0" u="none" strike="noStrike" cap="none"/>
          </a:p>
        </p:txBody>
      </p:sp>
      <p:sp>
        <p:nvSpPr>
          <p:cNvPr id="482" name="Google Shape;482;p14"/>
          <p:cNvSpPr/>
          <p:nvPr/>
        </p:nvSpPr>
        <p:spPr>
          <a:xfrm>
            <a:off x="6330950" y="1758953"/>
            <a:ext cx="5324475" cy="723900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6464300" y="19113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4"/>
          <p:cNvSpPr/>
          <p:nvPr/>
        </p:nvSpPr>
        <p:spPr>
          <a:xfrm>
            <a:off x="6711950" y="1873253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Primary Channel</a:t>
            </a:r>
            <a:endParaRPr sz="1600" b="0" i="0" u="none" strike="noStrike" cap="none"/>
          </a:p>
        </p:txBody>
      </p:sp>
      <p:sp>
        <p:nvSpPr>
          <p:cNvPr id="485" name="Google Shape;485;p14"/>
          <p:cNvSpPr/>
          <p:nvPr/>
        </p:nvSpPr>
        <p:spPr>
          <a:xfrm>
            <a:off x="6445250" y="2139953"/>
            <a:ext cx="5172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University disability services offices and student support centers</a:t>
            </a:r>
            <a:endParaRPr sz="1600" b="0" i="0" u="none" strike="noStrike" cap="none"/>
          </a:p>
        </p:txBody>
      </p:sp>
      <p:sp>
        <p:nvSpPr>
          <p:cNvPr id="486" name="Google Shape;486;p14"/>
          <p:cNvSpPr/>
          <p:nvPr/>
        </p:nvSpPr>
        <p:spPr>
          <a:xfrm>
            <a:off x="6330950" y="2559053"/>
            <a:ext cx="5324475" cy="723900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6464300" y="27114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114300" y="57150"/>
                </a:moveTo>
                <a:cubicBezTo>
                  <a:pt x="130076" y="57150"/>
                  <a:pt x="142875" y="44351"/>
                  <a:pt x="142875" y="28575"/>
                </a:cubicBezTo>
                <a:cubicBezTo>
                  <a:pt x="142875" y="12799"/>
                  <a:pt x="130076" y="0"/>
                  <a:pt x="114300" y="0"/>
                </a:cubicBezTo>
                <a:cubicBezTo>
                  <a:pt x="98524" y="0"/>
                  <a:pt x="85725" y="12799"/>
                  <a:pt x="85725" y="28575"/>
                </a:cubicBezTo>
                <a:cubicBezTo>
                  <a:pt x="85725" y="30182"/>
                  <a:pt x="85874" y="31790"/>
                  <a:pt x="86112" y="33338"/>
                </a:cubicBezTo>
                <a:lnTo>
                  <a:pt x="47506" y="54799"/>
                </a:lnTo>
                <a:cubicBezTo>
                  <a:pt x="42476" y="50334"/>
                  <a:pt x="35838" y="47625"/>
                  <a:pt x="28575" y="47625"/>
                </a:cubicBezTo>
                <a:cubicBezTo>
                  <a:pt x="12799" y="47625"/>
                  <a:pt x="0" y="60424"/>
                  <a:pt x="0" y="76200"/>
                </a:cubicBezTo>
                <a:cubicBezTo>
                  <a:pt x="0" y="91976"/>
                  <a:pt x="12799" y="104775"/>
                  <a:pt x="28575" y="104775"/>
                </a:cubicBezTo>
                <a:cubicBezTo>
                  <a:pt x="35838" y="104775"/>
                  <a:pt x="42446" y="102066"/>
                  <a:pt x="47506" y="97601"/>
                </a:cubicBezTo>
                <a:lnTo>
                  <a:pt x="86112" y="119062"/>
                </a:lnTo>
                <a:cubicBezTo>
                  <a:pt x="85844" y="120610"/>
                  <a:pt x="85725" y="122188"/>
                  <a:pt x="85725" y="123825"/>
                </a:cubicBezTo>
                <a:cubicBezTo>
                  <a:pt x="85725" y="139601"/>
                  <a:pt x="98524" y="152400"/>
                  <a:pt x="114300" y="152400"/>
                </a:cubicBezTo>
                <a:cubicBezTo>
                  <a:pt x="130076" y="152400"/>
                  <a:pt x="142875" y="139601"/>
                  <a:pt x="142875" y="123825"/>
                </a:cubicBezTo>
                <a:cubicBezTo>
                  <a:pt x="142875" y="108049"/>
                  <a:pt x="130076" y="95250"/>
                  <a:pt x="114300" y="95250"/>
                </a:cubicBezTo>
                <a:cubicBezTo>
                  <a:pt x="107037" y="95250"/>
                  <a:pt x="100429" y="97959"/>
                  <a:pt x="95369" y="102424"/>
                </a:cubicBezTo>
                <a:lnTo>
                  <a:pt x="56763" y="80962"/>
                </a:lnTo>
                <a:cubicBezTo>
                  <a:pt x="57031" y="79415"/>
                  <a:pt x="57150" y="77837"/>
                  <a:pt x="57150" y="76200"/>
                </a:cubicBezTo>
                <a:cubicBezTo>
                  <a:pt x="57150" y="74563"/>
                  <a:pt x="57001" y="72985"/>
                  <a:pt x="56763" y="71438"/>
                </a:cubicBezTo>
                <a:lnTo>
                  <a:pt x="95369" y="49976"/>
                </a:lnTo>
                <a:cubicBezTo>
                  <a:pt x="100399" y="54441"/>
                  <a:pt x="107037" y="57150"/>
                  <a:pt x="114300" y="5715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6711950" y="2673353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Secondary Channel</a:t>
            </a:r>
            <a:endParaRPr sz="1600" b="0" i="0" u="none" strike="noStrike" cap="none"/>
          </a:p>
        </p:txBody>
      </p:sp>
      <p:sp>
        <p:nvSpPr>
          <p:cNvPr id="489" name="Google Shape;489;p14"/>
          <p:cNvSpPr/>
          <p:nvPr/>
        </p:nvSpPr>
        <p:spPr>
          <a:xfrm>
            <a:off x="6445250" y="2940053"/>
            <a:ext cx="5172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Social media outreach (Twitter, Instagram), NPO referrals</a:t>
            </a:r>
            <a:endParaRPr sz="1600" b="0" i="0" u="none" strike="noStrike" cap="none"/>
          </a:p>
        </p:txBody>
      </p:sp>
      <p:sp>
        <p:nvSpPr>
          <p:cNvPr id="490" name="Google Shape;490;p14"/>
          <p:cNvSpPr/>
          <p:nvPr/>
        </p:nvSpPr>
        <p:spPr>
          <a:xfrm>
            <a:off x="6330950" y="3359153"/>
            <a:ext cx="5324475" cy="723900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6454775" y="35115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extrusionOk="0">
                <a:moveTo>
                  <a:pt x="19050" y="38100"/>
                </a:moveTo>
                <a:cubicBezTo>
                  <a:pt x="19050" y="19701"/>
                  <a:pt x="33988" y="4763"/>
                  <a:pt x="52387" y="4763"/>
                </a:cubicBezTo>
                <a:cubicBezTo>
                  <a:pt x="70787" y="4763"/>
                  <a:pt x="85725" y="19701"/>
                  <a:pt x="85725" y="38100"/>
                </a:cubicBezTo>
                <a:cubicBezTo>
                  <a:pt x="85725" y="56499"/>
                  <a:pt x="70787" y="71438"/>
                  <a:pt x="52388" y="71438"/>
                </a:cubicBezTo>
                <a:cubicBezTo>
                  <a:pt x="33988" y="71438"/>
                  <a:pt x="19050" y="56499"/>
                  <a:pt x="19050" y="38100"/>
                </a:cubicBezTo>
                <a:close/>
                <a:moveTo>
                  <a:pt x="0" y="138113"/>
                </a:moveTo>
                <a:cubicBezTo>
                  <a:pt x="0" y="109180"/>
                  <a:pt x="23455" y="85725"/>
                  <a:pt x="52388" y="85725"/>
                </a:cubicBezTo>
                <a:cubicBezTo>
                  <a:pt x="81320" y="85725"/>
                  <a:pt x="104775" y="109180"/>
                  <a:pt x="104775" y="138113"/>
                </a:cubicBezTo>
                <a:lnTo>
                  <a:pt x="104775" y="139898"/>
                </a:lnTo>
                <a:cubicBezTo>
                  <a:pt x="104775" y="146804"/>
                  <a:pt x="99179" y="152400"/>
                  <a:pt x="92273" y="152400"/>
                </a:cubicBezTo>
                <a:lnTo>
                  <a:pt x="12502" y="152400"/>
                </a:lnTo>
                <a:cubicBezTo>
                  <a:pt x="5596" y="152400"/>
                  <a:pt x="0" y="146804"/>
                  <a:pt x="0" y="139898"/>
                </a:cubicBezTo>
                <a:lnTo>
                  <a:pt x="0" y="138113"/>
                </a:lnTo>
                <a:close/>
                <a:moveTo>
                  <a:pt x="128588" y="19050"/>
                </a:moveTo>
                <a:cubicBezTo>
                  <a:pt x="144358" y="19050"/>
                  <a:pt x="157163" y="31854"/>
                  <a:pt x="157163" y="47625"/>
                </a:cubicBezTo>
                <a:cubicBezTo>
                  <a:pt x="157163" y="63396"/>
                  <a:pt x="144358" y="76200"/>
                  <a:pt x="128588" y="76200"/>
                </a:cubicBezTo>
                <a:cubicBezTo>
                  <a:pt x="112817" y="76200"/>
                  <a:pt x="100013" y="63396"/>
                  <a:pt x="100013" y="47625"/>
                </a:cubicBezTo>
                <a:cubicBezTo>
                  <a:pt x="100013" y="31854"/>
                  <a:pt x="112817" y="19050"/>
                  <a:pt x="128588" y="19050"/>
                </a:cubicBezTo>
                <a:close/>
                <a:moveTo>
                  <a:pt x="128588" y="90488"/>
                </a:moveTo>
                <a:cubicBezTo>
                  <a:pt x="152251" y="90488"/>
                  <a:pt x="171450" y="109686"/>
                  <a:pt x="171450" y="133350"/>
                </a:cubicBezTo>
                <a:lnTo>
                  <a:pt x="171450" y="140018"/>
                </a:lnTo>
                <a:cubicBezTo>
                  <a:pt x="171450" y="146864"/>
                  <a:pt x="165914" y="152400"/>
                  <a:pt x="159068" y="152400"/>
                </a:cubicBezTo>
                <a:lnTo>
                  <a:pt x="115967" y="152400"/>
                </a:lnTo>
                <a:cubicBezTo>
                  <a:pt x="117931" y="148679"/>
                  <a:pt x="119062" y="144423"/>
                  <a:pt x="119062" y="139898"/>
                </a:cubicBezTo>
                <a:lnTo>
                  <a:pt x="119062" y="138113"/>
                </a:lnTo>
                <a:cubicBezTo>
                  <a:pt x="119062" y="122783"/>
                  <a:pt x="113883" y="108674"/>
                  <a:pt x="105221" y="97423"/>
                </a:cubicBezTo>
                <a:cubicBezTo>
                  <a:pt x="111949" y="93047"/>
                  <a:pt x="119985" y="90488"/>
                  <a:pt x="128587" y="9048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4"/>
          <p:cNvSpPr/>
          <p:nvPr/>
        </p:nvSpPr>
        <p:spPr>
          <a:xfrm>
            <a:off x="6711950" y="3473453"/>
            <a:ext cx="1133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Peer Advocates</a:t>
            </a:r>
            <a:endParaRPr sz="1600" b="0" i="0" u="none" strike="noStrike" cap="none"/>
          </a:p>
        </p:txBody>
      </p:sp>
      <p:sp>
        <p:nvSpPr>
          <p:cNvPr id="493" name="Google Shape;493;p14"/>
          <p:cNvSpPr/>
          <p:nvPr/>
        </p:nvSpPr>
        <p:spPr>
          <a:xfrm>
            <a:off x="6445250" y="3740153"/>
            <a:ext cx="5172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Lived experience voices for authentic community trust and program design</a:t>
            </a:r>
            <a:endParaRPr sz="1600" b="0" i="0" u="none" strike="noStrike" cap="none"/>
          </a:p>
        </p:txBody>
      </p:sp>
      <p:sp>
        <p:nvSpPr>
          <p:cNvPr id="494" name="Google Shape;494;p14"/>
          <p:cNvSpPr/>
          <p:nvPr/>
        </p:nvSpPr>
        <p:spPr>
          <a:xfrm>
            <a:off x="6175375" y="4359277"/>
            <a:ext cx="5635625" cy="2111375"/>
          </a:xfrm>
          <a:prstGeom prst="roundRect">
            <a:avLst>
              <a:gd name="adj" fmla="val 5414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6354763" y="4562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4"/>
          <p:cNvSpPr/>
          <p:nvPr/>
        </p:nvSpPr>
        <p:spPr>
          <a:xfrm>
            <a:off x="6550025" y="4514850"/>
            <a:ext cx="5191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Ethical Considerations</a:t>
            </a:r>
            <a:endParaRPr sz="1600" b="0" i="0" u="none" strike="noStrike" cap="none"/>
          </a:p>
        </p:txBody>
      </p:sp>
      <p:sp>
        <p:nvSpPr>
          <p:cNvPr id="497" name="Google Shape;497;p14"/>
          <p:cNvSpPr/>
          <p:nvPr/>
        </p:nvSpPr>
        <p:spPr>
          <a:xfrm>
            <a:off x="6350000" y="4933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6597650" y="4895850"/>
            <a:ext cx="3209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Voluntary participation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- no disclosure required</a:t>
            </a:r>
            <a:endParaRPr sz="1600" b="0" i="0" u="none" strike="noStrike" cap="none"/>
          </a:p>
        </p:txBody>
      </p:sp>
      <p:sp>
        <p:nvSpPr>
          <p:cNvPr id="499" name="Google Shape;499;p14"/>
          <p:cNvSpPr/>
          <p:nvPr/>
        </p:nvSpPr>
        <p:spPr>
          <a:xfrm>
            <a:off x="6350000" y="5238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6597650" y="5200650"/>
            <a:ext cx="2933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Anonymized stories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with informed consent</a:t>
            </a:r>
            <a:endParaRPr sz="1600" b="0" i="0" u="none" strike="noStrike" cap="none"/>
          </a:p>
        </p:txBody>
      </p:sp>
      <p:sp>
        <p:nvSpPr>
          <p:cNvPr id="501" name="Google Shape;501;p14"/>
          <p:cNvSpPr/>
          <p:nvPr/>
        </p:nvSpPr>
        <p:spPr>
          <a:xfrm>
            <a:off x="6350000" y="5543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4"/>
          <p:cNvSpPr/>
          <p:nvPr/>
        </p:nvSpPr>
        <p:spPr>
          <a:xfrm>
            <a:off x="6597650" y="5505450"/>
            <a:ext cx="3400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Cultural sensitivity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in all materials and interactions</a:t>
            </a:r>
            <a:endParaRPr sz="1600" b="0" i="0" u="none" strike="noStrike" cap="none"/>
          </a:p>
        </p:txBody>
      </p:sp>
      <p:sp>
        <p:nvSpPr>
          <p:cNvPr id="503" name="Google Shape;503;p14"/>
          <p:cNvSpPr/>
          <p:nvPr/>
        </p:nvSpPr>
        <p:spPr>
          <a:xfrm>
            <a:off x="6350000" y="5848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4"/>
          <p:cNvSpPr/>
          <p:nvPr/>
        </p:nvSpPr>
        <p:spPr>
          <a:xfrm>
            <a:off x="6597650" y="5810250"/>
            <a:ext cx="3667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Privacy protection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- no identifiable information shared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5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571500" y="381000"/>
            <a:ext cx="5962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EXECUTION</a:t>
            </a:r>
            <a:endParaRPr sz="1600" b="0" i="0" u="none" strike="noStrike" cap="none"/>
          </a:p>
        </p:txBody>
      </p:sp>
      <p:sp>
        <p:nvSpPr>
          <p:cNvPr id="512" name="Google Shape;512;p15"/>
          <p:cNvSpPr/>
          <p:nvPr/>
        </p:nvSpPr>
        <p:spPr>
          <a:xfrm>
            <a:off x="571500" y="609600"/>
            <a:ext cx="6057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Implementation Timeline &amp; Team Roles</a:t>
            </a:r>
            <a:endParaRPr sz="1600" b="0" i="0" u="none" strike="noStrike" cap="none"/>
          </a:p>
        </p:txBody>
      </p:sp>
      <p:sp>
        <p:nvSpPr>
          <p:cNvPr id="513" name="Google Shape;513;p15"/>
          <p:cNvSpPr/>
          <p:nvPr/>
        </p:nvSpPr>
        <p:spPr>
          <a:xfrm>
            <a:off x="384175" y="1222375"/>
            <a:ext cx="6759575" cy="3892550"/>
          </a:xfrm>
          <a:prstGeom prst="roundRect">
            <a:avLst>
              <a:gd name="adj" fmla="val 2936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539750" y="1377953"/>
            <a:ext cx="6534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12-Week Implementation Plan</a:t>
            </a:r>
            <a:endParaRPr sz="1600" b="0" i="0" u="none" strike="noStrike" cap="none"/>
          </a:p>
        </p:txBody>
      </p:sp>
      <p:sp>
        <p:nvSpPr>
          <p:cNvPr id="515" name="Google Shape;515;p15"/>
          <p:cNvSpPr/>
          <p:nvPr/>
        </p:nvSpPr>
        <p:spPr>
          <a:xfrm>
            <a:off x="539750" y="1758953"/>
            <a:ext cx="1219200" cy="495300"/>
          </a:xfrm>
          <a:prstGeom prst="roundRect">
            <a:avLst>
              <a:gd name="adj" fmla="val 15385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582613" y="1835153"/>
            <a:ext cx="1133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Phase 1</a:t>
            </a:r>
            <a:endParaRPr sz="1600" b="0" i="0" u="none" strike="noStrike" cap="none"/>
          </a:p>
        </p:txBody>
      </p:sp>
      <p:sp>
        <p:nvSpPr>
          <p:cNvPr id="517" name="Google Shape;517;p15"/>
          <p:cNvSpPr/>
          <p:nvPr/>
        </p:nvSpPr>
        <p:spPr>
          <a:xfrm>
            <a:off x="587375" y="2025653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Weeks 1-4</a:t>
            </a:r>
            <a:endParaRPr sz="1600" b="0" i="0" u="none" strike="noStrike" cap="none"/>
          </a:p>
        </p:txBody>
      </p:sp>
      <p:sp>
        <p:nvSpPr>
          <p:cNvPr id="518" name="Google Shape;518;p15"/>
          <p:cNvSpPr/>
          <p:nvPr/>
        </p:nvSpPr>
        <p:spPr>
          <a:xfrm>
            <a:off x="1873250" y="1758953"/>
            <a:ext cx="5114925" cy="876300"/>
          </a:xfrm>
          <a:prstGeom prst="roundRect">
            <a:avLst>
              <a:gd name="adj" fmla="val 8696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1987550" y="1873253"/>
            <a:ext cx="4962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Research &amp; Design</a:t>
            </a:r>
            <a:endParaRPr sz="1600" b="0" i="0" u="none" strike="noStrike" cap="none"/>
          </a:p>
        </p:txBody>
      </p:sp>
      <p:sp>
        <p:nvSpPr>
          <p:cNvPr id="520" name="Google Shape;520;p15"/>
          <p:cNvSpPr/>
          <p:nvPr/>
        </p:nvSpPr>
        <p:spPr>
          <a:xfrm>
            <a:off x="1987550" y="2139953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Conduct needs assessment, design toolkit content, develop workshop curriculum, establish partnerships</a:t>
            </a:r>
            <a:endParaRPr sz="1600" b="0" i="0" u="none" strike="noStrike" cap="none"/>
          </a:p>
        </p:txBody>
      </p:sp>
      <p:sp>
        <p:nvSpPr>
          <p:cNvPr id="521" name="Google Shape;521;p15"/>
          <p:cNvSpPr/>
          <p:nvPr/>
        </p:nvSpPr>
        <p:spPr>
          <a:xfrm>
            <a:off x="539750" y="2711453"/>
            <a:ext cx="1219200" cy="495300"/>
          </a:xfrm>
          <a:prstGeom prst="roundRect">
            <a:avLst>
              <a:gd name="adj" fmla="val 15385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582613" y="2787653"/>
            <a:ext cx="1133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Phase 2</a:t>
            </a:r>
            <a:endParaRPr sz="1600" b="0" i="0" u="none" strike="noStrike" cap="none"/>
          </a:p>
        </p:txBody>
      </p:sp>
      <p:sp>
        <p:nvSpPr>
          <p:cNvPr id="523" name="Google Shape;523;p15"/>
          <p:cNvSpPr/>
          <p:nvPr/>
        </p:nvSpPr>
        <p:spPr>
          <a:xfrm>
            <a:off x="587375" y="2978153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Weeks 5-8</a:t>
            </a:r>
            <a:endParaRPr sz="1600" b="0" i="0" u="none" strike="noStrike" cap="none"/>
          </a:p>
        </p:txBody>
      </p:sp>
      <p:sp>
        <p:nvSpPr>
          <p:cNvPr id="524" name="Google Shape;524;p15"/>
          <p:cNvSpPr/>
          <p:nvPr/>
        </p:nvSpPr>
        <p:spPr>
          <a:xfrm>
            <a:off x="1873250" y="2711453"/>
            <a:ext cx="5114925" cy="876300"/>
          </a:xfrm>
          <a:prstGeom prst="roundRect">
            <a:avLst>
              <a:gd name="adj" fmla="val 8696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1987550" y="2825753"/>
            <a:ext cx="4962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Pilot &amp; Refine</a:t>
            </a:r>
            <a:endParaRPr sz="1600" b="0" i="0" u="none" strike="noStrike" cap="none"/>
          </a:p>
        </p:txBody>
      </p:sp>
      <p:sp>
        <p:nvSpPr>
          <p:cNvPr id="526" name="Google Shape;526;p15"/>
          <p:cNvSpPr/>
          <p:nvPr/>
        </p:nvSpPr>
        <p:spPr>
          <a:xfrm>
            <a:off x="1987550" y="3092453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Deliver 2 pilot workshops, gather feedback, refine toolkit, launch digital platform prototype</a:t>
            </a:r>
            <a:endParaRPr sz="1600" b="0" i="0" u="none" strike="noStrike" cap="none"/>
          </a:p>
        </p:txBody>
      </p:sp>
      <p:sp>
        <p:nvSpPr>
          <p:cNvPr id="527" name="Google Shape;527;p15"/>
          <p:cNvSpPr/>
          <p:nvPr/>
        </p:nvSpPr>
        <p:spPr>
          <a:xfrm>
            <a:off x="539750" y="3663953"/>
            <a:ext cx="1219200" cy="495300"/>
          </a:xfrm>
          <a:prstGeom prst="roundRect">
            <a:avLst>
              <a:gd name="adj" fmla="val 15385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582613" y="3740153"/>
            <a:ext cx="1133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Phase 3</a:t>
            </a:r>
            <a:endParaRPr sz="1600" b="0" i="0" u="none" strike="noStrike" cap="none"/>
          </a:p>
        </p:txBody>
      </p:sp>
      <p:sp>
        <p:nvSpPr>
          <p:cNvPr id="529" name="Google Shape;529;p15"/>
          <p:cNvSpPr/>
          <p:nvPr/>
        </p:nvSpPr>
        <p:spPr>
          <a:xfrm>
            <a:off x="587375" y="3930653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Weeks 9-12</a:t>
            </a:r>
            <a:endParaRPr sz="1600" b="0" i="0" u="none" strike="noStrike" cap="none"/>
          </a:p>
        </p:txBody>
      </p:sp>
      <p:sp>
        <p:nvSpPr>
          <p:cNvPr id="530" name="Google Shape;530;p15"/>
          <p:cNvSpPr/>
          <p:nvPr/>
        </p:nvSpPr>
        <p:spPr>
          <a:xfrm>
            <a:off x="1873250" y="3663953"/>
            <a:ext cx="5114925" cy="876300"/>
          </a:xfrm>
          <a:prstGeom prst="roundRect">
            <a:avLst>
              <a:gd name="adj" fmla="val 8696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1987550" y="3778253"/>
            <a:ext cx="4962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Scale &amp; Evaluate</a:t>
            </a:r>
            <a:endParaRPr sz="1600" b="0" i="0" u="none" strike="noStrike" cap="none"/>
          </a:p>
        </p:txBody>
      </p:sp>
      <p:sp>
        <p:nvSpPr>
          <p:cNvPr id="532" name="Google Shape;532;p15"/>
          <p:cNvSpPr/>
          <p:nvPr/>
        </p:nvSpPr>
        <p:spPr>
          <a:xfrm>
            <a:off x="1987550" y="4044953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Expand to 2 additional locations, deliver final workshops, collect impact data, prepare sustainability handover</a:t>
            </a:r>
            <a:endParaRPr sz="1600" b="0" i="0" u="none" strike="noStrike" cap="none"/>
          </a:p>
        </p:txBody>
      </p:sp>
      <p:sp>
        <p:nvSpPr>
          <p:cNvPr id="533" name="Google Shape;533;p15"/>
          <p:cNvSpPr/>
          <p:nvPr/>
        </p:nvSpPr>
        <p:spPr>
          <a:xfrm>
            <a:off x="384175" y="5237163"/>
            <a:ext cx="6759575" cy="1416050"/>
          </a:xfrm>
          <a:prstGeom prst="roundRect">
            <a:avLst>
              <a:gd name="adj" fmla="val 8072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539750" y="5392741"/>
            <a:ext cx="6534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Key Milestones</a:t>
            </a:r>
            <a:endParaRPr sz="1600" b="0" i="0" u="none" strike="noStrike" cap="none"/>
          </a:p>
        </p:txBody>
      </p:sp>
      <p:sp>
        <p:nvSpPr>
          <p:cNvPr id="535" name="Google Shape;535;p15"/>
          <p:cNvSpPr/>
          <p:nvPr/>
        </p:nvSpPr>
        <p:spPr>
          <a:xfrm>
            <a:off x="539750" y="5773741"/>
            <a:ext cx="1524000" cy="723900"/>
          </a:xfrm>
          <a:prstGeom prst="roundRect">
            <a:avLst>
              <a:gd name="adj" fmla="val 10526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1231503" y="584994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extrusionOk="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582613" y="6078541"/>
            <a:ext cx="14382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Week 2</a:t>
            </a:r>
            <a:endParaRPr sz="1600" b="0" i="0" u="none" strike="noStrike" cap="none"/>
          </a:p>
        </p:txBody>
      </p:sp>
      <p:sp>
        <p:nvSpPr>
          <p:cNvPr id="538" name="Google Shape;538;p15"/>
          <p:cNvSpPr/>
          <p:nvPr/>
        </p:nvSpPr>
        <p:spPr>
          <a:xfrm>
            <a:off x="587375" y="6269041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Partnerships signed</a:t>
            </a:r>
            <a:endParaRPr sz="1600" b="0" i="0" u="none" strike="noStrike" cap="none"/>
          </a:p>
        </p:txBody>
      </p:sp>
      <p:sp>
        <p:nvSpPr>
          <p:cNvPr id="539" name="Google Shape;539;p15"/>
          <p:cNvSpPr/>
          <p:nvPr/>
        </p:nvSpPr>
        <p:spPr>
          <a:xfrm>
            <a:off x="2180531" y="5773741"/>
            <a:ext cx="1524000" cy="723900"/>
          </a:xfrm>
          <a:prstGeom prst="roundRect">
            <a:avLst>
              <a:gd name="adj" fmla="val 10526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2860477" y="58499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 extrusionOk="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2223393" y="6078541"/>
            <a:ext cx="14382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Week 4</a:t>
            </a:r>
            <a:endParaRPr sz="1600" b="0" i="0" u="none" strike="noStrike" cap="none"/>
          </a:p>
        </p:txBody>
      </p:sp>
      <p:sp>
        <p:nvSpPr>
          <p:cNvPr id="542" name="Google Shape;542;p15"/>
          <p:cNvSpPr/>
          <p:nvPr/>
        </p:nvSpPr>
        <p:spPr>
          <a:xfrm>
            <a:off x="2228156" y="6269041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Toolkit v1 complete</a:t>
            </a:r>
            <a:endParaRPr sz="1600" b="0" i="0" u="none" strike="noStrike" cap="none"/>
          </a:p>
        </p:txBody>
      </p:sp>
      <p:sp>
        <p:nvSpPr>
          <p:cNvPr id="543" name="Google Shape;543;p15"/>
          <p:cNvSpPr/>
          <p:nvPr/>
        </p:nvSpPr>
        <p:spPr>
          <a:xfrm>
            <a:off x="3821410" y="5773741"/>
            <a:ext cx="1524000" cy="723900"/>
          </a:xfrm>
          <a:prstGeom prst="roundRect">
            <a:avLst>
              <a:gd name="adj" fmla="val 10526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4465538" y="584994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 extrusionOk="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3864273" y="6078541"/>
            <a:ext cx="14382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Week 6</a:t>
            </a:r>
            <a:endParaRPr sz="1600" b="0" i="0" u="none" strike="noStrike" cap="none"/>
          </a:p>
        </p:txBody>
      </p:sp>
      <p:sp>
        <p:nvSpPr>
          <p:cNvPr id="546" name="Google Shape;546;p15"/>
          <p:cNvSpPr/>
          <p:nvPr/>
        </p:nvSpPr>
        <p:spPr>
          <a:xfrm>
            <a:off x="3869035" y="6269041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First pilot workshop</a:t>
            </a:r>
            <a:endParaRPr sz="1600" b="0" i="0" u="none" strike="noStrike" cap="none"/>
          </a:p>
        </p:txBody>
      </p:sp>
      <p:sp>
        <p:nvSpPr>
          <p:cNvPr id="547" name="Google Shape;547;p15"/>
          <p:cNvSpPr/>
          <p:nvPr/>
        </p:nvSpPr>
        <p:spPr>
          <a:xfrm>
            <a:off x="5462191" y="5773741"/>
            <a:ext cx="1524000" cy="723900"/>
          </a:xfrm>
          <a:prstGeom prst="roundRect">
            <a:avLst>
              <a:gd name="adj" fmla="val 10526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6130230" y="58499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5505054" y="6078541"/>
            <a:ext cx="14382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Week 12</a:t>
            </a:r>
            <a:endParaRPr sz="1600" b="0" i="0" u="none" strike="noStrike" cap="none"/>
          </a:p>
        </p:txBody>
      </p:sp>
      <p:sp>
        <p:nvSpPr>
          <p:cNvPr id="550" name="Google Shape;550;p15"/>
          <p:cNvSpPr/>
          <p:nvPr/>
        </p:nvSpPr>
        <p:spPr>
          <a:xfrm>
            <a:off x="5509816" y="6269041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Impact report</a:t>
            </a:r>
            <a:endParaRPr sz="1600" b="0" i="0" u="none" strike="noStrike" cap="none"/>
          </a:p>
        </p:txBody>
      </p:sp>
      <p:sp>
        <p:nvSpPr>
          <p:cNvPr id="551" name="Google Shape;551;p15"/>
          <p:cNvSpPr/>
          <p:nvPr/>
        </p:nvSpPr>
        <p:spPr>
          <a:xfrm>
            <a:off x="7309446" y="1228725"/>
            <a:ext cx="4495800" cy="4248150"/>
          </a:xfrm>
          <a:prstGeom prst="roundRect">
            <a:avLst>
              <a:gd name="adj" fmla="val 2691"/>
            </a:avLst>
          </a:prstGeom>
          <a:gradFill>
            <a:gsLst>
              <a:gs pos="0">
                <a:srgbClr val="6366F1">
                  <a:alpha val="30196"/>
                </a:srgbClr>
              </a:gs>
              <a:gs pos="100000">
                <a:srgbClr val="262626"/>
              </a:gs>
            </a:gsLst>
            <a:lin ang="2700000" scaled="0"/>
          </a:gradFill>
          <a:ln w="254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7473752" y="14382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 extrusionOk="0">
                <a:moveTo>
                  <a:pt x="107156" y="75009"/>
                </a:moveTo>
                <a:cubicBezTo>
                  <a:pt x="126377" y="75009"/>
                  <a:pt x="141982" y="59404"/>
                  <a:pt x="141982" y="40184"/>
                </a:cubicBezTo>
                <a:cubicBezTo>
                  <a:pt x="141982" y="20963"/>
                  <a:pt x="126377" y="5358"/>
                  <a:pt x="107156" y="5358"/>
                </a:cubicBezTo>
                <a:cubicBezTo>
                  <a:pt x="87935" y="5358"/>
                  <a:pt x="72330" y="20963"/>
                  <a:pt x="72330" y="40184"/>
                </a:cubicBezTo>
                <a:cubicBezTo>
                  <a:pt x="72330" y="59404"/>
                  <a:pt x="87935" y="75009"/>
                  <a:pt x="107156" y="75009"/>
                </a:cubicBezTo>
                <a:close/>
                <a:moveTo>
                  <a:pt x="32147" y="77688"/>
                </a:moveTo>
                <a:cubicBezTo>
                  <a:pt x="45454" y="77688"/>
                  <a:pt x="56257" y="66885"/>
                  <a:pt x="56257" y="53578"/>
                </a:cubicBezTo>
                <a:cubicBezTo>
                  <a:pt x="56257" y="40271"/>
                  <a:pt x="45454" y="29468"/>
                  <a:pt x="32147" y="29468"/>
                </a:cubicBezTo>
                <a:cubicBezTo>
                  <a:pt x="18840" y="29468"/>
                  <a:pt x="8037" y="40271"/>
                  <a:pt x="8037" y="53578"/>
                </a:cubicBezTo>
                <a:cubicBezTo>
                  <a:pt x="8037" y="66885"/>
                  <a:pt x="18840" y="77688"/>
                  <a:pt x="32147" y="77688"/>
                </a:cubicBezTo>
                <a:close/>
                <a:moveTo>
                  <a:pt x="0" y="139303"/>
                </a:move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lnTo>
                  <a:pt x="39748" y="160734"/>
                </a:lnTo>
                <a:cubicBezTo>
                  <a:pt x="38308" y="157453"/>
                  <a:pt x="37505" y="153836"/>
                  <a:pt x="37505" y="150019"/>
                </a:cubicBezTo>
                <a:lnTo>
                  <a:pt x="37505" y="144661"/>
                </a:lnTo>
                <a:cubicBezTo>
                  <a:pt x="37505" y="126846"/>
                  <a:pt x="44202" y="110572"/>
                  <a:pt x="55219" y="98249"/>
                </a:cubicBezTo>
                <a:cubicBezTo>
                  <a:pt x="51301" y="97077"/>
                  <a:pt x="47149" y="96441"/>
                  <a:pt x="42863" y="96441"/>
                </a:cubicBezTo>
                <a:cubicBezTo>
                  <a:pt x="19188" y="96441"/>
                  <a:pt x="0" y="115628"/>
                  <a:pt x="0" y="139303"/>
                </a:cubicBezTo>
                <a:close/>
                <a:moveTo>
                  <a:pt x="206276" y="53578"/>
                </a:moveTo>
                <a:cubicBezTo>
                  <a:pt x="206276" y="40271"/>
                  <a:pt x="195472" y="29468"/>
                  <a:pt x="182166" y="29468"/>
                </a:cubicBezTo>
                <a:cubicBezTo>
                  <a:pt x="168859" y="29468"/>
                  <a:pt x="158055" y="40271"/>
                  <a:pt x="158055" y="53578"/>
                </a:cubicBezTo>
                <a:cubicBezTo>
                  <a:pt x="158055" y="66885"/>
                  <a:pt x="168859" y="77688"/>
                  <a:pt x="182166" y="77688"/>
                </a:cubicBezTo>
                <a:cubicBezTo>
                  <a:pt x="195472" y="77688"/>
                  <a:pt x="206276" y="66885"/>
                  <a:pt x="206276" y="53578"/>
                </a:cubicBezTo>
                <a:close/>
                <a:moveTo>
                  <a:pt x="53578" y="144661"/>
                </a:moveTo>
                <a:lnTo>
                  <a:pt x="53578" y="150019"/>
                </a:lnTo>
                <a:cubicBezTo>
                  <a:pt x="53578" y="155946"/>
                  <a:pt x="58367" y="160734"/>
                  <a:pt x="64294" y="160734"/>
                </a:cubicBezTo>
                <a:lnTo>
                  <a:pt x="116800" y="160734"/>
                </a:lnTo>
                <a:cubicBezTo>
                  <a:pt x="114423" y="153501"/>
                  <a:pt x="114691" y="145866"/>
                  <a:pt x="120383" y="139303"/>
                </a:cubicBezTo>
                <a:cubicBezTo>
                  <a:pt x="115695" y="133878"/>
                  <a:pt x="113519" y="126009"/>
                  <a:pt x="116566" y="118106"/>
                </a:cubicBezTo>
                <a:cubicBezTo>
                  <a:pt x="118776" y="112380"/>
                  <a:pt x="121890" y="107022"/>
                  <a:pt x="125741" y="102267"/>
                </a:cubicBezTo>
                <a:cubicBezTo>
                  <a:pt x="127549" y="100057"/>
                  <a:pt x="129626" y="98349"/>
                  <a:pt x="131869" y="97110"/>
                </a:cubicBezTo>
                <a:cubicBezTo>
                  <a:pt x="124469" y="93259"/>
                  <a:pt x="116064" y="91083"/>
                  <a:pt x="107156" y="91083"/>
                </a:cubicBezTo>
                <a:cubicBezTo>
                  <a:pt x="77554" y="91083"/>
                  <a:pt x="53578" y="115059"/>
                  <a:pt x="53578" y="144661"/>
                </a:cubicBezTo>
                <a:close/>
                <a:moveTo>
                  <a:pt x="209156" y="129893"/>
                </a:moveTo>
                <a:cubicBezTo>
                  <a:pt x="211265" y="128688"/>
                  <a:pt x="212337" y="126176"/>
                  <a:pt x="211433" y="123866"/>
                </a:cubicBezTo>
                <a:cubicBezTo>
                  <a:pt x="209825" y="119714"/>
                  <a:pt x="207582" y="115796"/>
                  <a:pt x="204769" y="112347"/>
                </a:cubicBezTo>
                <a:cubicBezTo>
                  <a:pt x="203229" y="110438"/>
                  <a:pt x="200516" y="110103"/>
                  <a:pt x="198406" y="111342"/>
                </a:cubicBezTo>
                <a:cubicBezTo>
                  <a:pt x="191106" y="115561"/>
                  <a:pt x="182132" y="110404"/>
                  <a:pt x="182132" y="101932"/>
                </a:cubicBezTo>
                <a:cubicBezTo>
                  <a:pt x="182132" y="99488"/>
                  <a:pt x="180491" y="97311"/>
                  <a:pt x="178080" y="96943"/>
                </a:cubicBezTo>
                <a:cubicBezTo>
                  <a:pt x="173761" y="96273"/>
                  <a:pt x="169106" y="96273"/>
                  <a:pt x="164786" y="96943"/>
                </a:cubicBezTo>
                <a:cubicBezTo>
                  <a:pt x="162375" y="97311"/>
                  <a:pt x="160734" y="99488"/>
                  <a:pt x="160734" y="101932"/>
                </a:cubicBezTo>
                <a:cubicBezTo>
                  <a:pt x="160734" y="110371"/>
                  <a:pt x="151760" y="115561"/>
                  <a:pt x="144460" y="111342"/>
                </a:cubicBezTo>
                <a:cubicBezTo>
                  <a:pt x="142350" y="110137"/>
                  <a:pt x="139638" y="110471"/>
                  <a:pt x="138098" y="112347"/>
                </a:cubicBezTo>
                <a:cubicBezTo>
                  <a:pt x="135285" y="115796"/>
                  <a:pt x="133041" y="119714"/>
                  <a:pt x="131434" y="123866"/>
                </a:cubicBezTo>
                <a:cubicBezTo>
                  <a:pt x="130563" y="126143"/>
                  <a:pt x="131601" y="128654"/>
                  <a:pt x="133711" y="129860"/>
                </a:cubicBezTo>
                <a:cubicBezTo>
                  <a:pt x="141044" y="134079"/>
                  <a:pt x="141044" y="144427"/>
                  <a:pt x="133711" y="148679"/>
                </a:cubicBezTo>
                <a:cubicBezTo>
                  <a:pt x="131601" y="149885"/>
                  <a:pt x="130530" y="152396"/>
                  <a:pt x="131434" y="154673"/>
                </a:cubicBezTo>
                <a:cubicBezTo>
                  <a:pt x="133041" y="158826"/>
                  <a:pt x="135285" y="162744"/>
                  <a:pt x="138098" y="166193"/>
                </a:cubicBezTo>
                <a:cubicBezTo>
                  <a:pt x="139638" y="168101"/>
                  <a:pt x="142350" y="168436"/>
                  <a:pt x="144460" y="167197"/>
                </a:cubicBezTo>
                <a:cubicBezTo>
                  <a:pt x="151760" y="162978"/>
                  <a:pt x="160734" y="168168"/>
                  <a:pt x="160734" y="176607"/>
                </a:cubicBezTo>
                <a:cubicBezTo>
                  <a:pt x="160734" y="179051"/>
                  <a:pt x="162375" y="181228"/>
                  <a:pt x="164786" y="181596"/>
                </a:cubicBezTo>
                <a:cubicBezTo>
                  <a:pt x="169106" y="182266"/>
                  <a:pt x="173761" y="182266"/>
                  <a:pt x="178080" y="181596"/>
                </a:cubicBezTo>
                <a:cubicBezTo>
                  <a:pt x="180491" y="181228"/>
                  <a:pt x="182132" y="179051"/>
                  <a:pt x="182132" y="176607"/>
                </a:cubicBezTo>
                <a:cubicBezTo>
                  <a:pt x="182132" y="168168"/>
                  <a:pt x="191106" y="162978"/>
                  <a:pt x="198406" y="167197"/>
                </a:cubicBezTo>
                <a:cubicBezTo>
                  <a:pt x="200516" y="168403"/>
                  <a:pt x="203229" y="168068"/>
                  <a:pt x="204769" y="166193"/>
                </a:cubicBezTo>
                <a:cubicBezTo>
                  <a:pt x="207582" y="162744"/>
                  <a:pt x="209825" y="158826"/>
                  <a:pt x="211433" y="154673"/>
                </a:cubicBezTo>
                <a:cubicBezTo>
                  <a:pt x="212303" y="152396"/>
                  <a:pt x="211265" y="149885"/>
                  <a:pt x="209156" y="148679"/>
                </a:cubicBezTo>
                <a:cubicBezTo>
                  <a:pt x="201822" y="144460"/>
                  <a:pt x="201822" y="134113"/>
                  <a:pt x="209156" y="129860"/>
                </a:cubicBezTo>
                <a:close/>
                <a:moveTo>
                  <a:pt x="158055" y="139303"/>
                </a:moveTo>
                <a:cubicBezTo>
                  <a:pt x="158055" y="131910"/>
                  <a:pt x="164057" y="125909"/>
                  <a:pt x="171450" y="125909"/>
                </a:cubicBezTo>
                <a:cubicBezTo>
                  <a:pt x="178843" y="125909"/>
                  <a:pt x="184845" y="131910"/>
                  <a:pt x="184845" y="139303"/>
                </a:cubicBezTo>
                <a:cubicBezTo>
                  <a:pt x="184845" y="146696"/>
                  <a:pt x="178843" y="152698"/>
                  <a:pt x="171450" y="152698"/>
                </a:cubicBezTo>
                <a:cubicBezTo>
                  <a:pt x="164057" y="152698"/>
                  <a:pt x="158055" y="146696"/>
                  <a:pt x="158055" y="13930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7690446" y="1390650"/>
            <a:ext cx="4038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Team Roles</a:t>
            </a:r>
            <a:endParaRPr sz="1600" b="0" i="0" u="none" strike="noStrike" cap="none"/>
          </a:p>
        </p:txBody>
      </p:sp>
      <p:sp>
        <p:nvSpPr>
          <p:cNvPr id="554" name="Google Shape;554;p15"/>
          <p:cNvSpPr/>
          <p:nvPr/>
        </p:nvSpPr>
        <p:spPr>
          <a:xfrm>
            <a:off x="7471371" y="1771650"/>
            <a:ext cx="4171950" cy="1104900"/>
          </a:xfrm>
          <a:prstGeom prst="roundRect">
            <a:avLst>
              <a:gd name="adj" fmla="val 6897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7585671" y="19050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7733011" y="1981200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F</a:t>
            </a:r>
            <a:endParaRPr sz="1600" b="0" i="0" u="none" strike="noStrike" cap="none"/>
          </a:p>
        </p:txBody>
      </p:sp>
      <p:sp>
        <p:nvSpPr>
          <p:cNvPr id="557" name="Google Shape;557;p15"/>
          <p:cNvSpPr/>
          <p:nvPr/>
        </p:nvSpPr>
        <p:spPr>
          <a:xfrm>
            <a:off x="8080971" y="1885950"/>
            <a:ext cx="942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Faiz Abdillah</a:t>
            </a:r>
            <a:endParaRPr sz="1600" b="0" i="0" u="none" strike="noStrike" cap="none"/>
          </a:p>
        </p:txBody>
      </p:sp>
      <p:sp>
        <p:nvSpPr>
          <p:cNvPr id="558" name="Google Shape;558;p15"/>
          <p:cNvSpPr/>
          <p:nvPr/>
        </p:nvSpPr>
        <p:spPr>
          <a:xfrm>
            <a:off x="8080971" y="2114550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Research Lead</a:t>
            </a:r>
            <a:endParaRPr sz="1600" b="0" i="0" u="none" strike="noStrike" cap="none"/>
          </a:p>
        </p:txBody>
      </p:sp>
      <p:sp>
        <p:nvSpPr>
          <p:cNvPr id="559" name="Google Shape;559;p15"/>
          <p:cNvSpPr/>
          <p:nvPr/>
        </p:nvSpPr>
        <p:spPr>
          <a:xfrm>
            <a:off x="7585671" y="2381250"/>
            <a:ext cx="40100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Japan-specific needs assessment, stakeholder interviews, evidence collection</a:t>
            </a:r>
            <a:endParaRPr sz="1600" b="0" i="0" u="none" strike="noStrike" cap="none"/>
          </a:p>
        </p:txBody>
      </p:sp>
      <p:sp>
        <p:nvSpPr>
          <p:cNvPr id="560" name="Google Shape;560;p15"/>
          <p:cNvSpPr/>
          <p:nvPr/>
        </p:nvSpPr>
        <p:spPr>
          <a:xfrm>
            <a:off x="7471371" y="2990850"/>
            <a:ext cx="4171950" cy="1104900"/>
          </a:xfrm>
          <a:prstGeom prst="roundRect">
            <a:avLst>
              <a:gd name="adj" fmla="val 6897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5"/>
          <p:cNvSpPr/>
          <p:nvPr/>
        </p:nvSpPr>
        <p:spPr>
          <a:xfrm>
            <a:off x="7585671" y="31242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5"/>
          <p:cNvSpPr/>
          <p:nvPr/>
        </p:nvSpPr>
        <p:spPr>
          <a:xfrm>
            <a:off x="7708106" y="32004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</a:t>
            </a:r>
            <a:endParaRPr sz="1600" b="0" i="0" u="none" strike="noStrike" cap="none"/>
          </a:p>
        </p:txBody>
      </p:sp>
      <p:sp>
        <p:nvSpPr>
          <p:cNvPr id="563" name="Google Shape;563;p15"/>
          <p:cNvSpPr/>
          <p:nvPr/>
        </p:nvSpPr>
        <p:spPr>
          <a:xfrm>
            <a:off x="8080971" y="310515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Mert Bian</a:t>
            </a:r>
            <a:endParaRPr sz="1600" b="0" i="0" u="none" strike="noStrike" cap="none"/>
          </a:p>
        </p:txBody>
      </p:sp>
      <p:sp>
        <p:nvSpPr>
          <p:cNvPr id="564" name="Google Shape;564;p15"/>
          <p:cNvSpPr/>
          <p:nvPr/>
        </p:nvSpPr>
        <p:spPr>
          <a:xfrm>
            <a:off x="8080971" y="3333750"/>
            <a:ext cx="1095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Content Designer</a:t>
            </a:r>
            <a:endParaRPr sz="1600" b="0" i="0" u="none" strike="noStrike" cap="none"/>
          </a:p>
        </p:txBody>
      </p:sp>
      <p:sp>
        <p:nvSpPr>
          <p:cNvPr id="565" name="Google Shape;565;p15"/>
          <p:cNvSpPr/>
          <p:nvPr/>
        </p:nvSpPr>
        <p:spPr>
          <a:xfrm>
            <a:off x="7585671" y="3600450"/>
            <a:ext cx="40100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Toolkit content design, workshop curriculum development, digital platform</a:t>
            </a:r>
            <a:endParaRPr sz="1600" b="0" i="0" u="none" strike="noStrike" cap="none"/>
          </a:p>
        </p:txBody>
      </p:sp>
      <p:sp>
        <p:nvSpPr>
          <p:cNvPr id="566" name="Google Shape;566;p15"/>
          <p:cNvSpPr/>
          <p:nvPr/>
        </p:nvSpPr>
        <p:spPr>
          <a:xfrm>
            <a:off x="7471371" y="4210050"/>
            <a:ext cx="4171950" cy="1104900"/>
          </a:xfrm>
          <a:prstGeom prst="roundRect">
            <a:avLst>
              <a:gd name="adj" fmla="val 6897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5"/>
          <p:cNvSpPr/>
          <p:nvPr/>
        </p:nvSpPr>
        <p:spPr>
          <a:xfrm>
            <a:off x="7585671" y="4343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5"/>
          <p:cNvSpPr/>
          <p:nvPr/>
        </p:nvSpPr>
        <p:spPr>
          <a:xfrm>
            <a:off x="7708106" y="44196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</a:t>
            </a:r>
            <a:endParaRPr sz="1600" b="0" i="0" u="none" strike="noStrike" cap="none"/>
          </a:p>
        </p:txBody>
      </p:sp>
      <p:sp>
        <p:nvSpPr>
          <p:cNvPr id="569" name="Google Shape;569;p15"/>
          <p:cNvSpPr/>
          <p:nvPr/>
        </p:nvSpPr>
        <p:spPr>
          <a:xfrm>
            <a:off x="8080971" y="4324350"/>
            <a:ext cx="148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Malika</a:t>
            </a:r>
            <a:endParaRPr sz="1600" b="0" i="0" u="none" strike="noStrike" cap="none"/>
          </a:p>
        </p:txBody>
      </p:sp>
      <p:sp>
        <p:nvSpPr>
          <p:cNvPr id="570" name="Google Shape;570;p15"/>
          <p:cNvSpPr/>
          <p:nvPr/>
        </p:nvSpPr>
        <p:spPr>
          <a:xfrm>
            <a:off x="8080971" y="4552950"/>
            <a:ext cx="1476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Partnership Coordinator</a:t>
            </a:r>
            <a:endParaRPr sz="1600" b="0" i="0" u="none" strike="noStrike" cap="none"/>
          </a:p>
        </p:txBody>
      </p:sp>
      <p:sp>
        <p:nvSpPr>
          <p:cNvPr id="571" name="Google Shape;571;p15"/>
          <p:cNvSpPr/>
          <p:nvPr/>
        </p:nvSpPr>
        <p:spPr>
          <a:xfrm>
            <a:off x="7585671" y="4819650"/>
            <a:ext cx="40100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Partnership agreements, workshop logistics, beneficiary outreach, evaluation</a:t>
            </a:r>
            <a:endParaRPr sz="1600" b="0" i="0" u="none" strike="noStrike" cap="none"/>
          </a:p>
        </p:txBody>
      </p:sp>
      <p:sp>
        <p:nvSpPr>
          <p:cNvPr id="572" name="Google Shape;572;p15"/>
          <p:cNvSpPr/>
          <p:nvPr/>
        </p:nvSpPr>
        <p:spPr>
          <a:xfrm>
            <a:off x="7303096" y="5603875"/>
            <a:ext cx="4502150" cy="1054100"/>
          </a:xfrm>
          <a:prstGeom prst="roundRect">
            <a:avLst>
              <a:gd name="adj" fmla="val 10843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5"/>
          <p:cNvSpPr/>
          <p:nvPr/>
        </p:nvSpPr>
        <p:spPr>
          <a:xfrm>
            <a:off x="7458670" y="5759453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Collaboration Model</a:t>
            </a:r>
            <a:endParaRPr sz="1600" b="0" i="0" u="none" strike="noStrike" cap="none"/>
          </a:p>
        </p:txBody>
      </p:sp>
      <p:sp>
        <p:nvSpPr>
          <p:cNvPr id="574" name="Google Shape;574;p15"/>
          <p:cNvSpPr/>
          <p:nvPr/>
        </p:nvSpPr>
        <p:spPr>
          <a:xfrm>
            <a:off x="7458670" y="6064253"/>
            <a:ext cx="42576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All team members participate in </a:t>
            </a:r>
            <a:r>
              <a:rPr lang="en-US" sz="105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weekly sync meetings</a:t>
            </a:r>
            <a:r>
              <a:rPr lang="en-US" sz="105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, contribute to workshop delivery, and share responsibility for project success.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6"/>
          <p:cNvSpPr/>
          <p:nvPr/>
        </p:nvSpPr>
        <p:spPr>
          <a:xfrm>
            <a:off x="377461" y="490700"/>
            <a:ext cx="75492" cy="377461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566192" y="377461"/>
            <a:ext cx="4548409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FEASIBILITY</a:t>
            </a:r>
            <a:endParaRPr sz="1600" b="0" i="0" u="none" strike="noStrike" cap="none"/>
          </a:p>
        </p:txBody>
      </p:sp>
      <p:sp>
        <p:nvSpPr>
          <p:cNvPr id="582" name="Google Shape;582;p16"/>
          <p:cNvSpPr/>
          <p:nvPr/>
        </p:nvSpPr>
        <p:spPr>
          <a:xfrm>
            <a:off x="566192" y="603938"/>
            <a:ext cx="4642774" cy="377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75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Budget &amp; Resource Feasibility</a:t>
            </a:r>
            <a:endParaRPr sz="1600" b="0" i="0" u="none" strike="noStrike" cap="none"/>
          </a:p>
        </p:txBody>
      </p:sp>
      <p:sp>
        <p:nvSpPr>
          <p:cNvPr id="583" name="Google Shape;583;p16"/>
          <p:cNvSpPr/>
          <p:nvPr/>
        </p:nvSpPr>
        <p:spPr>
          <a:xfrm>
            <a:off x="380607" y="1211022"/>
            <a:ext cx="4507517" cy="4573573"/>
          </a:xfrm>
          <a:prstGeom prst="roundRect">
            <a:avLst>
              <a:gd name="adj" fmla="val 2512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534737" y="1365155"/>
            <a:ext cx="4284186" cy="264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7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Budget Breakdown</a:t>
            </a:r>
            <a:endParaRPr sz="1600" b="0" i="0" u="none" strike="noStrike" cap="none"/>
          </a:p>
        </p:txBody>
      </p:sp>
      <p:pic>
        <p:nvPicPr>
          <p:cNvPr id="585" name="Google Shape;585;p16" descr="https://kimi-img.moonshot.cn/pub/slides/26-05-07-12:34:41-d7u1co8onf4jj4jv765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737" y="1742616"/>
            <a:ext cx="4152074" cy="283096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586" name="Google Shape;586;p16"/>
          <p:cNvSpPr/>
          <p:nvPr/>
        </p:nvSpPr>
        <p:spPr>
          <a:xfrm>
            <a:off x="380607" y="5941876"/>
            <a:ext cx="4507517" cy="912198"/>
          </a:xfrm>
          <a:prstGeom prst="roundRect">
            <a:avLst>
              <a:gd name="adj" fmla="val 12414"/>
            </a:avLst>
          </a:pr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262626"/>
              </a:gs>
            </a:gsLst>
            <a:lin ang="0" scaled="0"/>
          </a:gradFill>
          <a:ln w="9525" cap="flat" cmpd="sng">
            <a:solidFill>
              <a:srgbClr val="6366F1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534737" y="6096000"/>
            <a:ext cx="1387170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Total Pilot Budget</a:t>
            </a:r>
            <a:endParaRPr sz="1600" b="0" i="0" u="none" strike="noStrike" cap="none"/>
          </a:p>
        </p:txBody>
      </p:sp>
      <p:sp>
        <p:nvSpPr>
          <p:cNvPr id="588" name="Google Shape;588;p16"/>
          <p:cNvSpPr/>
          <p:nvPr/>
        </p:nvSpPr>
        <p:spPr>
          <a:xfrm>
            <a:off x="534737" y="6322477"/>
            <a:ext cx="1481536" cy="377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75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¥75,000</a:t>
            </a:r>
            <a:endParaRPr sz="1600" b="0" i="0" u="none" strike="noStrike" cap="none"/>
          </a:p>
        </p:txBody>
      </p:sp>
      <p:sp>
        <p:nvSpPr>
          <p:cNvPr id="589" name="Google Shape;589;p16"/>
          <p:cNvSpPr/>
          <p:nvPr/>
        </p:nvSpPr>
        <p:spPr>
          <a:xfrm>
            <a:off x="3333554" y="6114873"/>
            <a:ext cx="1406043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Approximately</a:t>
            </a:r>
            <a:endParaRPr sz="1600" b="0" i="0" u="none" strike="noStrike" cap="none"/>
          </a:p>
        </p:txBody>
      </p:sp>
      <p:sp>
        <p:nvSpPr>
          <p:cNvPr id="590" name="Google Shape;590;p16"/>
          <p:cNvSpPr/>
          <p:nvPr/>
        </p:nvSpPr>
        <p:spPr>
          <a:xfrm>
            <a:off x="3267498" y="6341350"/>
            <a:ext cx="1472099" cy="33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$500 USD</a:t>
            </a:r>
            <a:endParaRPr sz="1600" b="0" i="0" u="none" strike="noStrike" cap="none"/>
          </a:p>
        </p:txBody>
      </p:sp>
      <p:sp>
        <p:nvSpPr>
          <p:cNvPr id="591" name="Google Shape;591;p16"/>
          <p:cNvSpPr/>
          <p:nvPr/>
        </p:nvSpPr>
        <p:spPr>
          <a:xfrm>
            <a:off x="5047660" y="1211022"/>
            <a:ext cx="6772285" cy="2912743"/>
          </a:xfrm>
          <a:prstGeom prst="roundRect">
            <a:avLst>
              <a:gd name="adj" fmla="val 3888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6"/>
          <p:cNvSpPr/>
          <p:nvPr/>
        </p:nvSpPr>
        <p:spPr>
          <a:xfrm>
            <a:off x="5201791" y="1365155"/>
            <a:ext cx="6548954" cy="264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7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Resource Requirements</a:t>
            </a:r>
            <a:endParaRPr sz="1600" b="0" i="0" u="none" strike="noStrike" cap="none"/>
          </a:p>
        </p:txBody>
      </p:sp>
      <p:sp>
        <p:nvSpPr>
          <p:cNvPr id="593" name="Google Shape;593;p16"/>
          <p:cNvSpPr/>
          <p:nvPr/>
        </p:nvSpPr>
        <p:spPr>
          <a:xfrm>
            <a:off x="5201791" y="1742616"/>
            <a:ext cx="3170675" cy="1056892"/>
          </a:xfrm>
          <a:prstGeom prst="roundRect">
            <a:avLst>
              <a:gd name="adj" fmla="val 714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6"/>
          <p:cNvSpPr/>
          <p:nvPr/>
        </p:nvSpPr>
        <p:spPr>
          <a:xfrm>
            <a:off x="5315029" y="1893601"/>
            <a:ext cx="188731" cy="150985"/>
          </a:xfrm>
          <a:custGeom>
            <a:avLst/>
            <a:gdLst/>
            <a:ahLst/>
            <a:cxnLst/>
            <a:rect l="l" t="t" r="r" b="b"/>
            <a:pathLst>
              <a:path w="188731" h="150985" extrusionOk="0">
                <a:moveTo>
                  <a:pt x="18873" y="28310"/>
                </a:moveTo>
                <a:cubicBezTo>
                  <a:pt x="18873" y="17900"/>
                  <a:pt x="27336" y="9437"/>
                  <a:pt x="37746" y="9437"/>
                </a:cubicBezTo>
                <a:lnTo>
                  <a:pt x="150985" y="9437"/>
                </a:lnTo>
                <a:cubicBezTo>
                  <a:pt x="161394" y="9437"/>
                  <a:pt x="169858" y="17900"/>
                  <a:pt x="169858" y="28310"/>
                </a:cubicBezTo>
                <a:lnTo>
                  <a:pt x="169858" y="99084"/>
                </a:lnTo>
                <a:lnTo>
                  <a:pt x="150985" y="99084"/>
                </a:lnTo>
                <a:lnTo>
                  <a:pt x="150985" y="28310"/>
                </a:lnTo>
                <a:lnTo>
                  <a:pt x="37746" y="28310"/>
                </a:lnTo>
                <a:lnTo>
                  <a:pt x="37746" y="99084"/>
                </a:lnTo>
                <a:lnTo>
                  <a:pt x="18873" y="99084"/>
                </a:lnTo>
                <a:lnTo>
                  <a:pt x="18873" y="28310"/>
                </a:lnTo>
                <a:close/>
                <a:moveTo>
                  <a:pt x="0" y="118900"/>
                </a:moveTo>
                <a:cubicBezTo>
                  <a:pt x="0" y="115774"/>
                  <a:pt x="2536" y="113238"/>
                  <a:pt x="5662" y="113238"/>
                </a:cubicBezTo>
                <a:lnTo>
                  <a:pt x="183069" y="113238"/>
                </a:lnTo>
                <a:cubicBezTo>
                  <a:pt x="186195" y="113238"/>
                  <a:pt x="188731" y="115774"/>
                  <a:pt x="188731" y="118900"/>
                </a:cubicBezTo>
                <a:cubicBezTo>
                  <a:pt x="188731" y="131404"/>
                  <a:pt x="178586" y="141548"/>
                  <a:pt x="166083" y="141548"/>
                </a:cubicBezTo>
                <a:lnTo>
                  <a:pt x="22648" y="141548"/>
                </a:lnTo>
                <a:cubicBezTo>
                  <a:pt x="10144" y="141548"/>
                  <a:pt x="0" y="131404"/>
                  <a:pt x="0" y="118900"/>
                </a:cubicBezTo>
                <a:close/>
                <a:moveTo>
                  <a:pt x="82865" y="61632"/>
                </a:moveTo>
                <a:lnTo>
                  <a:pt x="73723" y="70774"/>
                </a:lnTo>
                <a:lnTo>
                  <a:pt x="82865" y="79916"/>
                </a:lnTo>
                <a:cubicBezTo>
                  <a:pt x="85637" y="82688"/>
                  <a:pt x="85637" y="87170"/>
                  <a:pt x="82865" y="89912"/>
                </a:cubicBezTo>
                <a:cubicBezTo>
                  <a:pt x="80093" y="92655"/>
                  <a:pt x="75610" y="92684"/>
                  <a:pt x="72868" y="89912"/>
                </a:cubicBezTo>
                <a:lnTo>
                  <a:pt x="58713" y="75758"/>
                </a:lnTo>
                <a:cubicBezTo>
                  <a:pt x="55941" y="72986"/>
                  <a:pt x="55941" y="68503"/>
                  <a:pt x="58713" y="65761"/>
                </a:cubicBezTo>
                <a:lnTo>
                  <a:pt x="72868" y="51606"/>
                </a:lnTo>
                <a:cubicBezTo>
                  <a:pt x="75640" y="48834"/>
                  <a:pt x="80122" y="48834"/>
                  <a:pt x="82865" y="51606"/>
                </a:cubicBezTo>
                <a:cubicBezTo>
                  <a:pt x="85607" y="54378"/>
                  <a:pt x="85637" y="58860"/>
                  <a:pt x="82865" y="61603"/>
                </a:cubicBezTo>
                <a:close/>
                <a:moveTo>
                  <a:pt x="115892" y="51606"/>
                </a:moveTo>
                <a:lnTo>
                  <a:pt x="130047" y="65761"/>
                </a:lnTo>
                <a:cubicBezTo>
                  <a:pt x="132819" y="68533"/>
                  <a:pt x="132819" y="73015"/>
                  <a:pt x="130047" y="75758"/>
                </a:cubicBezTo>
                <a:lnTo>
                  <a:pt x="115892" y="89912"/>
                </a:lnTo>
                <a:cubicBezTo>
                  <a:pt x="113120" y="92684"/>
                  <a:pt x="108638" y="92684"/>
                  <a:pt x="105896" y="89912"/>
                </a:cubicBezTo>
                <a:cubicBezTo>
                  <a:pt x="103153" y="87140"/>
                  <a:pt x="103124" y="82658"/>
                  <a:pt x="105896" y="79916"/>
                </a:cubicBezTo>
                <a:lnTo>
                  <a:pt x="115037" y="70774"/>
                </a:lnTo>
                <a:lnTo>
                  <a:pt x="105896" y="61632"/>
                </a:lnTo>
                <a:cubicBezTo>
                  <a:pt x="103124" y="58860"/>
                  <a:pt x="103124" y="54378"/>
                  <a:pt x="105896" y="51636"/>
                </a:cubicBezTo>
                <a:cubicBezTo>
                  <a:pt x="108668" y="48893"/>
                  <a:pt x="113150" y="48864"/>
                  <a:pt x="115892" y="5163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6"/>
          <p:cNvSpPr/>
          <p:nvPr/>
        </p:nvSpPr>
        <p:spPr>
          <a:xfrm>
            <a:off x="5579252" y="1855854"/>
            <a:ext cx="1104074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Digital Platform</a:t>
            </a:r>
            <a:endParaRPr sz="1600" b="0" i="0" u="none" strike="noStrike" cap="none"/>
          </a:p>
        </p:txBody>
      </p:sp>
      <p:sp>
        <p:nvSpPr>
          <p:cNvPr id="596" name="Google Shape;596;p16"/>
          <p:cNvSpPr/>
          <p:nvPr/>
        </p:nvSpPr>
        <p:spPr>
          <a:xfrm>
            <a:off x="5315029" y="2157824"/>
            <a:ext cx="3057437" cy="30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3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¥30,000</a:t>
            </a:r>
            <a:endParaRPr sz="1600" b="0" i="0" u="none" strike="noStrike" cap="none"/>
          </a:p>
        </p:txBody>
      </p:sp>
      <p:sp>
        <p:nvSpPr>
          <p:cNvPr id="597" name="Google Shape;597;p16"/>
          <p:cNvSpPr/>
          <p:nvPr/>
        </p:nvSpPr>
        <p:spPr>
          <a:xfrm>
            <a:off x="5315029" y="2497539"/>
            <a:ext cx="3010254" cy="18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Hosting &amp; design tools (Notion, Canva)</a:t>
            </a:r>
            <a:endParaRPr sz="1600" b="0" i="0" u="none" strike="noStrike" cap="none"/>
          </a:p>
        </p:txBody>
      </p:sp>
      <p:sp>
        <p:nvSpPr>
          <p:cNvPr id="598" name="Google Shape;598;p16"/>
          <p:cNvSpPr/>
          <p:nvPr/>
        </p:nvSpPr>
        <p:spPr>
          <a:xfrm>
            <a:off x="8488161" y="1742616"/>
            <a:ext cx="3170675" cy="1056892"/>
          </a:xfrm>
          <a:prstGeom prst="roundRect">
            <a:avLst>
              <a:gd name="adj" fmla="val 714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6"/>
          <p:cNvSpPr/>
          <p:nvPr/>
        </p:nvSpPr>
        <p:spPr>
          <a:xfrm>
            <a:off x="8620272" y="1893601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 extrusionOk="0">
                <a:moveTo>
                  <a:pt x="18873" y="18873"/>
                </a:moveTo>
                <a:cubicBezTo>
                  <a:pt x="18873" y="8463"/>
                  <a:pt x="27336" y="0"/>
                  <a:pt x="37746" y="0"/>
                </a:cubicBezTo>
                <a:lnTo>
                  <a:pt x="100705" y="0"/>
                </a:lnTo>
                <a:cubicBezTo>
                  <a:pt x="105719" y="0"/>
                  <a:pt x="110525" y="1976"/>
                  <a:pt x="114064" y="5514"/>
                </a:cubicBezTo>
                <a:lnTo>
                  <a:pt x="126597" y="18047"/>
                </a:lnTo>
                <a:cubicBezTo>
                  <a:pt x="130136" y="21586"/>
                  <a:pt x="132111" y="26393"/>
                  <a:pt x="132111" y="31406"/>
                </a:cubicBezTo>
                <a:lnTo>
                  <a:pt x="132111" y="42464"/>
                </a:lnTo>
                <a:lnTo>
                  <a:pt x="18873" y="42464"/>
                </a:lnTo>
                <a:lnTo>
                  <a:pt x="18873" y="18873"/>
                </a:lnTo>
                <a:close/>
                <a:moveTo>
                  <a:pt x="0" y="75492"/>
                </a:moveTo>
                <a:cubicBezTo>
                  <a:pt x="0" y="65083"/>
                  <a:pt x="8463" y="56619"/>
                  <a:pt x="18873" y="56619"/>
                </a:cubicBezTo>
                <a:lnTo>
                  <a:pt x="132111" y="56619"/>
                </a:lnTo>
                <a:cubicBezTo>
                  <a:pt x="142521" y="56619"/>
                  <a:pt x="150985" y="65083"/>
                  <a:pt x="150985" y="75492"/>
                </a:cubicBezTo>
                <a:lnTo>
                  <a:pt x="150985" y="103802"/>
                </a:lnTo>
                <a:cubicBezTo>
                  <a:pt x="150985" y="109021"/>
                  <a:pt x="146768" y="113238"/>
                  <a:pt x="141548" y="113238"/>
                </a:cubicBezTo>
                <a:lnTo>
                  <a:pt x="132111" y="113238"/>
                </a:lnTo>
                <a:lnTo>
                  <a:pt x="132111" y="132111"/>
                </a:lnTo>
                <a:cubicBezTo>
                  <a:pt x="132111" y="142521"/>
                  <a:pt x="123648" y="150985"/>
                  <a:pt x="113238" y="150985"/>
                </a:cubicBezTo>
                <a:lnTo>
                  <a:pt x="37746" y="150985"/>
                </a:lnTo>
                <a:cubicBezTo>
                  <a:pt x="27336" y="150985"/>
                  <a:pt x="18873" y="142521"/>
                  <a:pt x="18873" y="132111"/>
                </a:cubicBezTo>
                <a:lnTo>
                  <a:pt x="18873" y="113238"/>
                </a:lnTo>
                <a:lnTo>
                  <a:pt x="9437" y="113238"/>
                </a:lnTo>
                <a:cubicBezTo>
                  <a:pt x="4217" y="113238"/>
                  <a:pt x="0" y="109021"/>
                  <a:pt x="0" y="103802"/>
                </a:cubicBezTo>
                <a:lnTo>
                  <a:pt x="0" y="75492"/>
                </a:lnTo>
                <a:close/>
                <a:moveTo>
                  <a:pt x="37746" y="122675"/>
                </a:moveTo>
                <a:lnTo>
                  <a:pt x="37746" y="132111"/>
                </a:lnTo>
                <a:lnTo>
                  <a:pt x="113238" y="132111"/>
                </a:lnTo>
                <a:lnTo>
                  <a:pt x="113238" y="103802"/>
                </a:lnTo>
                <a:lnTo>
                  <a:pt x="37746" y="103802"/>
                </a:lnTo>
                <a:lnTo>
                  <a:pt x="37746" y="122675"/>
                </a:lnTo>
                <a:close/>
                <a:moveTo>
                  <a:pt x="134471" y="80211"/>
                </a:moveTo>
                <a:cubicBezTo>
                  <a:pt x="134471" y="76304"/>
                  <a:pt x="131299" y="73133"/>
                  <a:pt x="127393" y="73133"/>
                </a:cubicBezTo>
                <a:cubicBezTo>
                  <a:pt x="123487" y="73133"/>
                  <a:pt x="120316" y="76304"/>
                  <a:pt x="120316" y="80211"/>
                </a:cubicBezTo>
                <a:cubicBezTo>
                  <a:pt x="120316" y="84117"/>
                  <a:pt x="123487" y="87288"/>
                  <a:pt x="127393" y="87288"/>
                </a:cubicBezTo>
                <a:cubicBezTo>
                  <a:pt x="131299" y="87288"/>
                  <a:pt x="134471" y="84117"/>
                  <a:pt x="134471" y="8021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6"/>
          <p:cNvSpPr/>
          <p:nvPr/>
        </p:nvSpPr>
        <p:spPr>
          <a:xfrm>
            <a:off x="8865622" y="1855854"/>
            <a:ext cx="1179567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Toolkit Materials</a:t>
            </a:r>
            <a:endParaRPr sz="1600" b="0" i="0" u="none" strike="noStrike" cap="none"/>
          </a:p>
        </p:txBody>
      </p:sp>
      <p:sp>
        <p:nvSpPr>
          <p:cNvPr id="601" name="Google Shape;601;p16"/>
          <p:cNvSpPr/>
          <p:nvPr/>
        </p:nvSpPr>
        <p:spPr>
          <a:xfrm>
            <a:off x="8601399" y="2157824"/>
            <a:ext cx="3057437" cy="30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3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¥20,000</a:t>
            </a:r>
            <a:endParaRPr sz="1600" b="0" i="0" u="none" strike="noStrike" cap="none"/>
          </a:p>
        </p:txBody>
      </p:sp>
      <p:sp>
        <p:nvSpPr>
          <p:cNvPr id="602" name="Google Shape;602;p16"/>
          <p:cNvSpPr/>
          <p:nvPr/>
        </p:nvSpPr>
        <p:spPr>
          <a:xfrm>
            <a:off x="8601399" y="2497539"/>
            <a:ext cx="3010254" cy="18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Printing for pilot phase distribution</a:t>
            </a:r>
            <a:endParaRPr sz="1600" b="0" i="0" u="none" strike="noStrike" cap="none"/>
          </a:p>
        </p:txBody>
      </p:sp>
      <p:sp>
        <p:nvSpPr>
          <p:cNvPr id="603" name="Google Shape;603;p16"/>
          <p:cNvSpPr/>
          <p:nvPr/>
        </p:nvSpPr>
        <p:spPr>
          <a:xfrm>
            <a:off x="5201791" y="2912746"/>
            <a:ext cx="3170675" cy="1056892"/>
          </a:xfrm>
          <a:prstGeom prst="roundRect">
            <a:avLst>
              <a:gd name="adj" fmla="val 714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6"/>
          <p:cNvSpPr/>
          <p:nvPr/>
        </p:nvSpPr>
        <p:spPr>
          <a:xfrm>
            <a:off x="5343339" y="3063731"/>
            <a:ext cx="132111" cy="150985"/>
          </a:xfrm>
          <a:custGeom>
            <a:avLst/>
            <a:gdLst/>
            <a:ahLst/>
            <a:cxnLst/>
            <a:rect l="l" t="t" r="r" b="b"/>
            <a:pathLst>
              <a:path w="132111" h="150985" extrusionOk="0">
                <a:moveTo>
                  <a:pt x="28310" y="0"/>
                </a:moveTo>
                <a:cubicBezTo>
                  <a:pt x="12680" y="0"/>
                  <a:pt x="0" y="12680"/>
                  <a:pt x="0" y="28310"/>
                </a:cubicBezTo>
                <a:lnTo>
                  <a:pt x="0" y="113238"/>
                </a:lnTo>
                <a:cubicBezTo>
                  <a:pt x="0" y="122026"/>
                  <a:pt x="6016" y="129428"/>
                  <a:pt x="14155" y="131522"/>
                </a:cubicBezTo>
                <a:lnTo>
                  <a:pt x="14155" y="141548"/>
                </a:lnTo>
                <a:cubicBezTo>
                  <a:pt x="14155" y="146768"/>
                  <a:pt x="18372" y="150985"/>
                  <a:pt x="23591" y="150985"/>
                </a:cubicBezTo>
                <a:lnTo>
                  <a:pt x="28310" y="150985"/>
                </a:lnTo>
                <a:cubicBezTo>
                  <a:pt x="33529" y="150985"/>
                  <a:pt x="37746" y="146768"/>
                  <a:pt x="37746" y="141548"/>
                </a:cubicBezTo>
                <a:lnTo>
                  <a:pt x="37746" y="132111"/>
                </a:lnTo>
                <a:lnTo>
                  <a:pt x="94365" y="132111"/>
                </a:lnTo>
                <a:lnTo>
                  <a:pt x="94365" y="141548"/>
                </a:lnTo>
                <a:cubicBezTo>
                  <a:pt x="94365" y="146768"/>
                  <a:pt x="98582" y="150985"/>
                  <a:pt x="103802" y="150985"/>
                </a:cubicBezTo>
                <a:lnTo>
                  <a:pt x="108520" y="150985"/>
                </a:lnTo>
                <a:cubicBezTo>
                  <a:pt x="113740" y="150985"/>
                  <a:pt x="117957" y="146768"/>
                  <a:pt x="117957" y="141548"/>
                </a:cubicBezTo>
                <a:lnTo>
                  <a:pt x="117957" y="131522"/>
                </a:lnTo>
                <a:cubicBezTo>
                  <a:pt x="126096" y="129428"/>
                  <a:pt x="132111" y="122026"/>
                  <a:pt x="132111" y="113238"/>
                </a:cubicBezTo>
                <a:lnTo>
                  <a:pt x="132111" y="28310"/>
                </a:lnTo>
                <a:cubicBezTo>
                  <a:pt x="132111" y="12680"/>
                  <a:pt x="119431" y="0"/>
                  <a:pt x="103802" y="0"/>
                </a:cubicBezTo>
                <a:lnTo>
                  <a:pt x="28310" y="0"/>
                </a:lnTo>
                <a:close/>
                <a:moveTo>
                  <a:pt x="18873" y="51901"/>
                </a:moveTo>
                <a:cubicBezTo>
                  <a:pt x="18873" y="46681"/>
                  <a:pt x="23090" y="42464"/>
                  <a:pt x="28310" y="42464"/>
                </a:cubicBezTo>
                <a:lnTo>
                  <a:pt x="58978" y="42464"/>
                </a:lnTo>
                <a:lnTo>
                  <a:pt x="58978" y="75492"/>
                </a:lnTo>
                <a:lnTo>
                  <a:pt x="28310" y="75492"/>
                </a:lnTo>
                <a:cubicBezTo>
                  <a:pt x="23090" y="75492"/>
                  <a:pt x="18873" y="71275"/>
                  <a:pt x="18873" y="66056"/>
                </a:cubicBezTo>
                <a:lnTo>
                  <a:pt x="18873" y="51901"/>
                </a:lnTo>
                <a:close/>
                <a:moveTo>
                  <a:pt x="73133" y="75492"/>
                </a:moveTo>
                <a:lnTo>
                  <a:pt x="73133" y="42464"/>
                </a:lnTo>
                <a:lnTo>
                  <a:pt x="103802" y="42464"/>
                </a:lnTo>
                <a:cubicBezTo>
                  <a:pt x="109021" y="42464"/>
                  <a:pt x="113238" y="46681"/>
                  <a:pt x="113238" y="51901"/>
                </a:cubicBezTo>
                <a:lnTo>
                  <a:pt x="113238" y="66056"/>
                </a:lnTo>
                <a:cubicBezTo>
                  <a:pt x="113238" y="71275"/>
                  <a:pt x="109021" y="75492"/>
                  <a:pt x="103802" y="75492"/>
                </a:cubicBezTo>
                <a:lnTo>
                  <a:pt x="73133" y="75492"/>
                </a:lnTo>
                <a:close/>
                <a:moveTo>
                  <a:pt x="28310" y="94365"/>
                </a:moveTo>
                <a:cubicBezTo>
                  <a:pt x="33518" y="94365"/>
                  <a:pt x="37746" y="98594"/>
                  <a:pt x="37746" y="103802"/>
                </a:cubicBezTo>
                <a:cubicBezTo>
                  <a:pt x="37746" y="109010"/>
                  <a:pt x="33518" y="113238"/>
                  <a:pt x="28310" y="113238"/>
                </a:cubicBezTo>
                <a:cubicBezTo>
                  <a:pt x="23101" y="113238"/>
                  <a:pt x="18873" y="109010"/>
                  <a:pt x="18873" y="103802"/>
                </a:cubicBezTo>
                <a:cubicBezTo>
                  <a:pt x="18873" y="98594"/>
                  <a:pt x="23101" y="94365"/>
                  <a:pt x="28310" y="94365"/>
                </a:cubicBezTo>
                <a:close/>
                <a:moveTo>
                  <a:pt x="103802" y="94365"/>
                </a:moveTo>
                <a:cubicBezTo>
                  <a:pt x="109010" y="94365"/>
                  <a:pt x="113238" y="98594"/>
                  <a:pt x="113238" y="103802"/>
                </a:cubicBezTo>
                <a:cubicBezTo>
                  <a:pt x="113238" y="109010"/>
                  <a:pt x="109010" y="113238"/>
                  <a:pt x="103802" y="113238"/>
                </a:cubicBezTo>
                <a:cubicBezTo>
                  <a:pt x="98594" y="113238"/>
                  <a:pt x="94365" y="109010"/>
                  <a:pt x="94365" y="103802"/>
                </a:cubicBezTo>
                <a:cubicBezTo>
                  <a:pt x="94365" y="98594"/>
                  <a:pt x="98594" y="94365"/>
                  <a:pt x="103802" y="94365"/>
                </a:cubicBezTo>
                <a:close/>
                <a:moveTo>
                  <a:pt x="44824" y="21232"/>
                </a:moveTo>
                <a:cubicBezTo>
                  <a:pt x="44824" y="17310"/>
                  <a:pt x="47979" y="14155"/>
                  <a:pt x="51901" y="14155"/>
                </a:cubicBezTo>
                <a:lnTo>
                  <a:pt x="80211" y="14155"/>
                </a:lnTo>
                <a:cubicBezTo>
                  <a:pt x="84133" y="14155"/>
                  <a:pt x="87288" y="17310"/>
                  <a:pt x="87288" y="21232"/>
                </a:cubicBezTo>
                <a:cubicBezTo>
                  <a:pt x="87288" y="25154"/>
                  <a:pt x="84133" y="28310"/>
                  <a:pt x="80211" y="28310"/>
                </a:cubicBezTo>
                <a:lnTo>
                  <a:pt x="51901" y="28310"/>
                </a:lnTo>
                <a:cubicBezTo>
                  <a:pt x="47979" y="28310"/>
                  <a:pt x="44824" y="25154"/>
                  <a:pt x="44824" y="21232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6"/>
          <p:cNvSpPr/>
          <p:nvPr/>
        </p:nvSpPr>
        <p:spPr>
          <a:xfrm>
            <a:off x="5579252" y="3025984"/>
            <a:ext cx="1056892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Transportation</a:t>
            </a:r>
            <a:endParaRPr sz="1600" b="0" i="0" u="none" strike="noStrike" cap="none"/>
          </a:p>
        </p:txBody>
      </p:sp>
      <p:sp>
        <p:nvSpPr>
          <p:cNvPr id="606" name="Google Shape;606;p16"/>
          <p:cNvSpPr/>
          <p:nvPr/>
        </p:nvSpPr>
        <p:spPr>
          <a:xfrm>
            <a:off x="5315029" y="3327954"/>
            <a:ext cx="3057437" cy="30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3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¥15,000</a:t>
            </a:r>
            <a:endParaRPr sz="1600" b="0" i="0" u="none" strike="noStrike" cap="none"/>
          </a:p>
        </p:txBody>
      </p:sp>
      <p:sp>
        <p:nvSpPr>
          <p:cNvPr id="607" name="Google Shape;607;p16"/>
          <p:cNvSpPr/>
          <p:nvPr/>
        </p:nvSpPr>
        <p:spPr>
          <a:xfrm>
            <a:off x="5315029" y="3667669"/>
            <a:ext cx="3010254" cy="18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Travel &amp; communication costs</a:t>
            </a:r>
            <a:endParaRPr sz="1600" b="0" i="0" u="none" strike="noStrike" cap="none"/>
          </a:p>
        </p:txBody>
      </p:sp>
      <p:sp>
        <p:nvSpPr>
          <p:cNvPr id="608" name="Google Shape;608;p16"/>
          <p:cNvSpPr/>
          <p:nvPr/>
        </p:nvSpPr>
        <p:spPr>
          <a:xfrm>
            <a:off x="8488161" y="2912746"/>
            <a:ext cx="3170675" cy="1056892"/>
          </a:xfrm>
          <a:prstGeom prst="roundRect">
            <a:avLst>
              <a:gd name="adj" fmla="val 7143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8610836" y="3063731"/>
            <a:ext cx="169858" cy="150985"/>
          </a:xfrm>
          <a:custGeom>
            <a:avLst/>
            <a:gdLst/>
            <a:ahLst/>
            <a:cxnLst/>
            <a:rect l="l" t="t" r="r" b="b"/>
            <a:pathLst>
              <a:path w="169858" h="150985" extrusionOk="0">
                <a:moveTo>
                  <a:pt x="84929" y="-9437"/>
                </a:moveTo>
                <a:cubicBezTo>
                  <a:pt x="100553" y="-9437"/>
                  <a:pt x="113238" y="3249"/>
                  <a:pt x="113238" y="18873"/>
                </a:cubicBezTo>
                <a:cubicBezTo>
                  <a:pt x="113238" y="34498"/>
                  <a:pt x="100553" y="47183"/>
                  <a:pt x="84929" y="47183"/>
                </a:cubicBezTo>
                <a:cubicBezTo>
                  <a:pt x="69304" y="47183"/>
                  <a:pt x="56619" y="34498"/>
                  <a:pt x="56619" y="18873"/>
                </a:cubicBezTo>
                <a:cubicBezTo>
                  <a:pt x="56619" y="3249"/>
                  <a:pt x="69304" y="-9437"/>
                  <a:pt x="84929" y="-9437"/>
                </a:cubicBezTo>
                <a:close/>
                <a:moveTo>
                  <a:pt x="14155" y="89647"/>
                </a:moveTo>
                <a:cubicBezTo>
                  <a:pt x="14155" y="68975"/>
                  <a:pt x="28015" y="50898"/>
                  <a:pt x="48687" y="41019"/>
                </a:cubicBezTo>
                <a:cubicBezTo>
                  <a:pt x="56147" y="53198"/>
                  <a:pt x="69594" y="61337"/>
                  <a:pt x="84929" y="61337"/>
                </a:cubicBezTo>
                <a:cubicBezTo>
                  <a:pt x="101354" y="61337"/>
                  <a:pt x="115627" y="51989"/>
                  <a:pt x="122675" y="38336"/>
                </a:cubicBezTo>
                <a:cubicBezTo>
                  <a:pt x="127334" y="35004"/>
                  <a:pt x="133026" y="33028"/>
                  <a:pt x="139189" y="33028"/>
                </a:cubicBezTo>
                <a:lnTo>
                  <a:pt x="144939" y="33028"/>
                </a:lnTo>
                <a:cubicBezTo>
                  <a:pt x="148006" y="33028"/>
                  <a:pt x="150247" y="35918"/>
                  <a:pt x="149510" y="38896"/>
                </a:cubicBezTo>
                <a:lnTo>
                  <a:pt x="144467" y="59037"/>
                </a:lnTo>
                <a:cubicBezTo>
                  <a:pt x="147387" y="62694"/>
                  <a:pt x="149834" y="66616"/>
                  <a:pt x="151663" y="70774"/>
                </a:cubicBezTo>
                <a:lnTo>
                  <a:pt x="158062" y="70774"/>
                </a:lnTo>
                <a:cubicBezTo>
                  <a:pt x="161984" y="70774"/>
                  <a:pt x="165139" y="73929"/>
                  <a:pt x="165139" y="77851"/>
                </a:cubicBezTo>
                <a:lnTo>
                  <a:pt x="165139" y="110879"/>
                </a:lnTo>
                <a:cubicBezTo>
                  <a:pt x="165139" y="114801"/>
                  <a:pt x="161984" y="117957"/>
                  <a:pt x="158062" y="117957"/>
                </a:cubicBezTo>
                <a:lnTo>
                  <a:pt x="146266" y="117957"/>
                </a:lnTo>
                <a:cubicBezTo>
                  <a:pt x="141401" y="124444"/>
                  <a:pt x="134913" y="129634"/>
                  <a:pt x="127393" y="132908"/>
                </a:cubicBezTo>
                <a:lnTo>
                  <a:pt x="127393" y="141548"/>
                </a:lnTo>
                <a:cubicBezTo>
                  <a:pt x="127393" y="146768"/>
                  <a:pt x="123176" y="150985"/>
                  <a:pt x="117957" y="150985"/>
                </a:cubicBezTo>
                <a:lnTo>
                  <a:pt x="108225" y="150985"/>
                </a:lnTo>
                <a:cubicBezTo>
                  <a:pt x="104008" y="150985"/>
                  <a:pt x="100322" y="148183"/>
                  <a:pt x="99143" y="144143"/>
                </a:cubicBezTo>
                <a:lnTo>
                  <a:pt x="97049" y="136830"/>
                </a:lnTo>
                <a:lnTo>
                  <a:pt x="72779" y="136830"/>
                </a:lnTo>
                <a:lnTo>
                  <a:pt x="70686" y="144143"/>
                </a:lnTo>
                <a:cubicBezTo>
                  <a:pt x="69535" y="148183"/>
                  <a:pt x="65849" y="150985"/>
                  <a:pt x="61632" y="150985"/>
                </a:cubicBezTo>
                <a:lnTo>
                  <a:pt x="51901" y="150985"/>
                </a:lnTo>
                <a:cubicBezTo>
                  <a:pt x="46681" y="150985"/>
                  <a:pt x="42464" y="146768"/>
                  <a:pt x="42464" y="141548"/>
                </a:cubicBezTo>
                <a:lnTo>
                  <a:pt x="42464" y="132908"/>
                </a:lnTo>
                <a:cubicBezTo>
                  <a:pt x="25803" y="125624"/>
                  <a:pt x="14155" y="108992"/>
                  <a:pt x="14155" y="89647"/>
                </a:cubicBezTo>
                <a:close/>
                <a:moveTo>
                  <a:pt x="125034" y="94365"/>
                </a:moveTo>
                <a:cubicBezTo>
                  <a:pt x="128940" y="94365"/>
                  <a:pt x="132111" y="91194"/>
                  <a:pt x="132111" y="87288"/>
                </a:cubicBezTo>
                <a:cubicBezTo>
                  <a:pt x="132111" y="83382"/>
                  <a:pt x="128940" y="80211"/>
                  <a:pt x="125034" y="80211"/>
                </a:cubicBezTo>
                <a:cubicBezTo>
                  <a:pt x="121128" y="80211"/>
                  <a:pt x="117957" y="83382"/>
                  <a:pt x="117957" y="87288"/>
                </a:cubicBezTo>
                <a:cubicBezTo>
                  <a:pt x="117957" y="91194"/>
                  <a:pt x="121128" y="94365"/>
                  <a:pt x="125034" y="9436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6"/>
          <p:cNvSpPr/>
          <p:nvPr/>
        </p:nvSpPr>
        <p:spPr>
          <a:xfrm>
            <a:off x="8865622" y="3025984"/>
            <a:ext cx="924780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Contingency</a:t>
            </a:r>
            <a:endParaRPr sz="1600" b="0" i="0" u="none" strike="noStrike" cap="none"/>
          </a:p>
        </p:txBody>
      </p:sp>
      <p:sp>
        <p:nvSpPr>
          <p:cNvPr id="611" name="Google Shape;611;p16"/>
          <p:cNvSpPr/>
          <p:nvPr/>
        </p:nvSpPr>
        <p:spPr>
          <a:xfrm>
            <a:off x="8601399" y="3327954"/>
            <a:ext cx="3057437" cy="30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3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¥10,000</a:t>
            </a:r>
            <a:endParaRPr sz="1600" b="0" i="0" u="none" strike="noStrike" cap="none"/>
          </a:p>
        </p:txBody>
      </p:sp>
      <p:sp>
        <p:nvSpPr>
          <p:cNvPr id="612" name="Google Shape;612;p16"/>
          <p:cNvSpPr/>
          <p:nvPr/>
        </p:nvSpPr>
        <p:spPr>
          <a:xfrm>
            <a:off x="8601399" y="3667669"/>
            <a:ext cx="3010254" cy="18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Emergency &amp; unexpected costs</a:t>
            </a:r>
            <a:endParaRPr sz="1600" b="0" i="0" u="none" strike="noStrike" cap="none"/>
          </a:p>
        </p:txBody>
      </p:sp>
      <p:sp>
        <p:nvSpPr>
          <p:cNvPr id="613" name="Google Shape;613;p16"/>
          <p:cNvSpPr/>
          <p:nvPr/>
        </p:nvSpPr>
        <p:spPr>
          <a:xfrm>
            <a:off x="5047660" y="4281046"/>
            <a:ext cx="6772285" cy="2573028"/>
          </a:xfrm>
          <a:prstGeom prst="roundRect">
            <a:avLst>
              <a:gd name="adj" fmla="val 4401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6"/>
          <p:cNvSpPr/>
          <p:nvPr/>
        </p:nvSpPr>
        <p:spPr>
          <a:xfrm>
            <a:off x="5201791" y="4435170"/>
            <a:ext cx="6548954" cy="264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7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Feasibility Assessment</a:t>
            </a:r>
            <a:endParaRPr sz="1600" b="0" i="0" u="none" strike="noStrike" cap="none"/>
          </a:p>
        </p:txBody>
      </p:sp>
      <p:sp>
        <p:nvSpPr>
          <p:cNvPr id="615" name="Google Shape;615;p16"/>
          <p:cNvSpPr/>
          <p:nvPr/>
        </p:nvSpPr>
        <p:spPr>
          <a:xfrm>
            <a:off x="5220664" y="4850378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 extrusionOk="0">
                <a:moveTo>
                  <a:pt x="75492" y="150985"/>
                </a:moveTo>
                <a:cubicBezTo>
                  <a:pt x="117158" y="150985"/>
                  <a:pt x="150985" y="117158"/>
                  <a:pt x="150985" y="75492"/>
                </a:cubicBezTo>
                <a:cubicBezTo>
                  <a:pt x="150985" y="33827"/>
                  <a:pt x="117158" y="0"/>
                  <a:pt x="75492" y="0"/>
                </a:cubicBezTo>
                <a:cubicBezTo>
                  <a:pt x="33827" y="0"/>
                  <a:pt x="0" y="33827"/>
                  <a:pt x="0" y="75492"/>
                </a:cubicBezTo>
                <a:cubicBezTo>
                  <a:pt x="0" y="117158"/>
                  <a:pt x="33827" y="150985"/>
                  <a:pt x="75492" y="150985"/>
                </a:cubicBezTo>
                <a:close/>
                <a:moveTo>
                  <a:pt x="100381" y="62723"/>
                </a:moveTo>
                <a:lnTo>
                  <a:pt x="76790" y="100470"/>
                </a:lnTo>
                <a:cubicBezTo>
                  <a:pt x="75551" y="102445"/>
                  <a:pt x="73428" y="103684"/>
                  <a:pt x="71098" y="103802"/>
                </a:cubicBezTo>
                <a:cubicBezTo>
                  <a:pt x="68769" y="103920"/>
                  <a:pt x="66528" y="102858"/>
                  <a:pt x="65142" y="100971"/>
                </a:cubicBezTo>
                <a:lnTo>
                  <a:pt x="50987" y="82098"/>
                </a:lnTo>
                <a:cubicBezTo>
                  <a:pt x="48628" y="78972"/>
                  <a:pt x="49276" y="74549"/>
                  <a:pt x="52402" y="72189"/>
                </a:cubicBezTo>
                <a:cubicBezTo>
                  <a:pt x="55528" y="69830"/>
                  <a:pt x="59951" y="70479"/>
                  <a:pt x="62311" y="73605"/>
                </a:cubicBezTo>
                <a:lnTo>
                  <a:pt x="70273" y="84221"/>
                </a:lnTo>
                <a:lnTo>
                  <a:pt x="88379" y="55233"/>
                </a:lnTo>
                <a:cubicBezTo>
                  <a:pt x="90443" y="51930"/>
                  <a:pt x="94808" y="50898"/>
                  <a:pt x="98140" y="52992"/>
                </a:cubicBezTo>
                <a:cubicBezTo>
                  <a:pt x="101472" y="55086"/>
                  <a:pt x="102475" y="59421"/>
                  <a:pt x="100381" y="62753"/>
                </a:cubicBezTo>
                <a:close/>
              </a:path>
            </a:pathLst>
          </a:custGeom>
          <a:solidFill>
            <a:srgbClr val="05DF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16"/>
          <p:cNvSpPr/>
          <p:nvPr/>
        </p:nvSpPr>
        <p:spPr>
          <a:xfrm>
            <a:off x="5503760" y="4812632"/>
            <a:ext cx="3661375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High Feasibility</a:t>
            </a:r>
            <a:endParaRPr sz="1600" b="0" i="0" u="none" strike="noStrike" cap="none"/>
          </a:p>
        </p:txBody>
      </p:sp>
      <p:sp>
        <p:nvSpPr>
          <p:cNvPr id="617" name="Google Shape;617;p16"/>
          <p:cNvSpPr/>
          <p:nvPr/>
        </p:nvSpPr>
        <p:spPr>
          <a:xfrm>
            <a:off x="5503760" y="5039108"/>
            <a:ext cx="3651938" cy="18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Primarily volunteer-driven with minimal financial requirements</a:t>
            </a:r>
            <a:endParaRPr sz="1600" b="0" i="0" u="none" strike="noStrike" cap="none"/>
          </a:p>
        </p:txBody>
      </p:sp>
      <p:sp>
        <p:nvSpPr>
          <p:cNvPr id="618" name="Google Shape;618;p16"/>
          <p:cNvSpPr/>
          <p:nvPr/>
        </p:nvSpPr>
        <p:spPr>
          <a:xfrm>
            <a:off x="5220664" y="5341077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 extrusionOk="0">
                <a:moveTo>
                  <a:pt x="75492" y="150985"/>
                </a:moveTo>
                <a:cubicBezTo>
                  <a:pt x="117158" y="150985"/>
                  <a:pt x="150985" y="117158"/>
                  <a:pt x="150985" y="75492"/>
                </a:cubicBezTo>
                <a:cubicBezTo>
                  <a:pt x="150985" y="33827"/>
                  <a:pt x="117158" y="0"/>
                  <a:pt x="75492" y="0"/>
                </a:cubicBezTo>
                <a:cubicBezTo>
                  <a:pt x="33827" y="0"/>
                  <a:pt x="0" y="33827"/>
                  <a:pt x="0" y="75492"/>
                </a:cubicBezTo>
                <a:cubicBezTo>
                  <a:pt x="0" y="117158"/>
                  <a:pt x="33827" y="150985"/>
                  <a:pt x="75492" y="150985"/>
                </a:cubicBezTo>
                <a:close/>
                <a:moveTo>
                  <a:pt x="100381" y="62723"/>
                </a:moveTo>
                <a:lnTo>
                  <a:pt x="76790" y="100470"/>
                </a:lnTo>
                <a:cubicBezTo>
                  <a:pt x="75551" y="102445"/>
                  <a:pt x="73428" y="103684"/>
                  <a:pt x="71098" y="103802"/>
                </a:cubicBezTo>
                <a:cubicBezTo>
                  <a:pt x="68769" y="103920"/>
                  <a:pt x="66528" y="102858"/>
                  <a:pt x="65142" y="100971"/>
                </a:cubicBezTo>
                <a:lnTo>
                  <a:pt x="50987" y="82098"/>
                </a:lnTo>
                <a:cubicBezTo>
                  <a:pt x="48628" y="78972"/>
                  <a:pt x="49276" y="74549"/>
                  <a:pt x="52402" y="72189"/>
                </a:cubicBezTo>
                <a:cubicBezTo>
                  <a:pt x="55528" y="69830"/>
                  <a:pt x="59951" y="70479"/>
                  <a:pt x="62311" y="73605"/>
                </a:cubicBezTo>
                <a:lnTo>
                  <a:pt x="70273" y="84221"/>
                </a:lnTo>
                <a:lnTo>
                  <a:pt x="88379" y="55233"/>
                </a:lnTo>
                <a:cubicBezTo>
                  <a:pt x="90443" y="51930"/>
                  <a:pt x="94808" y="50898"/>
                  <a:pt x="98140" y="52992"/>
                </a:cubicBezTo>
                <a:cubicBezTo>
                  <a:pt x="101472" y="55086"/>
                  <a:pt x="102475" y="59421"/>
                  <a:pt x="100381" y="62753"/>
                </a:cubicBezTo>
                <a:close/>
              </a:path>
            </a:pathLst>
          </a:custGeom>
          <a:solidFill>
            <a:srgbClr val="05DF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5503760" y="5303331"/>
            <a:ext cx="3010254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Digital-First Approach</a:t>
            </a:r>
            <a:endParaRPr sz="1600" b="0" i="0" u="none" strike="noStrike" cap="none"/>
          </a:p>
        </p:txBody>
      </p:sp>
      <p:sp>
        <p:nvSpPr>
          <p:cNvPr id="620" name="Google Shape;620;p16"/>
          <p:cNvSpPr/>
          <p:nvPr/>
        </p:nvSpPr>
        <p:spPr>
          <a:xfrm>
            <a:off x="5503760" y="5529808"/>
            <a:ext cx="3000817" cy="18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Minimizes costs through free/low-cost digital tools</a:t>
            </a:r>
            <a:endParaRPr sz="1600" b="0" i="0" u="none" strike="noStrike" cap="none"/>
          </a:p>
        </p:txBody>
      </p:sp>
      <p:sp>
        <p:nvSpPr>
          <p:cNvPr id="621" name="Google Shape;621;p16"/>
          <p:cNvSpPr/>
          <p:nvPr/>
        </p:nvSpPr>
        <p:spPr>
          <a:xfrm>
            <a:off x="5220664" y="5831777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 extrusionOk="0">
                <a:moveTo>
                  <a:pt x="75492" y="150985"/>
                </a:moveTo>
                <a:cubicBezTo>
                  <a:pt x="117158" y="150985"/>
                  <a:pt x="150985" y="117158"/>
                  <a:pt x="150985" y="75492"/>
                </a:cubicBezTo>
                <a:cubicBezTo>
                  <a:pt x="150985" y="33827"/>
                  <a:pt x="117158" y="0"/>
                  <a:pt x="75492" y="0"/>
                </a:cubicBezTo>
                <a:cubicBezTo>
                  <a:pt x="33827" y="0"/>
                  <a:pt x="0" y="33827"/>
                  <a:pt x="0" y="75492"/>
                </a:cubicBezTo>
                <a:cubicBezTo>
                  <a:pt x="0" y="117158"/>
                  <a:pt x="33827" y="150985"/>
                  <a:pt x="75492" y="150985"/>
                </a:cubicBezTo>
                <a:close/>
                <a:moveTo>
                  <a:pt x="100381" y="62723"/>
                </a:moveTo>
                <a:lnTo>
                  <a:pt x="76790" y="100470"/>
                </a:lnTo>
                <a:cubicBezTo>
                  <a:pt x="75551" y="102445"/>
                  <a:pt x="73428" y="103684"/>
                  <a:pt x="71098" y="103802"/>
                </a:cubicBezTo>
                <a:cubicBezTo>
                  <a:pt x="68769" y="103920"/>
                  <a:pt x="66528" y="102858"/>
                  <a:pt x="65142" y="100971"/>
                </a:cubicBezTo>
                <a:lnTo>
                  <a:pt x="50987" y="82098"/>
                </a:lnTo>
                <a:cubicBezTo>
                  <a:pt x="48628" y="78972"/>
                  <a:pt x="49276" y="74549"/>
                  <a:pt x="52402" y="72189"/>
                </a:cubicBezTo>
                <a:cubicBezTo>
                  <a:pt x="55528" y="69830"/>
                  <a:pt x="59951" y="70479"/>
                  <a:pt x="62311" y="73605"/>
                </a:cubicBezTo>
                <a:lnTo>
                  <a:pt x="70273" y="84221"/>
                </a:lnTo>
                <a:lnTo>
                  <a:pt x="88379" y="55233"/>
                </a:lnTo>
                <a:cubicBezTo>
                  <a:pt x="90443" y="51930"/>
                  <a:pt x="94808" y="50898"/>
                  <a:pt x="98140" y="52992"/>
                </a:cubicBezTo>
                <a:cubicBezTo>
                  <a:pt x="101472" y="55086"/>
                  <a:pt x="102475" y="59421"/>
                  <a:pt x="100381" y="62753"/>
                </a:cubicBezTo>
                <a:close/>
              </a:path>
            </a:pathLst>
          </a:custGeom>
          <a:solidFill>
            <a:srgbClr val="05DF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6"/>
          <p:cNvSpPr/>
          <p:nvPr/>
        </p:nvSpPr>
        <p:spPr>
          <a:xfrm>
            <a:off x="5503760" y="5794031"/>
            <a:ext cx="2897015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In-Kind Contributions</a:t>
            </a:r>
            <a:endParaRPr sz="1600" b="0" i="0" u="none" strike="noStrike" cap="none"/>
          </a:p>
        </p:txBody>
      </p:sp>
      <p:sp>
        <p:nvSpPr>
          <p:cNvPr id="623" name="Google Shape;623;p16"/>
          <p:cNvSpPr/>
          <p:nvPr/>
        </p:nvSpPr>
        <p:spPr>
          <a:xfrm>
            <a:off x="5503760" y="6020508"/>
            <a:ext cx="2887579" cy="18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University venues, NPO expertise, volunteer time</a:t>
            </a:r>
            <a:endParaRPr sz="1600" b="0" i="0" u="none" strike="noStrike" cap="none"/>
          </a:p>
        </p:txBody>
      </p:sp>
      <p:sp>
        <p:nvSpPr>
          <p:cNvPr id="624" name="Google Shape;624;p16"/>
          <p:cNvSpPr/>
          <p:nvPr/>
        </p:nvSpPr>
        <p:spPr>
          <a:xfrm>
            <a:off x="5220664" y="6322477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 extrusionOk="0">
                <a:moveTo>
                  <a:pt x="75492" y="150985"/>
                </a:moveTo>
                <a:cubicBezTo>
                  <a:pt x="117158" y="150985"/>
                  <a:pt x="150985" y="117158"/>
                  <a:pt x="150985" y="75492"/>
                </a:cubicBezTo>
                <a:cubicBezTo>
                  <a:pt x="150985" y="33827"/>
                  <a:pt x="117158" y="0"/>
                  <a:pt x="75492" y="0"/>
                </a:cubicBezTo>
                <a:cubicBezTo>
                  <a:pt x="33827" y="0"/>
                  <a:pt x="0" y="33827"/>
                  <a:pt x="0" y="75492"/>
                </a:cubicBezTo>
                <a:cubicBezTo>
                  <a:pt x="0" y="117158"/>
                  <a:pt x="33827" y="150985"/>
                  <a:pt x="75492" y="150985"/>
                </a:cubicBezTo>
                <a:close/>
                <a:moveTo>
                  <a:pt x="100381" y="62723"/>
                </a:moveTo>
                <a:lnTo>
                  <a:pt x="76790" y="100470"/>
                </a:lnTo>
                <a:cubicBezTo>
                  <a:pt x="75551" y="102445"/>
                  <a:pt x="73428" y="103684"/>
                  <a:pt x="71098" y="103802"/>
                </a:cubicBezTo>
                <a:cubicBezTo>
                  <a:pt x="68769" y="103920"/>
                  <a:pt x="66528" y="102858"/>
                  <a:pt x="65142" y="100971"/>
                </a:cubicBezTo>
                <a:lnTo>
                  <a:pt x="50987" y="82098"/>
                </a:lnTo>
                <a:cubicBezTo>
                  <a:pt x="48628" y="78972"/>
                  <a:pt x="49276" y="74549"/>
                  <a:pt x="52402" y="72189"/>
                </a:cubicBezTo>
                <a:cubicBezTo>
                  <a:pt x="55528" y="69830"/>
                  <a:pt x="59951" y="70479"/>
                  <a:pt x="62311" y="73605"/>
                </a:cubicBezTo>
                <a:lnTo>
                  <a:pt x="70273" y="84221"/>
                </a:lnTo>
                <a:lnTo>
                  <a:pt x="88379" y="55233"/>
                </a:lnTo>
                <a:cubicBezTo>
                  <a:pt x="90443" y="51930"/>
                  <a:pt x="94808" y="50898"/>
                  <a:pt x="98140" y="52992"/>
                </a:cubicBezTo>
                <a:cubicBezTo>
                  <a:pt x="101472" y="55086"/>
                  <a:pt x="102475" y="59421"/>
                  <a:pt x="100381" y="62753"/>
                </a:cubicBezTo>
                <a:close/>
              </a:path>
            </a:pathLst>
          </a:custGeom>
          <a:solidFill>
            <a:srgbClr val="05DF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6"/>
          <p:cNvSpPr/>
          <p:nvPr/>
        </p:nvSpPr>
        <p:spPr>
          <a:xfrm>
            <a:off x="5503760" y="6284731"/>
            <a:ext cx="4086019" cy="2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Scalable Model</a:t>
            </a:r>
            <a:endParaRPr sz="1600" b="0" i="0" u="none" strike="noStrike" cap="none"/>
          </a:p>
        </p:txBody>
      </p:sp>
      <p:sp>
        <p:nvSpPr>
          <p:cNvPr id="626" name="Google Shape;626;p16"/>
          <p:cNvSpPr/>
          <p:nvPr/>
        </p:nvSpPr>
        <p:spPr>
          <a:xfrm>
            <a:off x="5503760" y="6511207"/>
            <a:ext cx="4076582" cy="18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Digital resources can reach unlimited users at near-zero marginal cost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7"/>
          <p:cNvSpPr/>
          <p:nvPr/>
        </p:nvSpPr>
        <p:spPr>
          <a:xfrm>
            <a:off x="359646" y="467540"/>
            <a:ext cx="71929" cy="359646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539469" y="359646"/>
            <a:ext cx="5826265" cy="21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3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IMPACT</a:t>
            </a:r>
            <a:endParaRPr sz="1600" b="0" i="0" u="none" strike="noStrike" cap="none"/>
          </a:p>
        </p:txBody>
      </p:sp>
      <p:sp>
        <p:nvSpPr>
          <p:cNvPr id="634" name="Google Shape;634;p17"/>
          <p:cNvSpPr/>
          <p:nvPr/>
        </p:nvSpPr>
        <p:spPr>
          <a:xfrm>
            <a:off x="539469" y="575434"/>
            <a:ext cx="5916177" cy="35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9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Expected Impact &amp; Evaluation Indicators</a:t>
            </a:r>
            <a:endParaRPr sz="1600" b="0" i="0" u="none" strike="noStrike" cap="none"/>
          </a:p>
        </p:txBody>
      </p:sp>
      <p:sp>
        <p:nvSpPr>
          <p:cNvPr id="635" name="Google Shape;635;p17"/>
          <p:cNvSpPr/>
          <p:nvPr/>
        </p:nvSpPr>
        <p:spPr>
          <a:xfrm>
            <a:off x="362643" y="1153864"/>
            <a:ext cx="5661428" cy="2703339"/>
          </a:xfrm>
          <a:prstGeom prst="roundRect">
            <a:avLst>
              <a:gd name="adj" fmla="val 3991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531976" y="1345678"/>
            <a:ext cx="161841" cy="161841"/>
          </a:xfrm>
          <a:custGeom>
            <a:avLst/>
            <a:gdLst/>
            <a:ahLst/>
            <a:cxnLst/>
            <a:rect l="l" t="t" r="r" b="b"/>
            <a:pathLst>
              <a:path w="161841" h="161841" extrusionOk="0">
                <a:moveTo>
                  <a:pt x="141611" y="80920"/>
                </a:moveTo>
                <a:cubicBezTo>
                  <a:pt x="141611" y="47424"/>
                  <a:pt x="114416" y="20230"/>
                  <a:pt x="80920" y="20230"/>
                </a:cubicBezTo>
                <a:cubicBezTo>
                  <a:pt x="47424" y="20230"/>
                  <a:pt x="20230" y="47424"/>
                  <a:pt x="20230" y="80920"/>
                </a:cubicBezTo>
                <a:cubicBezTo>
                  <a:pt x="20230" y="114416"/>
                  <a:pt x="47424" y="141611"/>
                  <a:pt x="80920" y="141611"/>
                </a:cubicBezTo>
                <a:cubicBezTo>
                  <a:pt x="114416" y="141611"/>
                  <a:pt x="141611" y="114416"/>
                  <a:pt x="141611" y="80920"/>
                </a:cubicBezTo>
                <a:close/>
                <a:moveTo>
                  <a:pt x="0" y="80920"/>
                </a:moveTo>
                <a:cubicBezTo>
                  <a:pt x="0" y="36259"/>
                  <a:pt x="36259" y="0"/>
                  <a:pt x="80920" y="0"/>
                </a:cubicBezTo>
                <a:cubicBezTo>
                  <a:pt x="125582" y="0"/>
                  <a:pt x="161841" y="36259"/>
                  <a:pt x="161841" y="80920"/>
                </a:cubicBezTo>
                <a:cubicBezTo>
                  <a:pt x="161841" y="125582"/>
                  <a:pt x="125582" y="161841"/>
                  <a:pt x="80920" y="161841"/>
                </a:cubicBezTo>
                <a:cubicBezTo>
                  <a:pt x="36259" y="161841"/>
                  <a:pt x="0" y="125582"/>
                  <a:pt x="0" y="80920"/>
                </a:cubicBezTo>
                <a:close/>
                <a:moveTo>
                  <a:pt x="80920" y="106208"/>
                </a:moveTo>
                <a:cubicBezTo>
                  <a:pt x="94877" y="106208"/>
                  <a:pt x="106208" y="94877"/>
                  <a:pt x="106208" y="80920"/>
                </a:cubicBezTo>
                <a:cubicBezTo>
                  <a:pt x="106208" y="66964"/>
                  <a:pt x="94877" y="55633"/>
                  <a:pt x="80920" y="55633"/>
                </a:cubicBezTo>
                <a:cubicBezTo>
                  <a:pt x="66964" y="55633"/>
                  <a:pt x="55633" y="66964"/>
                  <a:pt x="55633" y="80920"/>
                </a:cubicBezTo>
                <a:cubicBezTo>
                  <a:pt x="55633" y="94877"/>
                  <a:pt x="66964" y="106208"/>
                  <a:pt x="80920" y="106208"/>
                </a:cubicBezTo>
                <a:close/>
                <a:moveTo>
                  <a:pt x="80920" y="35403"/>
                </a:moveTo>
                <a:cubicBezTo>
                  <a:pt x="106042" y="35403"/>
                  <a:pt x="126438" y="55798"/>
                  <a:pt x="126438" y="80920"/>
                </a:cubicBezTo>
                <a:cubicBezTo>
                  <a:pt x="126438" y="106042"/>
                  <a:pt x="106042" y="126438"/>
                  <a:pt x="80920" y="126438"/>
                </a:cubicBezTo>
                <a:cubicBezTo>
                  <a:pt x="55798" y="126438"/>
                  <a:pt x="35403" y="106042"/>
                  <a:pt x="35403" y="80920"/>
                </a:cubicBezTo>
                <a:cubicBezTo>
                  <a:pt x="35403" y="55798"/>
                  <a:pt x="55798" y="35403"/>
                  <a:pt x="80920" y="35403"/>
                </a:cubicBezTo>
                <a:close/>
                <a:moveTo>
                  <a:pt x="70805" y="80920"/>
                </a:moveTo>
                <a:cubicBezTo>
                  <a:pt x="70805" y="75338"/>
                  <a:pt x="75338" y="70805"/>
                  <a:pt x="80920" y="70805"/>
                </a:cubicBezTo>
                <a:cubicBezTo>
                  <a:pt x="86503" y="70805"/>
                  <a:pt x="91035" y="75338"/>
                  <a:pt x="91035" y="80920"/>
                </a:cubicBezTo>
                <a:cubicBezTo>
                  <a:pt x="91035" y="86503"/>
                  <a:pt x="86503" y="91035"/>
                  <a:pt x="80920" y="91035"/>
                </a:cubicBezTo>
                <a:cubicBezTo>
                  <a:pt x="75338" y="91035"/>
                  <a:pt x="70805" y="86503"/>
                  <a:pt x="70805" y="8092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7"/>
          <p:cNvSpPr/>
          <p:nvPr/>
        </p:nvSpPr>
        <p:spPr>
          <a:xfrm>
            <a:off x="716295" y="1300723"/>
            <a:ext cx="5241841" cy="25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4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Outputs (What We Produce)</a:t>
            </a:r>
            <a:endParaRPr sz="1600" b="0" i="0" u="none" strike="noStrike" cap="none"/>
          </a:p>
        </p:txBody>
      </p:sp>
      <p:sp>
        <p:nvSpPr>
          <p:cNvPr id="638" name="Google Shape;638;p17"/>
          <p:cNvSpPr/>
          <p:nvPr/>
        </p:nvSpPr>
        <p:spPr>
          <a:xfrm>
            <a:off x="509499" y="1660369"/>
            <a:ext cx="2625416" cy="971044"/>
          </a:xfrm>
          <a:prstGeom prst="roundRect">
            <a:avLst>
              <a:gd name="adj" fmla="val 740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7"/>
          <p:cNvSpPr/>
          <p:nvPr/>
        </p:nvSpPr>
        <p:spPr>
          <a:xfrm>
            <a:off x="1729766" y="1768263"/>
            <a:ext cx="188814" cy="215788"/>
          </a:xfrm>
          <a:custGeom>
            <a:avLst/>
            <a:gdLst/>
            <a:ahLst/>
            <a:cxnLst/>
            <a:rect l="l" t="t" r="r" b="b"/>
            <a:pathLst>
              <a:path w="188814" h="215788" extrusionOk="0">
                <a:moveTo>
                  <a:pt x="161841" y="215788"/>
                </a:moveTo>
                <a:lnTo>
                  <a:pt x="40460" y="215788"/>
                </a:lnTo>
                <a:cubicBezTo>
                  <a:pt x="18123" y="215788"/>
                  <a:pt x="0" y="197665"/>
                  <a:pt x="0" y="175327"/>
                </a:cubicBezTo>
                <a:lnTo>
                  <a:pt x="0" y="40460"/>
                </a:lnTo>
                <a:cubicBezTo>
                  <a:pt x="0" y="18123"/>
                  <a:pt x="18123" y="0"/>
                  <a:pt x="40460" y="0"/>
                </a:cubicBezTo>
                <a:lnTo>
                  <a:pt x="168584" y="0"/>
                </a:lnTo>
                <a:cubicBezTo>
                  <a:pt x="179753" y="0"/>
                  <a:pt x="188814" y="9061"/>
                  <a:pt x="188814" y="20230"/>
                </a:cubicBezTo>
                <a:lnTo>
                  <a:pt x="188814" y="141611"/>
                </a:lnTo>
                <a:cubicBezTo>
                  <a:pt x="188814" y="150419"/>
                  <a:pt x="183167" y="157921"/>
                  <a:pt x="175327" y="160703"/>
                </a:cubicBezTo>
                <a:lnTo>
                  <a:pt x="175327" y="188814"/>
                </a:lnTo>
                <a:cubicBezTo>
                  <a:pt x="182787" y="188814"/>
                  <a:pt x="188814" y="194841"/>
                  <a:pt x="188814" y="202301"/>
                </a:cubicBezTo>
                <a:cubicBezTo>
                  <a:pt x="188814" y="209761"/>
                  <a:pt x="182787" y="215788"/>
                  <a:pt x="175327" y="215788"/>
                </a:cubicBezTo>
                <a:lnTo>
                  <a:pt x="161841" y="215788"/>
                </a:lnTo>
                <a:close/>
                <a:moveTo>
                  <a:pt x="40460" y="161841"/>
                </a:moveTo>
                <a:cubicBezTo>
                  <a:pt x="33000" y="161841"/>
                  <a:pt x="26973" y="167868"/>
                  <a:pt x="26973" y="175327"/>
                </a:cubicBezTo>
                <a:cubicBezTo>
                  <a:pt x="26973" y="182787"/>
                  <a:pt x="33000" y="188814"/>
                  <a:pt x="40460" y="188814"/>
                </a:cubicBezTo>
                <a:lnTo>
                  <a:pt x="148354" y="188814"/>
                </a:lnTo>
                <a:lnTo>
                  <a:pt x="148354" y="161841"/>
                </a:lnTo>
                <a:lnTo>
                  <a:pt x="40460" y="161841"/>
                </a:lnTo>
                <a:close/>
                <a:moveTo>
                  <a:pt x="53947" y="64062"/>
                </a:moveTo>
                <a:cubicBezTo>
                  <a:pt x="53947" y="69667"/>
                  <a:pt x="58457" y="74177"/>
                  <a:pt x="64062" y="74177"/>
                </a:cubicBezTo>
                <a:lnTo>
                  <a:pt x="138239" y="74177"/>
                </a:lnTo>
                <a:cubicBezTo>
                  <a:pt x="143844" y="74177"/>
                  <a:pt x="148354" y="69667"/>
                  <a:pt x="148354" y="64062"/>
                </a:cubicBezTo>
                <a:cubicBezTo>
                  <a:pt x="148354" y="58457"/>
                  <a:pt x="143844" y="53947"/>
                  <a:pt x="138239" y="53947"/>
                </a:cubicBezTo>
                <a:lnTo>
                  <a:pt x="64062" y="53947"/>
                </a:lnTo>
                <a:cubicBezTo>
                  <a:pt x="58457" y="53947"/>
                  <a:pt x="53947" y="58457"/>
                  <a:pt x="53947" y="64062"/>
                </a:cubicBezTo>
                <a:close/>
                <a:moveTo>
                  <a:pt x="64062" y="94407"/>
                </a:moveTo>
                <a:cubicBezTo>
                  <a:pt x="58457" y="94407"/>
                  <a:pt x="53947" y="98917"/>
                  <a:pt x="53947" y="104522"/>
                </a:cubicBezTo>
                <a:cubicBezTo>
                  <a:pt x="53947" y="110128"/>
                  <a:pt x="58457" y="114637"/>
                  <a:pt x="64062" y="114637"/>
                </a:cubicBezTo>
                <a:lnTo>
                  <a:pt x="138239" y="114637"/>
                </a:lnTo>
                <a:cubicBezTo>
                  <a:pt x="143844" y="114637"/>
                  <a:pt x="148354" y="110128"/>
                  <a:pt x="148354" y="104522"/>
                </a:cubicBezTo>
                <a:cubicBezTo>
                  <a:pt x="148354" y="98917"/>
                  <a:pt x="143844" y="94407"/>
                  <a:pt x="138239" y="94407"/>
                </a:cubicBezTo>
                <a:lnTo>
                  <a:pt x="64062" y="94407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7"/>
          <p:cNvSpPr/>
          <p:nvPr/>
        </p:nvSpPr>
        <p:spPr>
          <a:xfrm>
            <a:off x="563445" y="2055979"/>
            <a:ext cx="2517522" cy="28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9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sz="1600" b="0" i="0" u="none" strike="noStrike" cap="none"/>
          </a:p>
        </p:txBody>
      </p:sp>
      <p:sp>
        <p:nvSpPr>
          <p:cNvPr id="641" name="Google Shape;641;p17"/>
          <p:cNvSpPr/>
          <p:nvPr/>
        </p:nvSpPr>
        <p:spPr>
          <a:xfrm>
            <a:off x="585923" y="2343696"/>
            <a:ext cx="2472566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Awareness Toolkit</a:t>
            </a:r>
            <a:endParaRPr sz="1600" b="0" i="0" u="none" strike="noStrike" cap="none"/>
          </a:p>
        </p:txBody>
      </p:sp>
      <p:sp>
        <p:nvSpPr>
          <p:cNvPr id="642" name="Google Shape;642;p17"/>
          <p:cNvSpPr/>
          <p:nvPr/>
        </p:nvSpPr>
        <p:spPr>
          <a:xfrm>
            <a:off x="3246742" y="1660369"/>
            <a:ext cx="2625416" cy="971044"/>
          </a:xfrm>
          <a:prstGeom prst="roundRect">
            <a:avLst>
              <a:gd name="adj" fmla="val 740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7"/>
          <p:cNvSpPr/>
          <p:nvPr/>
        </p:nvSpPr>
        <p:spPr>
          <a:xfrm>
            <a:off x="4426550" y="1768263"/>
            <a:ext cx="269735" cy="215788"/>
          </a:xfrm>
          <a:custGeom>
            <a:avLst/>
            <a:gdLst/>
            <a:ahLst/>
            <a:cxnLst/>
            <a:rect l="l" t="t" r="r" b="b"/>
            <a:pathLst>
              <a:path w="269735" h="215788" extrusionOk="0">
                <a:moveTo>
                  <a:pt x="134867" y="6743"/>
                </a:moveTo>
                <a:cubicBezTo>
                  <a:pt x="159059" y="6743"/>
                  <a:pt x="178699" y="26384"/>
                  <a:pt x="178699" y="50575"/>
                </a:cubicBezTo>
                <a:cubicBezTo>
                  <a:pt x="178699" y="74767"/>
                  <a:pt x="159059" y="94407"/>
                  <a:pt x="134867" y="94407"/>
                </a:cubicBezTo>
                <a:cubicBezTo>
                  <a:pt x="110676" y="94407"/>
                  <a:pt x="91035" y="74767"/>
                  <a:pt x="91035" y="50575"/>
                </a:cubicBezTo>
                <a:cubicBezTo>
                  <a:pt x="91035" y="26384"/>
                  <a:pt x="110676" y="6743"/>
                  <a:pt x="134867" y="6743"/>
                </a:cubicBezTo>
                <a:close/>
                <a:moveTo>
                  <a:pt x="40460" y="37088"/>
                </a:moveTo>
                <a:cubicBezTo>
                  <a:pt x="57208" y="37088"/>
                  <a:pt x="70805" y="50686"/>
                  <a:pt x="70805" y="67434"/>
                </a:cubicBezTo>
                <a:cubicBezTo>
                  <a:pt x="70805" y="84182"/>
                  <a:pt x="57208" y="97779"/>
                  <a:pt x="40460" y="97779"/>
                </a:cubicBezTo>
                <a:cubicBezTo>
                  <a:pt x="23712" y="97779"/>
                  <a:pt x="10115" y="84182"/>
                  <a:pt x="10115" y="67434"/>
                </a:cubicBezTo>
                <a:cubicBezTo>
                  <a:pt x="10115" y="50686"/>
                  <a:pt x="23712" y="37088"/>
                  <a:pt x="40460" y="37088"/>
                </a:cubicBezTo>
                <a:close/>
                <a:moveTo>
                  <a:pt x="0" y="175327"/>
                </a:moveTo>
                <a:cubicBezTo>
                  <a:pt x="0" y="145530"/>
                  <a:pt x="24150" y="121381"/>
                  <a:pt x="53947" y="121381"/>
                </a:cubicBezTo>
                <a:cubicBezTo>
                  <a:pt x="59342" y="121381"/>
                  <a:pt x="64568" y="122181"/>
                  <a:pt x="69499" y="123656"/>
                </a:cubicBezTo>
                <a:cubicBezTo>
                  <a:pt x="55633" y="139166"/>
                  <a:pt x="47204" y="159649"/>
                  <a:pt x="47204" y="182071"/>
                </a:cubicBezTo>
                <a:lnTo>
                  <a:pt x="47204" y="188814"/>
                </a:lnTo>
                <a:cubicBezTo>
                  <a:pt x="47204" y="193619"/>
                  <a:pt x="48215" y="198171"/>
                  <a:pt x="50027" y="202301"/>
                </a:cubicBezTo>
                <a:lnTo>
                  <a:pt x="13487" y="202301"/>
                </a:lnTo>
                <a:cubicBezTo>
                  <a:pt x="6027" y="202301"/>
                  <a:pt x="0" y="196274"/>
                  <a:pt x="0" y="188814"/>
                </a:cubicBezTo>
                <a:lnTo>
                  <a:pt x="0" y="175327"/>
                </a:lnTo>
                <a:close/>
                <a:moveTo>
                  <a:pt x="219707" y="202301"/>
                </a:moveTo>
                <a:cubicBezTo>
                  <a:pt x="221519" y="198171"/>
                  <a:pt x="222531" y="193619"/>
                  <a:pt x="222531" y="188814"/>
                </a:cubicBezTo>
                <a:lnTo>
                  <a:pt x="222531" y="182071"/>
                </a:lnTo>
                <a:cubicBezTo>
                  <a:pt x="222531" y="159649"/>
                  <a:pt x="214102" y="139166"/>
                  <a:pt x="200236" y="123656"/>
                </a:cubicBezTo>
                <a:cubicBezTo>
                  <a:pt x="205167" y="122181"/>
                  <a:pt x="210393" y="121381"/>
                  <a:pt x="215788" y="121381"/>
                </a:cubicBezTo>
                <a:cubicBezTo>
                  <a:pt x="245585" y="121381"/>
                  <a:pt x="269735" y="145530"/>
                  <a:pt x="269735" y="175327"/>
                </a:cubicBezTo>
                <a:lnTo>
                  <a:pt x="269735" y="188814"/>
                </a:lnTo>
                <a:cubicBezTo>
                  <a:pt x="269735" y="196274"/>
                  <a:pt x="263708" y="202301"/>
                  <a:pt x="256248" y="202301"/>
                </a:cubicBezTo>
                <a:lnTo>
                  <a:pt x="219707" y="202301"/>
                </a:lnTo>
                <a:close/>
                <a:moveTo>
                  <a:pt x="198929" y="67434"/>
                </a:moveTo>
                <a:cubicBezTo>
                  <a:pt x="198929" y="50686"/>
                  <a:pt x="212526" y="37088"/>
                  <a:pt x="229274" y="37088"/>
                </a:cubicBezTo>
                <a:cubicBezTo>
                  <a:pt x="246022" y="37088"/>
                  <a:pt x="259619" y="50686"/>
                  <a:pt x="259619" y="67434"/>
                </a:cubicBezTo>
                <a:cubicBezTo>
                  <a:pt x="259619" y="84182"/>
                  <a:pt x="246022" y="97779"/>
                  <a:pt x="229274" y="97779"/>
                </a:cubicBezTo>
                <a:cubicBezTo>
                  <a:pt x="212526" y="97779"/>
                  <a:pt x="198929" y="84182"/>
                  <a:pt x="198929" y="67434"/>
                </a:cubicBezTo>
                <a:close/>
                <a:moveTo>
                  <a:pt x="67434" y="182071"/>
                </a:moveTo>
                <a:cubicBezTo>
                  <a:pt x="67434" y="144814"/>
                  <a:pt x="97610" y="114637"/>
                  <a:pt x="134867" y="114637"/>
                </a:cubicBezTo>
                <a:cubicBezTo>
                  <a:pt x="172124" y="114637"/>
                  <a:pt x="202301" y="144814"/>
                  <a:pt x="202301" y="182071"/>
                </a:cubicBezTo>
                <a:lnTo>
                  <a:pt x="202301" y="188814"/>
                </a:lnTo>
                <a:cubicBezTo>
                  <a:pt x="202301" y="196274"/>
                  <a:pt x="196274" y="202301"/>
                  <a:pt x="188814" y="202301"/>
                </a:cubicBezTo>
                <a:lnTo>
                  <a:pt x="80920" y="202301"/>
                </a:lnTo>
                <a:cubicBezTo>
                  <a:pt x="73461" y="202301"/>
                  <a:pt x="67434" y="196274"/>
                  <a:pt x="67434" y="188814"/>
                </a:cubicBezTo>
                <a:lnTo>
                  <a:pt x="67434" y="18207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7"/>
          <p:cNvSpPr/>
          <p:nvPr/>
        </p:nvSpPr>
        <p:spPr>
          <a:xfrm>
            <a:off x="3300689" y="2055979"/>
            <a:ext cx="2517522" cy="28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9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 b="0" i="0" u="none" strike="noStrike" cap="none"/>
          </a:p>
        </p:txBody>
      </p:sp>
      <p:sp>
        <p:nvSpPr>
          <p:cNvPr id="645" name="Google Shape;645;p17"/>
          <p:cNvSpPr/>
          <p:nvPr/>
        </p:nvSpPr>
        <p:spPr>
          <a:xfrm>
            <a:off x="3323167" y="2343696"/>
            <a:ext cx="2472566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Workshops Delivered</a:t>
            </a:r>
            <a:endParaRPr sz="1600" b="0" i="0" u="none" strike="noStrike" cap="none"/>
          </a:p>
        </p:txBody>
      </p:sp>
      <p:sp>
        <p:nvSpPr>
          <p:cNvPr id="646" name="Google Shape;646;p17"/>
          <p:cNvSpPr/>
          <p:nvPr/>
        </p:nvSpPr>
        <p:spPr>
          <a:xfrm>
            <a:off x="509499" y="2739307"/>
            <a:ext cx="2625416" cy="971044"/>
          </a:xfrm>
          <a:prstGeom prst="roundRect">
            <a:avLst>
              <a:gd name="adj" fmla="val 740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7"/>
          <p:cNvSpPr/>
          <p:nvPr/>
        </p:nvSpPr>
        <p:spPr>
          <a:xfrm>
            <a:off x="1689306" y="2847201"/>
            <a:ext cx="269735" cy="215788"/>
          </a:xfrm>
          <a:custGeom>
            <a:avLst/>
            <a:gdLst/>
            <a:ahLst/>
            <a:cxnLst/>
            <a:rect l="l" t="t" r="r" b="b"/>
            <a:pathLst>
              <a:path w="269735" h="215788" extrusionOk="0">
                <a:moveTo>
                  <a:pt x="53947" y="13487"/>
                </a:moveTo>
                <a:cubicBezTo>
                  <a:pt x="39069" y="13487"/>
                  <a:pt x="26973" y="25583"/>
                  <a:pt x="26973" y="40460"/>
                </a:cubicBezTo>
                <a:lnTo>
                  <a:pt x="26973" y="141611"/>
                </a:lnTo>
                <a:lnTo>
                  <a:pt x="53947" y="141611"/>
                </a:lnTo>
                <a:lnTo>
                  <a:pt x="53947" y="40460"/>
                </a:lnTo>
                <a:lnTo>
                  <a:pt x="215788" y="40460"/>
                </a:lnTo>
                <a:lnTo>
                  <a:pt x="215788" y="141611"/>
                </a:lnTo>
                <a:lnTo>
                  <a:pt x="242761" y="141611"/>
                </a:lnTo>
                <a:lnTo>
                  <a:pt x="242761" y="40460"/>
                </a:lnTo>
                <a:cubicBezTo>
                  <a:pt x="242761" y="25583"/>
                  <a:pt x="230665" y="13487"/>
                  <a:pt x="215788" y="13487"/>
                </a:cubicBezTo>
                <a:lnTo>
                  <a:pt x="53947" y="13487"/>
                </a:lnTo>
                <a:close/>
                <a:moveTo>
                  <a:pt x="8092" y="161841"/>
                </a:moveTo>
                <a:cubicBezTo>
                  <a:pt x="3625" y="161841"/>
                  <a:pt x="0" y="165465"/>
                  <a:pt x="0" y="169933"/>
                </a:cubicBezTo>
                <a:cubicBezTo>
                  <a:pt x="0" y="187803"/>
                  <a:pt x="14498" y="202301"/>
                  <a:pt x="32368" y="202301"/>
                </a:cubicBezTo>
                <a:lnTo>
                  <a:pt x="237366" y="202301"/>
                </a:lnTo>
                <a:cubicBezTo>
                  <a:pt x="255236" y="202301"/>
                  <a:pt x="269735" y="187803"/>
                  <a:pt x="269735" y="169933"/>
                </a:cubicBezTo>
                <a:cubicBezTo>
                  <a:pt x="269735" y="165465"/>
                  <a:pt x="266110" y="161841"/>
                  <a:pt x="261642" y="161841"/>
                </a:cubicBezTo>
                <a:lnTo>
                  <a:pt x="8092" y="16184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7"/>
          <p:cNvSpPr/>
          <p:nvPr/>
        </p:nvSpPr>
        <p:spPr>
          <a:xfrm>
            <a:off x="563445" y="3134917"/>
            <a:ext cx="2517522" cy="28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9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sz="1600" b="0" i="0" u="none" strike="noStrike" cap="none"/>
          </a:p>
        </p:txBody>
      </p:sp>
      <p:sp>
        <p:nvSpPr>
          <p:cNvPr id="649" name="Google Shape;649;p17"/>
          <p:cNvSpPr/>
          <p:nvPr/>
        </p:nvSpPr>
        <p:spPr>
          <a:xfrm>
            <a:off x="585923" y="3422634"/>
            <a:ext cx="2472566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Digital Platform</a:t>
            </a:r>
            <a:endParaRPr sz="1600" b="0" i="0" u="none" strike="noStrike" cap="none"/>
          </a:p>
        </p:txBody>
      </p:sp>
      <p:sp>
        <p:nvSpPr>
          <p:cNvPr id="650" name="Google Shape;650;p17"/>
          <p:cNvSpPr/>
          <p:nvPr/>
        </p:nvSpPr>
        <p:spPr>
          <a:xfrm>
            <a:off x="3246742" y="2739307"/>
            <a:ext cx="2625416" cy="971044"/>
          </a:xfrm>
          <a:prstGeom prst="roundRect">
            <a:avLst>
              <a:gd name="adj" fmla="val 740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7"/>
          <p:cNvSpPr/>
          <p:nvPr/>
        </p:nvSpPr>
        <p:spPr>
          <a:xfrm>
            <a:off x="4440036" y="2847201"/>
            <a:ext cx="242761" cy="215788"/>
          </a:xfrm>
          <a:custGeom>
            <a:avLst/>
            <a:gdLst/>
            <a:ahLst/>
            <a:cxnLst/>
            <a:rect l="l" t="t" r="r" b="b"/>
            <a:pathLst>
              <a:path w="242761" h="215788" extrusionOk="0">
                <a:moveTo>
                  <a:pt x="26973" y="53947"/>
                </a:moveTo>
                <a:cubicBezTo>
                  <a:pt x="26973" y="27895"/>
                  <a:pt x="48125" y="6743"/>
                  <a:pt x="74177" y="6743"/>
                </a:cubicBezTo>
                <a:cubicBezTo>
                  <a:pt x="100229" y="6743"/>
                  <a:pt x="121381" y="27895"/>
                  <a:pt x="121381" y="53947"/>
                </a:cubicBezTo>
                <a:cubicBezTo>
                  <a:pt x="121381" y="79999"/>
                  <a:pt x="100229" y="101150"/>
                  <a:pt x="74177" y="101150"/>
                </a:cubicBezTo>
                <a:cubicBezTo>
                  <a:pt x="48125" y="101150"/>
                  <a:pt x="26973" y="79999"/>
                  <a:pt x="26973" y="53947"/>
                </a:cubicBezTo>
                <a:close/>
                <a:moveTo>
                  <a:pt x="0" y="195558"/>
                </a:moveTo>
                <a:cubicBezTo>
                  <a:pt x="0" y="154592"/>
                  <a:pt x="33211" y="121381"/>
                  <a:pt x="74177" y="121381"/>
                </a:cubicBezTo>
                <a:cubicBezTo>
                  <a:pt x="115143" y="121381"/>
                  <a:pt x="148354" y="154592"/>
                  <a:pt x="148354" y="195558"/>
                </a:cubicBezTo>
                <a:lnTo>
                  <a:pt x="148354" y="198086"/>
                </a:lnTo>
                <a:cubicBezTo>
                  <a:pt x="148354" y="207864"/>
                  <a:pt x="140431" y="215788"/>
                  <a:pt x="130653" y="215788"/>
                </a:cubicBezTo>
                <a:lnTo>
                  <a:pt x="17701" y="215788"/>
                </a:lnTo>
                <a:cubicBezTo>
                  <a:pt x="7923" y="215788"/>
                  <a:pt x="0" y="207864"/>
                  <a:pt x="0" y="198086"/>
                </a:cubicBezTo>
                <a:lnTo>
                  <a:pt x="0" y="195558"/>
                </a:lnTo>
                <a:close/>
                <a:moveTo>
                  <a:pt x="182071" y="26973"/>
                </a:moveTo>
                <a:cubicBezTo>
                  <a:pt x="204401" y="26973"/>
                  <a:pt x="222531" y="45103"/>
                  <a:pt x="222531" y="67434"/>
                </a:cubicBezTo>
                <a:cubicBezTo>
                  <a:pt x="222531" y="89764"/>
                  <a:pt x="204401" y="107894"/>
                  <a:pt x="182071" y="107894"/>
                </a:cubicBezTo>
                <a:cubicBezTo>
                  <a:pt x="159740" y="107894"/>
                  <a:pt x="141611" y="89764"/>
                  <a:pt x="141611" y="67434"/>
                </a:cubicBezTo>
                <a:cubicBezTo>
                  <a:pt x="141611" y="45103"/>
                  <a:pt x="159740" y="26973"/>
                  <a:pt x="182071" y="26973"/>
                </a:cubicBezTo>
                <a:close/>
                <a:moveTo>
                  <a:pt x="182071" y="128124"/>
                </a:moveTo>
                <a:cubicBezTo>
                  <a:pt x="215577" y="128124"/>
                  <a:pt x="242761" y="155308"/>
                  <a:pt x="242761" y="188814"/>
                </a:cubicBezTo>
                <a:lnTo>
                  <a:pt x="242761" y="198255"/>
                </a:lnTo>
                <a:cubicBezTo>
                  <a:pt x="242761" y="207948"/>
                  <a:pt x="234922" y="215788"/>
                  <a:pt x="225228" y="215788"/>
                </a:cubicBezTo>
                <a:lnTo>
                  <a:pt x="164201" y="215788"/>
                </a:lnTo>
                <a:cubicBezTo>
                  <a:pt x="166983" y="210519"/>
                  <a:pt x="168584" y="204492"/>
                  <a:pt x="168584" y="198086"/>
                </a:cubicBezTo>
                <a:lnTo>
                  <a:pt x="168584" y="195558"/>
                </a:lnTo>
                <a:cubicBezTo>
                  <a:pt x="168584" y="173852"/>
                  <a:pt x="161251" y="153875"/>
                  <a:pt x="148986" y="137944"/>
                </a:cubicBezTo>
                <a:cubicBezTo>
                  <a:pt x="158511" y="131748"/>
                  <a:pt x="169891" y="128124"/>
                  <a:pt x="182071" y="128124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7"/>
          <p:cNvSpPr/>
          <p:nvPr/>
        </p:nvSpPr>
        <p:spPr>
          <a:xfrm>
            <a:off x="3300689" y="3134917"/>
            <a:ext cx="2517522" cy="28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9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50+</a:t>
            </a:r>
            <a:endParaRPr sz="1600" b="0" i="0" u="none" strike="noStrike" cap="none"/>
          </a:p>
        </p:txBody>
      </p:sp>
      <p:sp>
        <p:nvSpPr>
          <p:cNvPr id="653" name="Google Shape;653;p17"/>
          <p:cNvSpPr/>
          <p:nvPr/>
        </p:nvSpPr>
        <p:spPr>
          <a:xfrm>
            <a:off x="3323167" y="3422634"/>
            <a:ext cx="2472566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Direct Beneficiaries</a:t>
            </a:r>
            <a:endParaRPr sz="1600" b="0" i="0" u="none" strike="noStrike" cap="none"/>
          </a:p>
        </p:txBody>
      </p:sp>
      <p:sp>
        <p:nvSpPr>
          <p:cNvPr id="654" name="Google Shape;654;p17"/>
          <p:cNvSpPr/>
          <p:nvPr/>
        </p:nvSpPr>
        <p:spPr>
          <a:xfrm>
            <a:off x="362643" y="4007062"/>
            <a:ext cx="5661428" cy="2847198"/>
          </a:xfrm>
          <a:prstGeom prst="roundRect">
            <a:avLst>
              <a:gd name="adj" fmla="val 3789"/>
            </a:avLst>
          </a:pr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262626"/>
              </a:gs>
            </a:gsLst>
            <a:lin ang="2700000" scaled="0"/>
          </a:gradFill>
          <a:ln w="9525" cap="flat" cmpd="sng">
            <a:solidFill>
              <a:srgbClr val="6366F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7"/>
          <p:cNvSpPr/>
          <p:nvPr/>
        </p:nvSpPr>
        <p:spPr>
          <a:xfrm>
            <a:off x="531976" y="4198867"/>
            <a:ext cx="161841" cy="161841"/>
          </a:xfrm>
          <a:custGeom>
            <a:avLst/>
            <a:gdLst/>
            <a:ahLst/>
            <a:cxnLst/>
            <a:rect l="l" t="t" r="r" b="b"/>
            <a:pathLst>
              <a:path w="161841" h="161841" extrusionOk="0">
                <a:moveTo>
                  <a:pt x="20230" y="20230"/>
                </a:moveTo>
                <a:cubicBezTo>
                  <a:pt x="20230" y="14635"/>
                  <a:pt x="15710" y="10115"/>
                  <a:pt x="10115" y="10115"/>
                </a:cubicBezTo>
                <a:cubicBezTo>
                  <a:pt x="4520" y="10115"/>
                  <a:pt x="0" y="14635"/>
                  <a:pt x="0" y="20230"/>
                </a:cubicBezTo>
                <a:lnTo>
                  <a:pt x="0" y="126438"/>
                </a:lnTo>
                <a:cubicBezTo>
                  <a:pt x="0" y="140409"/>
                  <a:pt x="11316" y="151726"/>
                  <a:pt x="25288" y="151726"/>
                </a:cubicBezTo>
                <a:lnTo>
                  <a:pt x="151726" y="151726"/>
                </a:lnTo>
                <a:cubicBezTo>
                  <a:pt x="157321" y="151726"/>
                  <a:pt x="161841" y="147206"/>
                  <a:pt x="161841" y="141611"/>
                </a:cubicBezTo>
                <a:cubicBezTo>
                  <a:pt x="161841" y="136016"/>
                  <a:pt x="157321" y="131496"/>
                  <a:pt x="151726" y="131496"/>
                </a:cubicBezTo>
                <a:lnTo>
                  <a:pt x="25288" y="131496"/>
                </a:lnTo>
                <a:cubicBezTo>
                  <a:pt x="22506" y="131496"/>
                  <a:pt x="20230" y="129220"/>
                  <a:pt x="20230" y="126438"/>
                </a:cubicBezTo>
                <a:lnTo>
                  <a:pt x="20230" y="20230"/>
                </a:lnTo>
                <a:close/>
                <a:moveTo>
                  <a:pt x="148754" y="47604"/>
                </a:moveTo>
                <a:cubicBezTo>
                  <a:pt x="152706" y="43653"/>
                  <a:pt x="152706" y="37236"/>
                  <a:pt x="148754" y="33285"/>
                </a:cubicBezTo>
                <a:cubicBezTo>
                  <a:pt x="144803" y="29334"/>
                  <a:pt x="138386" y="29334"/>
                  <a:pt x="134435" y="33285"/>
                </a:cubicBezTo>
                <a:lnTo>
                  <a:pt x="101150" y="66601"/>
                </a:lnTo>
                <a:lnTo>
                  <a:pt x="83007" y="48489"/>
                </a:lnTo>
                <a:cubicBezTo>
                  <a:pt x="79055" y="44538"/>
                  <a:pt x="72639" y="44538"/>
                  <a:pt x="68687" y="48489"/>
                </a:cubicBezTo>
                <a:lnTo>
                  <a:pt x="38342" y="78834"/>
                </a:lnTo>
                <a:cubicBezTo>
                  <a:pt x="34391" y="82785"/>
                  <a:pt x="34391" y="89202"/>
                  <a:pt x="38342" y="93153"/>
                </a:cubicBezTo>
                <a:cubicBezTo>
                  <a:pt x="42294" y="97104"/>
                  <a:pt x="48710" y="97104"/>
                  <a:pt x="52661" y="93153"/>
                </a:cubicBezTo>
                <a:lnTo>
                  <a:pt x="75863" y="69952"/>
                </a:lnTo>
                <a:lnTo>
                  <a:pt x="94007" y="88096"/>
                </a:lnTo>
                <a:cubicBezTo>
                  <a:pt x="97958" y="92047"/>
                  <a:pt x="104375" y="92047"/>
                  <a:pt x="108326" y="88096"/>
                </a:cubicBezTo>
                <a:lnTo>
                  <a:pt x="148786" y="47636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7"/>
          <p:cNvSpPr/>
          <p:nvPr/>
        </p:nvSpPr>
        <p:spPr>
          <a:xfrm>
            <a:off x="716295" y="4153912"/>
            <a:ext cx="5241841" cy="25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4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Outcomes (What Changes)</a:t>
            </a:r>
            <a:endParaRPr sz="1600" b="0" i="0" u="none" strike="noStrike" cap="none"/>
          </a:p>
        </p:txBody>
      </p:sp>
      <p:sp>
        <p:nvSpPr>
          <p:cNvPr id="657" name="Google Shape;657;p17"/>
          <p:cNvSpPr/>
          <p:nvPr/>
        </p:nvSpPr>
        <p:spPr>
          <a:xfrm>
            <a:off x="509499" y="4513558"/>
            <a:ext cx="5367717" cy="683327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7"/>
          <p:cNvSpPr/>
          <p:nvPr/>
        </p:nvSpPr>
        <p:spPr>
          <a:xfrm>
            <a:off x="617392" y="4639434"/>
            <a:ext cx="1780248" cy="21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3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Self-Advocacy Confidence</a:t>
            </a:r>
            <a:endParaRPr sz="1600" b="0" i="0" u="none" strike="noStrike" cap="none"/>
          </a:p>
        </p:txBody>
      </p:sp>
      <p:sp>
        <p:nvSpPr>
          <p:cNvPr id="659" name="Google Shape;659;p17"/>
          <p:cNvSpPr/>
          <p:nvPr/>
        </p:nvSpPr>
        <p:spPr>
          <a:xfrm>
            <a:off x="5400497" y="4621451"/>
            <a:ext cx="458549" cy="25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6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80%</a:t>
            </a:r>
            <a:endParaRPr sz="1600" b="0" i="0" u="none" strike="noStrike" cap="none"/>
          </a:p>
        </p:txBody>
      </p:sp>
      <p:sp>
        <p:nvSpPr>
          <p:cNvPr id="660" name="Google Shape;660;p17"/>
          <p:cNvSpPr/>
          <p:nvPr/>
        </p:nvSpPr>
        <p:spPr>
          <a:xfrm>
            <a:off x="617392" y="4909168"/>
            <a:ext cx="5214867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of workshop participants report increased confidence</a:t>
            </a:r>
            <a:endParaRPr sz="1600" b="0" i="0" u="none" strike="noStrike" cap="none"/>
          </a:p>
        </p:txBody>
      </p:sp>
      <p:sp>
        <p:nvSpPr>
          <p:cNvPr id="661" name="Google Shape;661;p17"/>
          <p:cNvSpPr/>
          <p:nvPr/>
        </p:nvSpPr>
        <p:spPr>
          <a:xfrm>
            <a:off x="509499" y="5268814"/>
            <a:ext cx="5367717" cy="683327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17"/>
          <p:cNvSpPr/>
          <p:nvPr/>
        </p:nvSpPr>
        <p:spPr>
          <a:xfrm>
            <a:off x="617392" y="5394690"/>
            <a:ext cx="2472566" cy="21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3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Successful Accommodation Requests</a:t>
            </a:r>
            <a:endParaRPr sz="1600" b="0" i="0" u="none" strike="noStrike" cap="none"/>
          </a:p>
        </p:txBody>
      </p:sp>
      <p:sp>
        <p:nvSpPr>
          <p:cNvPr id="663" name="Google Shape;663;p17"/>
          <p:cNvSpPr/>
          <p:nvPr/>
        </p:nvSpPr>
        <p:spPr>
          <a:xfrm>
            <a:off x="5403400" y="5376708"/>
            <a:ext cx="458549" cy="25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6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60%</a:t>
            </a:r>
            <a:endParaRPr sz="1600" b="0" i="0" u="none" strike="noStrike" cap="none"/>
          </a:p>
        </p:txBody>
      </p:sp>
      <p:sp>
        <p:nvSpPr>
          <p:cNvPr id="664" name="Google Shape;664;p17"/>
          <p:cNvSpPr/>
          <p:nvPr/>
        </p:nvSpPr>
        <p:spPr>
          <a:xfrm>
            <a:off x="617392" y="5664425"/>
            <a:ext cx="5214867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of toolkit users successfully request accommodations</a:t>
            </a:r>
            <a:endParaRPr sz="1600" b="0" i="0" u="none" strike="noStrike" cap="none"/>
          </a:p>
        </p:txBody>
      </p:sp>
      <p:sp>
        <p:nvSpPr>
          <p:cNvPr id="665" name="Google Shape;665;p17"/>
          <p:cNvSpPr/>
          <p:nvPr/>
        </p:nvSpPr>
        <p:spPr>
          <a:xfrm>
            <a:off x="509499" y="6024071"/>
            <a:ext cx="5367717" cy="683327"/>
          </a:xfrm>
          <a:prstGeom prst="roundRect">
            <a:avLst>
              <a:gd name="adj" fmla="val 10526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7"/>
          <p:cNvSpPr/>
          <p:nvPr/>
        </p:nvSpPr>
        <p:spPr>
          <a:xfrm>
            <a:off x="617392" y="6149947"/>
            <a:ext cx="1645381" cy="21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3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Institutional Partnerships</a:t>
            </a:r>
            <a:endParaRPr sz="1600" b="0" i="0" u="none" strike="noStrike" cap="none"/>
          </a:p>
        </p:txBody>
      </p:sp>
      <p:sp>
        <p:nvSpPr>
          <p:cNvPr id="667" name="Google Shape;667;p17"/>
          <p:cNvSpPr/>
          <p:nvPr/>
        </p:nvSpPr>
        <p:spPr>
          <a:xfrm>
            <a:off x="5562525" y="6131965"/>
            <a:ext cx="296708" cy="25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6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3+</a:t>
            </a:r>
            <a:endParaRPr sz="1600" b="0" i="0" u="none" strike="noStrike" cap="none"/>
          </a:p>
        </p:txBody>
      </p:sp>
      <p:sp>
        <p:nvSpPr>
          <p:cNvPr id="668" name="Google Shape;668;p17"/>
          <p:cNvSpPr/>
          <p:nvPr/>
        </p:nvSpPr>
        <p:spPr>
          <a:xfrm>
            <a:off x="617392" y="6419681"/>
            <a:ext cx="5214867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partners commit to ongoing collaboration</a:t>
            </a:r>
            <a:endParaRPr sz="1600" b="0" i="0" u="none" strike="noStrike" cap="none"/>
          </a:p>
        </p:txBody>
      </p:sp>
      <p:sp>
        <p:nvSpPr>
          <p:cNvPr id="669" name="Google Shape;669;p17"/>
          <p:cNvSpPr/>
          <p:nvPr/>
        </p:nvSpPr>
        <p:spPr>
          <a:xfrm>
            <a:off x="6172893" y="1153864"/>
            <a:ext cx="5661428" cy="5697392"/>
          </a:xfrm>
          <a:prstGeom prst="roundRect">
            <a:avLst>
              <a:gd name="adj" fmla="val 1906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7"/>
          <p:cNvSpPr/>
          <p:nvPr/>
        </p:nvSpPr>
        <p:spPr>
          <a:xfrm>
            <a:off x="6342227" y="1345678"/>
            <a:ext cx="161841" cy="161841"/>
          </a:xfrm>
          <a:custGeom>
            <a:avLst/>
            <a:gdLst/>
            <a:ahLst/>
            <a:cxnLst/>
            <a:rect l="l" t="t" r="r" b="b"/>
            <a:pathLst>
              <a:path w="161841" h="161841" extrusionOk="0">
                <a:moveTo>
                  <a:pt x="0" y="80920"/>
                </a:moveTo>
                <a:cubicBezTo>
                  <a:pt x="0" y="36259"/>
                  <a:pt x="36259" y="0"/>
                  <a:pt x="80920" y="0"/>
                </a:cubicBezTo>
                <a:cubicBezTo>
                  <a:pt x="125582" y="0"/>
                  <a:pt x="161841" y="36259"/>
                  <a:pt x="161841" y="80920"/>
                </a:cubicBezTo>
                <a:cubicBezTo>
                  <a:pt x="161841" y="125582"/>
                  <a:pt x="125582" y="161841"/>
                  <a:pt x="80920" y="161841"/>
                </a:cubicBezTo>
                <a:cubicBezTo>
                  <a:pt x="36259" y="161841"/>
                  <a:pt x="0" y="125582"/>
                  <a:pt x="0" y="80920"/>
                </a:cubicBezTo>
                <a:close/>
                <a:moveTo>
                  <a:pt x="91035" y="30345"/>
                </a:moveTo>
                <a:cubicBezTo>
                  <a:pt x="91035" y="24762"/>
                  <a:pt x="86503" y="20230"/>
                  <a:pt x="80920" y="20230"/>
                </a:cubicBezTo>
                <a:cubicBezTo>
                  <a:pt x="75338" y="20230"/>
                  <a:pt x="70805" y="24762"/>
                  <a:pt x="70805" y="30345"/>
                </a:cubicBezTo>
                <a:cubicBezTo>
                  <a:pt x="70805" y="35928"/>
                  <a:pt x="75338" y="40460"/>
                  <a:pt x="80920" y="40460"/>
                </a:cubicBezTo>
                <a:cubicBezTo>
                  <a:pt x="86503" y="40460"/>
                  <a:pt x="91035" y="35928"/>
                  <a:pt x="91035" y="30345"/>
                </a:cubicBezTo>
                <a:close/>
                <a:moveTo>
                  <a:pt x="80920" y="131496"/>
                </a:moveTo>
                <a:cubicBezTo>
                  <a:pt x="92079" y="131496"/>
                  <a:pt x="101150" y="122424"/>
                  <a:pt x="101150" y="111265"/>
                </a:cubicBezTo>
                <a:cubicBezTo>
                  <a:pt x="101150" y="106145"/>
                  <a:pt x="99254" y="101435"/>
                  <a:pt x="96093" y="97895"/>
                </a:cubicBezTo>
                <a:lnTo>
                  <a:pt x="118062" y="53989"/>
                </a:lnTo>
                <a:cubicBezTo>
                  <a:pt x="119926" y="50228"/>
                  <a:pt x="118409" y="45676"/>
                  <a:pt x="114679" y="43811"/>
                </a:cubicBezTo>
                <a:cubicBezTo>
                  <a:pt x="110949" y="41946"/>
                  <a:pt x="106366" y="43463"/>
                  <a:pt x="104501" y="47193"/>
                </a:cubicBezTo>
                <a:lnTo>
                  <a:pt x="82532" y="91099"/>
                </a:lnTo>
                <a:cubicBezTo>
                  <a:pt x="81995" y="91067"/>
                  <a:pt x="81458" y="91035"/>
                  <a:pt x="80920" y="91035"/>
                </a:cubicBezTo>
                <a:cubicBezTo>
                  <a:pt x="69762" y="91035"/>
                  <a:pt x="60690" y="100107"/>
                  <a:pt x="60690" y="111265"/>
                </a:cubicBezTo>
                <a:cubicBezTo>
                  <a:pt x="60690" y="122424"/>
                  <a:pt x="69762" y="131496"/>
                  <a:pt x="80920" y="131496"/>
                </a:cubicBezTo>
                <a:close/>
                <a:moveTo>
                  <a:pt x="55633" y="45518"/>
                </a:moveTo>
                <a:cubicBezTo>
                  <a:pt x="55633" y="39935"/>
                  <a:pt x="51100" y="35403"/>
                  <a:pt x="45518" y="35403"/>
                </a:cubicBezTo>
                <a:cubicBezTo>
                  <a:pt x="39935" y="35403"/>
                  <a:pt x="35403" y="39935"/>
                  <a:pt x="35403" y="45518"/>
                </a:cubicBezTo>
                <a:cubicBezTo>
                  <a:pt x="35403" y="51100"/>
                  <a:pt x="39935" y="55633"/>
                  <a:pt x="45518" y="55633"/>
                </a:cubicBezTo>
                <a:cubicBezTo>
                  <a:pt x="51100" y="55633"/>
                  <a:pt x="55633" y="51100"/>
                  <a:pt x="55633" y="45518"/>
                </a:cubicBezTo>
                <a:close/>
                <a:moveTo>
                  <a:pt x="30345" y="91035"/>
                </a:moveTo>
                <a:cubicBezTo>
                  <a:pt x="35928" y="91035"/>
                  <a:pt x="40460" y="86503"/>
                  <a:pt x="40460" y="80920"/>
                </a:cubicBezTo>
                <a:cubicBezTo>
                  <a:pt x="40460" y="75338"/>
                  <a:pt x="35928" y="70805"/>
                  <a:pt x="30345" y="70805"/>
                </a:cubicBezTo>
                <a:cubicBezTo>
                  <a:pt x="24762" y="70805"/>
                  <a:pt x="20230" y="75338"/>
                  <a:pt x="20230" y="80920"/>
                </a:cubicBezTo>
                <a:cubicBezTo>
                  <a:pt x="20230" y="86503"/>
                  <a:pt x="24762" y="91035"/>
                  <a:pt x="30345" y="91035"/>
                </a:cubicBezTo>
                <a:close/>
                <a:moveTo>
                  <a:pt x="141611" y="80920"/>
                </a:moveTo>
                <a:cubicBezTo>
                  <a:pt x="141611" y="75338"/>
                  <a:pt x="137078" y="70805"/>
                  <a:pt x="131496" y="70805"/>
                </a:cubicBezTo>
                <a:cubicBezTo>
                  <a:pt x="125913" y="70805"/>
                  <a:pt x="121381" y="75338"/>
                  <a:pt x="121381" y="80920"/>
                </a:cubicBezTo>
                <a:cubicBezTo>
                  <a:pt x="121381" y="86503"/>
                  <a:pt x="125913" y="91035"/>
                  <a:pt x="131496" y="91035"/>
                </a:cubicBezTo>
                <a:cubicBezTo>
                  <a:pt x="137078" y="91035"/>
                  <a:pt x="141611" y="86503"/>
                  <a:pt x="141611" y="8092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7"/>
          <p:cNvSpPr/>
          <p:nvPr/>
        </p:nvSpPr>
        <p:spPr>
          <a:xfrm>
            <a:off x="6526545" y="1300723"/>
            <a:ext cx="5241841" cy="25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4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Evaluation Indicators</a:t>
            </a:r>
            <a:endParaRPr sz="1600" b="0" i="0" u="none" strike="noStrike" cap="none"/>
          </a:p>
        </p:txBody>
      </p:sp>
      <p:sp>
        <p:nvSpPr>
          <p:cNvPr id="672" name="Google Shape;672;p17"/>
          <p:cNvSpPr/>
          <p:nvPr/>
        </p:nvSpPr>
        <p:spPr>
          <a:xfrm>
            <a:off x="6319749" y="1660369"/>
            <a:ext cx="5367717" cy="1114903"/>
          </a:xfrm>
          <a:prstGeom prst="roundRect">
            <a:avLst>
              <a:gd name="adj" fmla="val 6452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6427643" y="1804227"/>
            <a:ext cx="179823" cy="143858"/>
          </a:xfrm>
          <a:custGeom>
            <a:avLst/>
            <a:gdLst/>
            <a:ahLst/>
            <a:cxnLst/>
            <a:rect l="l" t="t" r="r" b="b"/>
            <a:pathLst>
              <a:path w="179823" h="143858" extrusionOk="0">
                <a:moveTo>
                  <a:pt x="89912" y="4496"/>
                </a:moveTo>
                <a:cubicBezTo>
                  <a:pt x="106039" y="4496"/>
                  <a:pt x="119133" y="17589"/>
                  <a:pt x="119133" y="33717"/>
                </a:cubicBezTo>
                <a:cubicBezTo>
                  <a:pt x="119133" y="49844"/>
                  <a:pt x="106039" y="62938"/>
                  <a:pt x="89912" y="62938"/>
                </a:cubicBezTo>
                <a:cubicBezTo>
                  <a:pt x="73784" y="62938"/>
                  <a:pt x="60690" y="49844"/>
                  <a:pt x="60690" y="33717"/>
                </a:cubicBezTo>
                <a:cubicBezTo>
                  <a:pt x="60690" y="17589"/>
                  <a:pt x="73784" y="4496"/>
                  <a:pt x="89912" y="4496"/>
                </a:cubicBezTo>
                <a:close/>
                <a:moveTo>
                  <a:pt x="26973" y="24726"/>
                </a:moveTo>
                <a:cubicBezTo>
                  <a:pt x="38139" y="24726"/>
                  <a:pt x="47204" y="33790"/>
                  <a:pt x="47204" y="44956"/>
                </a:cubicBezTo>
                <a:cubicBezTo>
                  <a:pt x="47204" y="56121"/>
                  <a:pt x="38139" y="65186"/>
                  <a:pt x="26973" y="65186"/>
                </a:cubicBezTo>
                <a:cubicBezTo>
                  <a:pt x="15808" y="65186"/>
                  <a:pt x="6743" y="56121"/>
                  <a:pt x="6743" y="44956"/>
                </a:cubicBezTo>
                <a:cubicBezTo>
                  <a:pt x="6743" y="33790"/>
                  <a:pt x="15808" y="24726"/>
                  <a:pt x="26973" y="24726"/>
                </a:cubicBezTo>
                <a:close/>
                <a:moveTo>
                  <a:pt x="0" y="116885"/>
                </a:moveTo>
                <a:cubicBezTo>
                  <a:pt x="0" y="97020"/>
                  <a:pt x="16100" y="80920"/>
                  <a:pt x="35965" y="80920"/>
                </a:cubicBezTo>
                <a:cubicBezTo>
                  <a:pt x="39561" y="80920"/>
                  <a:pt x="43045" y="81454"/>
                  <a:pt x="46333" y="82438"/>
                </a:cubicBezTo>
                <a:cubicBezTo>
                  <a:pt x="37088" y="92777"/>
                  <a:pt x="31469" y="106433"/>
                  <a:pt x="31469" y="121381"/>
                </a:cubicBezTo>
                <a:lnTo>
                  <a:pt x="31469" y="125876"/>
                </a:lnTo>
                <a:cubicBezTo>
                  <a:pt x="31469" y="129079"/>
                  <a:pt x="32143" y="132114"/>
                  <a:pt x="33352" y="134867"/>
                </a:cubicBezTo>
                <a:lnTo>
                  <a:pt x="8991" y="134867"/>
                </a:lnTo>
                <a:cubicBezTo>
                  <a:pt x="4018" y="134867"/>
                  <a:pt x="0" y="130849"/>
                  <a:pt x="0" y="125876"/>
                </a:cubicBezTo>
                <a:lnTo>
                  <a:pt x="0" y="116885"/>
                </a:lnTo>
                <a:close/>
                <a:moveTo>
                  <a:pt x="146471" y="134867"/>
                </a:moveTo>
                <a:cubicBezTo>
                  <a:pt x="147680" y="132114"/>
                  <a:pt x="148354" y="129079"/>
                  <a:pt x="148354" y="125876"/>
                </a:cubicBezTo>
                <a:lnTo>
                  <a:pt x="148354" y="121381"/>
                </a:lnTo>
                <a:cubicBezTo>
                  <a:pt x="148354" y="106433"/>
                  <a:pt x="142735" y="92777"/>
                  <a:pt x="133490" y="82438"/>
                </a:cubicBezTo>
                <a:cubicBezTo>
                  <a:pt x="136778" y="81454"/>
                  <a:pt x="140262" y="80920"/>
                  <a:pt x="143858" y="80920"/>
                </a:cubicBezTo>
                <a:cubicBezTo>
                  <a:pt x="163723" y="80920"/>
                  <a:pt x="179823" y="97020"/>
                  <a:pt x="179823" y="116885"/>
                </a:cubicBezTo>
                <a:lnTo>
                  <a:pt x="179823" y="125876"/>
                </a:lnTo>
                <a:cubicBezTo>
                  <a:pt x="179823" y="130849"/>
                  <a:pt x="175805" y="134867"/>
                  <a:pt x="170832" y="134867"/>
                </a:cubicBezTo>
                <a:lnTo>
                  <a:pt x="146471" y="134867"/>
                </a:lnTo>
                <a:close/>
                <a:moveTo>
                  <a:pt x="132619" y="44956"/>
                </a:moveTo>
                <a:cubicBezTo>
                  <a:pt x="132619" y="33790"/>
                  <a:pt x="141684" y="24726"/>
                  <a:pt x="152850" y="24726"/>
                </a:cubicBezTo>
                <a:cubicBezTo>
                  <a:pt x="164015" y="24726"/>
                  <a:pt x="173080" y="33790"/>
                  <a:pt x="173080" y="44956"/>
                </a:cubicBezTo>
                <a:cubicBezTo>
                  <a:pt x="173080" y="56121"/>
                  <a:pt x="164015" y="65186"/>
                  <a:pt x="152850" y="65186"/>
                </a:cubicBezTo>
                <a:cubicBezTo>
                  <a:pt x="141684" y="65186"/>
                  <a:pt x="132619" y="56121"/>
                  <a:pt x="132619" y="44956"/>
                </a:cubicBezTo>
                <a:close/>
                <a:moveTo>
                  <a:pt x="44956" y="121381"/>
                </a:moveTo>
                <a:cubicBezTo>
                  <a:pt x="44956" y="96542"/>
                  <a:pt x="65073" y="76425"/>
                  <a:pt x="89912" y="76425"/>
                </a:cubicBezTo>
                <a:cubicBezTo>
                  <a:pt x="114750" y="76425"/>
                  <a:pt x="134867" y="96542"/>
                  <a:pt x="134867" y="121381"/>
                </a:cubicBezTo>
                <a:lnTo>
                  <a:pt x="134867" y="125876"/>
                </a:lnTo>
                <a:cubicBezTo>
                  <a:pt x="134867" y="130849"/>
                  <a:pt x="130849" y="134867"/>
                  <a:pt x="125876" y="134867"/>
                </a:cubicBezTo>
                <a:lnTo>
                  <a:pt x="53947" y="134867"/>
                </a:lnTo>
                <a:cubicBezTo>
                  <a:pt x="48974" y="134867"/>
                  <a:pt x="44956" y="130849"/>
                  <a:pt x="44956" y="125876"/>
                </a:cubicBezTo>
                <a:lnTo>
                  <a:pt x="44956" y="12138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17"/>
          <p:cNvSpPr/>
          <p:nvPr/>
        </p:nvSpPr>
        <p:spPr>
          <a:xfrm>
            <a:off x="6679395" y="1768263"/>
            <a:ext cx="1384637" cy="21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3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Participation Metrics</a:t>
            </a:r>
            <a:endParaRPr sz="1600" b="0" i="0" u="none" strike="noStrike" cap="none"/>
          </a:p>
        </p:txBody>
      </p:sp>
      <p:sp>
        <p:nvSpPr>
          <p:cNvPr id="675" name="Google Shape;675;p17"/>
          <p:cNvSpPr/>
          <p:nvPr/>
        </p:nvSpPr>
        <p:spPr>
          <a:xfrm>
            <a:off x="6427643" y="2055979"/>
            <a:ext cx="1285735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Workshop attendance</a:t>
            </a:r>
            <a:endParaRPr sz="1600" b="0" i="0" u="none" strike="noStrike" cap="none"/>
          </a:p>
        </p:txBody>
      </p:sp>
      <p:sp>
        <p:nvSpPr>
          <p:cNvPr id="676" name="Google Shape;676;p17"/>
          <p:cNvSpPr/>
          <p:nvPr/>
        </p:nvSpPr>
        <p:spPr>
          <a:xfrm>
            <a:off x="10365298" y="2055979"/>
            <a:ext cx="1276743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Target: 15-20/session</a:t>
            </a:r>
            <a:endParaRPr sz="1600" b="0" i="0" u="none" strike="noStrike" cap="none"/>
          </a:p>
        </p:txBody>
      </p:sp>
      <p:sp>
        <p:nvSpPr>
          <p:cNvPr id="677" name="Google Shape;677;p17"/>
          <p:cNvSpPr/>
          <p:nvPr/>
        </p:nvSpPr>
        <p:spPr>
          <a:xfrm>
            <a:off x="6427643" y="2271767"/>
            <a:ext cx="1078938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Toolkit downloads</a:t>
            </a:r>
            <a:endParaRPr sz="1600" b="0" i="0" u="none" strike="noStrike" cap="none"/>
          </a:p>
        </p:txBody>
      </p:sp>
      <p:sp>
        <p:nvSpPr>
          <p:cNvPr id="678" name="Google Shape;678;p17"/>
          <p:cNvSpPr/>
          <p:nvPr/>
        </p:nvSpPr>
        <p:spPr>
          <a:xfrm>
            <a:off x="10877513" y="2271767"/>
            <a:ext cx="764248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Target: 100+</a:t>
            </a:r>
            <a:endParaRPr sz="1600" b="0" i="0" u="none" strike="noStrike" cap="none"/>
          </a:p>
        </p:txBody>
      </p:sp>
      <p:sp>
        <p:nvSpPr>
          <p:cNvPr id="679" name="Google Shape;679;p17"/>
          <p:cNvSpPr/>
          <p:nvPr/>
        </p:nvSpPr>
        <p:spPr>
          <a:xfrm>
            <a:off x="6427643" y="2487555"/>
            <a:ext cx="854159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Platform visits</a:t>
            </a:r>
            <a:endParaRPr sz="1600" b="0" i="0" u="none" strike="noStrike" cap="none"/>
          </a:p>
        </p:txBody>
      </p:sp>
      <p:sp>
        <p:nvSpPr>
          <p:cNvPr id="680" name="Google Shape;680;p17"/>
          <p:cNvSpPr/>
          <p:nvPr/>
        </p:nvSpPr>
        <p:spPr>
          <a:xfrm>
            <a:off x="10854754" y="2487555"/>
            <a:ext cx="791221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Target: 200+</a:t>
            </a:r>
            <a:endParaRPr sz="1600" b="0" i="0" u="none" strike="noStrike" cap="none"/>
          </a:p>
        </p:txBody>
      </p:sp>
      <p:sp>
        <p:nvSpPr>
          <p:cNvPr id="681" name="Google Shape;681;p17"/>
          <p:cNvSpPr/>
          <p:nvPr/>
        </p:nvSpPr>
        <p:spPr>
          <a:xfrm>
            <a:off x="6319749" y="2847201"/>
            <a:ext cx="5367717" cy="899115"/>
          </a:xfrm>
          <a:prstGeom prst="roundRect">
            <a:avLst>
              <a:gd name="adj" fmla="val 8000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17"/>
          <p:cNvSpPr/>
          <p:nvPr/>
        </p:nvSpPr>
        <p:spPr>
          <a:xfrm>
            <a:off x="6436634" y="2991059"/>
            <a:ext cx="161841" cy="143858"/>
          </a:xfrm>
          <a:custGeom>
            <a:avLst/>
            <a:gdLst/>
            <a:ahLst/>
            <a:cxnLst/>
            <a:rect l="l" t="t" r="r" b="b"/>
            <a:pathLst>
              <a:path w="161841" h="143858" extrusionOk="0">
                <a:moveTo>
                  <a:pt x="86961" y="-5310"/>
                </a:moveTo>
                <a:cubicBezTo>
                  <a:pt x="85809" y="-7558"/>
                  <a:pt x="83477" y="-8991"/>
                  <a:pt x="80948" y="-8991"/>
                </a:cubicBezTo>
                <a:cubicBezTo>
                  <a:pt x="78420" y="-8991"/>
                  <a:pt x="76088" y="-7558"/>
                  <a:pt x="74936" y="-5310"/>
                </a:cubicBezTo>
                <a:lnTo>
                  <a:pt x="54256" y="35206"/>
                </a:lnTo>
                <a:lnTo>
                  <a:pt x="9328" y="42343"/>
                </a:lnTo>
                <a:cubicBezTo>
                  <a:pt x="6828" y="42736"/>
                  <a:pt x="4748" y="44506"/>
                  <a:pt x="3962" y="46923"/>
                </a:cubicBezTo>
                <a:cubicBezTo>
                  <a:pt x="3175" y="49339"/>
                  <a:pt x="3821" y="51980"/>
                  <a:pt x="5591" y="53778"/>
                </a:cubicBezTo>
                <a:lnTo>
                  <a:pt x="37735" y="85950"/>
                </a:lnTo>
                <a:lnTo>
                  <a:pt x="30654" y="130877"/>
                </a:lnTo>
                <a:cubicBezTo>
                  <a:pt x="30261" y="133378"/>
                  <a:pt x="31300" y="135907"/>
                  <a:pt x="33352" y="137396"/>
                </a:cubicBezTo>
                <a:cubicBezTo>
                  <a:pt x="35403" y="138885"/>
                  <a:pt x="38100" y="139110"/>
                  <a:pt x="40376" y="137958"/>
                </a:cubicBezTo>
                <a:lnTo>
                  <a:pt x="80948" y="117335"/>
                </a:lnTo>
                <a:lnTo>
                  <a:pt x="121493" y="137958"/>
                </a:lnTo>
                <a:cubicBezTo>
                  <a:pt x="123741" y="139110"/>
                  <a:pt x="126466" y="138885"/>
                  <a:pt x="128517" y="137396"/>
                </a:cubicBezTo>
                <a:cubicBezTo>
                  <a:pt x="130568" y="135907"/>
                  <a:pt x="131608" y="133406"/>
                  <a:pt x="131215" y="130877"/>
                </a:cubicBezTo>
                <a:lnTo>
                  <a:pt x="124106" y="85950"/>
                </a:lnTo>
                <a:lnTo>
                  <a:pt x="156249" y="53778"/>
                </a:lnTo>
                <a:cubicBezTo>
                  <a:pt x="158048" y="51980"/>
                  <a:pt x="158666" y="49339"/>
                  <a:pt x="157879" y="46923"/>
                </a:cubicBezTo>
                <a:cubicBezTo>
                  <a:pt x="157092" y="44506"/>
                  <a:pt x="155041" y="42736"/>
                  <a:pt x="152512" y="42343"/>
                </a:cubicBezTo>
                <a:lnTo>
                  <a:pt x="107613" y="35206"/>
                </a:lnTo>
                <a:lnTo>
                  <a:pt x="86961" y="-531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7"/>
          <p:cNvSpPr/>
          <p:nvPr/>
        </p:nvSpPr>
        <p:spPr>
          <a:xfrm>
            <a:off x="6679395" y="2955094"/>
            <a:ext cx="1168850" cy="21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3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Feedback Scores</a:t>
            </a:r>
            <a:endParaRPr sz="1600" b="0" i="0" u="none" strike="noStrike" cap="none"/>
          </a:p>
        </p:txBody>
      </p:sp>
      <p:sp>
        <p:nvSpPr>
          <p:cNvPr id="684" name="Google Shape;684;p17"/>
          <p:cNvSpPr/>
          <p:nvPr/>
        </p:nvSpPr>
        <p:spPr>
          <a:xfrm>
            <a:off x="6427643" y="3242811"/>
            <a:ext cx="1726301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Pre/post self-efficacy surveys</a:t>
            </a:r>
            <a:endParaRPr sz="1600" b="0" i="0" u="none" strike="noStrike" cap="none"/>
          </a:p>
        </p:txBody>
      </p:sp>
      <p:sp>
        <p:nvSpPr>
          <p:cNvPr id="685" name="Google Shape;685;p17"/>
          <p:cNvSpPr/>
          <p:nvPr/>
        </p:nvSpPr>
        <p:spPr>
          <a:xfrm>
            <a:off x="10490706" y="3242811"/>
            <a:ext cx="1150867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+20% improvement</a:t>
            </a:r>
            <a:endParaRPr sz="1600" b="0" i="0" u="none" strike="noStrike" cap="none"/>
          </a:p>
        </p:txBody>
      </p:sp>
      <p:sp>
        <p:nvSpPr>
          <p:cNvPr id="686" name="Google Shape;686;p17"/>
          <p:cNvSpPr/>
          <p:nvPr/>
        </p:nvSpPr>
        <p:spPr>
          <a:xfrm>
            <a:off x="6427643" y="3458599"/>
            <a:ext cx="1132885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Satisfaction ratings</a:t>
            </a:r>
            <a:endParaRPr sz="1600" b="0" i="0" u="none" strike="noStrike" cap="none"/>
          </a:p>
        </p:txBody>
      </p:sp>
      <p:sp>
        <p:nvSpPr>
          <p:cNvPr id="687" name="Google Shape;687;p17"/>
          <p:cNvSpPr/>
          <p:nvPr/>
        </p:nvSpPr>
        <p:spPr>
          <a:xfrm>
            <a:off x="10794532" y="3458599"/>
            <a:ext cx="845168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Target: 4.2/5+</a:t>
            </a:r>
            <a:endParaRPr sz="1600" b="0" i="0" u="none" strike="noStrike" cap="none"/>
          </a:p>
        </p:txBody>
      </p:sp>
      <p:sp>
        <p:nvSpPr>
          <p:cNvPr id="688" name="Google Shape;688;p17"/>
          <p:cNvSpPr/>
          <p:nvPr/>
        </p:nvSpPr>
        <p:spPr>
          <a:xfrm>
            <a:off x="6319749" y="3818245"/>
            <a:ext cx="5367717" cy="899115"/>
          </a:xfrm>
          <a:prstGeom prst="roundRect">
            <a:avLst>
              <a:gd name="adj" fmla="val 8000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7"/>
          <p:cNvSpPr/>
          <p:nvPr/>
        </p:nvSpPr>
        <p:spPr>
          <a:xfrm>
            <a:off x="6445625" y="3962103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 extrusionOk="0">
                <a:moveTo>
                  <a:pt x="8991" y="8991"/>
                </a:moveTo>
                <a:cubicBezTo>
                  <a:pt x="13964" y="8991"/>
                  <a:pt x="17982" y="13009"/>
                  <a:pt x="17982" y="17982"/>
                </a:cubicBezTo>
                <a:lnTo>
                  <a:pt x="17982" y="112389"/>
                </a:lnTo>
                <a:cubicBezTo>
                  <a:pt x="17982" y="114862"/>
                  <a:pt x="20005" y="116885"/>
                  <a:pt x="22478" y="116885"/>
                </a:cubicBezTo>
                <a:lnTo>
                  <a:pt x="134867" y="116885"/>
                </a:lnTo>
                <a:cubicBezTo>
                  <a:pt x="139840" y="116885"/>
                  <a:pt x="143858" y="120903"/>
                  <a:pt x="143858" y="125876"/>
                </a:cubicBezTo>
                <a:cubicBezTo>
                  <a:pt x="143858" y="130849"/>
                  <a:pt x="139840" y="134867"/>
                  <a:pt x="134867" y="134867"/>
                </a:cubicBezTo>
                <a:lnTo>
                  <a:pt x="22478" y="134867"/>
                </a:lnTo>
                <a:cubicBezTo>
                  <a:pt x="10059" y="134867"/>
                  <a:pt x="0" y="124808"/>
                  <a:pt x="0" y="112389"/>
                </a:cubicBezTo>
                <a:lnTo>
                  <a:pt x="0" y="17982"/>
                </a:lnTo>
                <a:cubicBezTo>
                  <a:pt x="0" y="13009"/>
                  <a:pt x="4018" y="8991"/>
                  <a:pt x="8991" y="8991"/>
                </a:cubicBezTo>
                <a:close/>
                <a:moveTo>
                  <a:pt x="35965" y="26973"/>
                </a:moveTo>
                <a:cubicBezTo>
                  <a:pt x="35965" y="22000"/>
                  <a:pt x="39983" y="17982"/>
                  <a:pt x="44956" y="17982"/>
                </a:cubicBezTo>
                <a:lnTo>
                  <a:pt x="98903" y="17982"/>
                </a:lnTo>
                <a:cubicBezTo>
                  <a:pt x="103876" y="17982"/>
                  <a:pt x="107894" y="22000"/>
                  <a:pt x="107894" y="26973"/>
                </a:cubicBezTo>
                <a:cubicBezTo>
                  <a:pt x="107894" y="31947"/>
                  <a:pt x="103876" y="35965"/>
                  <a:pt x="98903" y="35965"/>
                </a:cubicBezTo>
                <a:lnTo>
                  <a:pt x="44956" y="35965"/>
                </a:lnTo>
                <a:cubicBezTo>
                  <a:pt x="39983" y="35965"/>
                  <a:pt x="35965" y="31947"/>
                  <a:pt x="35965" y="26973"/>
                </a:cubicBezTo>
                <a:close/>
                <a:moveTo>
                  <a:pt x="44956" y="49451"/>
                </a:moveTo>
                <a:lnTo>
                  <a:pt x="80920" y="49451"/>
                </a:lnTo>
                <a:cubicBezTo>
                  <a:pt x="85894" y="49451"/>
                  <a:pt x="89912" y="53469"/>
                  <a:pt x="89912" y="58442"/>
                </a:cubicBezTo>
                <a:cubicBezTo>
                  <a:pt x="89912" y="63416"/>
                  <a:pt x="85894" y="67434"/>
                  <a:pt x="80920" y="67434"/>
                </a:cubicBezTo>
                <a:lnTo>
                  <a:pt x="44956" y="67434"/>
                </a:lnTo>
                <a:cubicBezTo>
                  <a:pt x="39983" y="67434"/>
                  <a:pt x="35965" y="63416"/>
                  <a:pt x="35965" y="58442"/>
                </a:cubicBezTo>
                <a:cubicBezTo>
                  <a:pt x="35965" y="53469"/>
                  <a:pt x="39983" y="49451"/>
                  <a:pt x="44956" y="49451"/>
                </a:cubicBezTo>
                <a:close/>
                <a:moveTo>
                  <a:pt x="44956" y="80920"/>
                </a:moveTo>
                <a:lnTo>
                  <a:pt x="116885" y="80920"/>
                </a:lnTo>
                <a:cubicBezTo>
                  <a:pt x="121858" y="80920"/>
                  <a:pt x="125876" y="84938"/>
                  <a:pt x="125876" y="89912"/>
                </a:cubicBezTo>
                <a:cubicBezTo>
                  <a:pt x="125876" y="94885"/>
                  <a:pt x="121858" y="98903"/>
                  <a:pt x="116885" y="98903"/>
                </a:cubicBezTo>
                <a:lnTo>
                  <a:pt x="44956" y="98903"/>
                </a:lnTo>
                <a:cubicBezTo>
                  <a:pt x="39983" y="98903"/>
                  <a:pt x="35965" y="94885"/>
                  <a:pt x="35965" y="89912"/>
                </a:cubicBezTo>
                <a:cubicBezTo>
                  <a:pt x="35965" y="84938"/>
                  <a:pt x="39983" y="80920"/>
                  <a:pt x="44956" y="8092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7"/>
          <p:cNvSpPr/>
          <p:nvPr/>
        </p:nvSpPr>
        <p:spPr>
          <a:xfrm>
            <a:off x="6679395" y="3926139"/>
            <a:ext cx="1258761" cy="21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3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Behavioral Change</a:t>
            </a:r>
            <a:endParaRPr sz="1600" b="0" i="0" u="none" strike="noStrike" cap="none"/>
          </a:p>
        </p:txBody>
      </p:sp>
      <p:sp>
        <p:nvSpPr>
          <p:cNvPr id="691" name="Google Shape;691;p17"/>
          <p:cNvSpPr/>
          <p:nvPr/>
        </p:nvSpPr>
        <p:spPr>
          <a:xfrm>
            <a:off x="6427643" y="4213855"/>
            <a:ext cx="1735292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Accommodation request rates</a:t>
            </a:r>
            <a:endParaRPr sz="1600" b="0" i="0" u="none" strike="noStrike" cap="none"/>
          </a:p>
        </p:txBody>
      </p:sp>
      <p:sp>
        <p:nvSpPr>
          <p:cNvPr id="692" name="Google Shape;692;p17"/>
          <p:cNvSpPr/>
          <p:nvPr/>
        </p:nvSpPr>
        <p:spPr>
          <a:xfrm>
            <a:off x="10484993" y="4213855"/>
            <a:ext cx="1159858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Track 3-month post</a:t>
            </a:r>
            <a:endParaRPr sz="1600" b="0" i="0" u="none" strike="noStrike" cap="none"/>
          </a:p>
        </p:txBody>
      </p:sp>
      <p:sp>
        <p:nvSpPr>
          <p:cNvPr id="693" name="Google Shape;693;p17"/>
          <p:cNvSpPr/>
          <p:nvPr/>
        </p:nvSpPr>
        <p:spPr>
          <a:xfrm>
            <a:off x="6427643" y="4429643"/>
            <a:ext cx="1618407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Retention in education/work</a:t>
            </a:r>
            <a:endParaRPr sz="1600" b="0" i="0" u="none" strike="noStrike" cap="none"/>
          </a:p>
        </p:txBody>
      </p:sp>
      <p:sp>
        <p:nvSpPr>
          <p:cNvPr id="694" name="Google Shape;694;p17"/>
          <p:cNvSpPr/>
          <p:nvPr/>
        </p:nvSpPr>
        <p:spPr>
          <a:xfrm>
            <a:off x="10538378" y="4429643"/>
            <a:ext cx="1105912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6-month follow-up</a:t>
            </a:r>
            <a:endParaRPr sz="1600" b="0" i="0" u="none" strike="noStrike" cap="none"/>
          </a:p>
        </p:txBody>
      </p:sp>
      <p:sp>
        <p:nvSpPr>
          <p:cNvPr id="695" name="Google Shape;695;p17"/>
          <p:cNvSpPr/>
          <p:nvPr/>
        </p:nvSpPr>
        <p:spPr>
          <a:xfrm>
            <a:off x="6319749" y="4789289"/>
            <a:ext cx="5367717" cy="899115"/>
          </a:xfrm>
          <a:prstGeom prst="roundRect">
            <a:avLst>
              <a:gd name="adj" fmla="val 8000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7"/>
          <p:cNvSpPr/>
          <p:nvPr/>
        </p:nvSpPr>
        <p:spPr>
          <a:xfrm>
            <a:off x="6436634" y="4933147"/>
            <a:ext cx="161841" cy="143858"/>
          </a:xfrm>
          <a:custGeom>
            <a:avLst/>
            <a:gdLst/>
            <a:ahLst/>
            <a:cxnLst/>
            <a:rect l="l" t="t" r="r" b="b"/>
            <a:pathLst>
              <a:path w="161841" h="143858" extrusionOk="0">
                <a:moveTo>
                  <a:pt x="75554" y="23939"/>
                </a:moveTo>
                <a:lnTo>
                  <a:pt x="42792" y="60353"/>
                </a:lnTo>
                <a:cubicBezTo>
                  <a:pt x="41500" y="61786"/>
                  <a:pt x="41556" y="64006"/>
                  <a:pt x="42933" y="65383"/>
                </a:cubicBezTo>
                <a:cubicBezTo>
                  <a:pt x="51502" y="73952"/>
                  <a:pt x="65411" y="73952"/>
                  <a:pt x="73980" y="65383"/>
                </a:cubicBezTo>
                <a:lnTo>
                  <a:pt x="82915" y="56448"/>
                </a:lnTo>
                <a:cubicBezTo>
                  <a:pt x="84095" y="55267"/>
                  <a:pt x="85585" y="54621"/>
                  <a:pt x="87102" y="54509"/>
                </a:cubicBezTo>
                <a:cubicBezTo>
                  <a:pt x="89012" y="54340"/>
                  <a:pt x="90979" y="54987"/>
                  <a:pt x="92440" y="56448"/>
                </a:cubicBezTo>
                <a:lnTo>
                  <a:pt x="142060" y="105646"/>
                </a:lnTo>
                <a:lnTo>
                  <a:pt x="161841" y="89912"/>
                </a:lnTo>
                <a:lnTo>
                  <a:pt x="161841" y="8991"/>
                </a:lnTo>
                <a:lnTo>
                  <a:pt x="130372" y="26973"/>
                </a:lnTo>
                <a:lnTo>
                  <a:pt x="123685" y="22506"/>
                </a:lnTo>
                <a:cubicBezTo>
                  <a:pt x="119245" y="19556"/>
                  <a:pt x="114047" y="17982"/>
                  <a:pt x="108709" y="17982"/>
                </a:cubicBezTo>
                <a:lnTo>
                  <a:pt x="88928" y="17982"/>
                </a:lnTo>
                <a:cubicBezTo>
                  <a:pt x="88619" y="17982"/>
                  <a:pt x="88282" y="17982"/>
                  <a:pt x="87973" y="18010"/>
                </a:cubicBezTo>
                <a:cubicBezTo>
                  <a:pt x="83224" y="18263"/>
                  <a:pt x="78757" y="20399"/>
                  <a:pt x="75554" y="23939"/>
                </a:cubicBezTo>
                <a:close/>
                <a:moveTo>
                  <a:pt x="32762" y="51334"/>
                </a:moveTo>
                <a:lnTo>
                  <a:pt x="62769" y="17982"/>
                </a:lnTo>
                <a:lnTo>
                  <a:pt x="51643" y="17982"/>
                </a:lnTo>
                <a:cubicBezTo>
                  <a:pt x="44478" y="17982"/>
                  <a:pt x="37622" y="20820"/>
                  <a:pt x="32565" y="25878"/>
                </a:cubicBezTo>
                <a:lnTo>
                  <a:pt x="31469" y="26973"/>
                </a:lnTo>
                <a:lnTo>
                  <a:pt x="0" y="8991"/>
                </a:lnTo>
                <a:lnTo>
                  <a:pt x="0" y="89912"/>
                </a:lnTo>
                <a:lnTo>
                  <a:pt x="43944" y="126522"/>
                </a:lnTo>
                <a:cubicBezTo>
                  <a:pt x="50407" y="131917"/>
                  <a:pt x="58555" y="134867"/>
                  <a:pt x="66956" y="134867"/>
                </a:cubicBezTo>
                <a:lnTo>
                  <a:pt x="71367" y="134867"/>
                </a:lnTo>
                <a:lnTo>
                  <a:pt x="69400" y="132900"/>
                </a:lnTo>
                <a:cubicBezTo>
                  <a:pt x="66759" y="130259"/>
                  <a:pt x="66759" y="125988"/>
                  <a:pt x="69400" y="123375"/>
                </a:cubicBezTo>
                <a:cubicBezTo>
                  <a:pt x="72042" y="120762"/>
                  <a:pt x="76312" y="120734"/>
                  <a:pt x="78925" y="123375"/>
                </a:cubicBezTo>
                <a:lnTo>
                  <a:pt x="90445" y="134895"/>
                </a:lnTo>
                <a:lnTo>
                  <a:pt x="92974" y="134895"/>
                </a:lnTo>
                <a:cubicBezTo>
                  <a:pt x="98341" y="134895"/>
                  <a:pt x="103595" y="133687"/>
                  <a:pt x="108371" y="131439"/>
                </a:cubicBezTo>
                <a:lnTo>
                  <a:pt x="100869" y="123909"/>
                </a:lnTo>
                <a:cubicBezTo>
                  <a:pt x="98228" y="121268"/>
                  <a:pt x="98228" y="116997"/>
                  <a:pt x="100869" y="114384"/>
                </a:cubicBezTo>
                <a:cubicBezTo>
                  <a:pt x="103511" y="111771"/>
                  <a:pt x="107781" y="111743"/>
                  <a:pt x="110394" y="114384"/>
                </a:cubicBezTo>
                <a:lnTo>
                  <a:pt x="119386" y="123375"/>
                </a:lnTo>
                <a:lnTo>
                  <a:pt x="124303" y="118458"/>
                </a:lnTo>
                <a:cubicBezTo>
                  <a:pt x="126803" y="115958"/>
                  <a:pt x="127534" y="112333"/>
                  <a:pt x="126438" y="109158"/>
                </a:cubicBezTo>
                <a:lnTo>
                  <a:pt x="87692" y="70721"/>
                </a:lnTo>
                <a:lnTo>
                  <a:pt x="83505" y="74908"/>
                </a:lnTo>
                <a:cubicBezTo>
                  <a:pt x="69653" y="88760"/>
                  <a:pt x="47232" y="88760"/>
                  <a:pt x="33380" y="74908"/>
                </a:cubicBezTo>
                <a:cubicBezTo>
                  <a:pt x="26917" y="68445"/>
                  <a:pt x="26664" y="58077"/>
                  <a:pt x="32762" y="5130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7"/>
          <p:cNvSpPr/>
          <p:nvPr/>
        </p:nvSpPr>
        <p:spPr>
          <a:xfrm>
            <a:off x="6679395" y="4897183"/>
            <a:ext cx="1375646" cy="21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3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Partner Engagement</a:t>
            </a:r>
            <a:endParaRPr sz="1600" b="0" i="0" u="none" strike="noStrike" cap="none"/>
          </a:p>
        </p:txBody>
      </p:sp>
      <p:sp>
        <p:nvSpPr>
          <p:cNvPr id="698" name="Google Shape;698;p17"/>
          <p:cNvSpPr/>
          <p:nvPr/>
        </p:nvSpPr>
        <p:spPr>
          <a:xfrm>
            <a:off x="6427643" y="5184900"/>
            <a:ext cx="1789239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Partnership agreements signed</a:t>
            </a:r>
            <a:endParaRPr sz="1600" b="0" i="0" u="none" strike="noStrike" cap="none"/>
          </a:p>
        </p:txBody>
      </p:sp>
      <p:sp>
        <p:nvSpPr>
          <p:cNvPr id="699" name="Google Shape;699;p17"/>
          <p:cNvSpPr/>
          <p:nvPr/>
        </p:nvSpPr>
        <p:spPr>
          <a:xfrm>
            <a:off x="11014159" y="5184900"/>
            <a:ext cx="629381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Target: 3+</a:t>
            </a:r>
            <a:endParaRPr sz="1600" b="0" i="0" u="none" strike="noStrike" cap="none"/>
          </a:p>
        </p:txBody>
      </p:sp>
      <p:sp>
        <p:nvSpPr>
          <p:cNvPr id="700" name="Google Shape;700;p17"/>
          <p:cNvSpPr/>
          <p:nvPr/>
        </p:nvSpPr>
        <p:spPr>
          <a:xfrm>
            <a:off x="6427643" y="5400687"/>
            <a:ext cx="1016000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Referral numbers</a:t>
            </a:r>
            <a:endParaRPr sz="1600" b="0" i="0" u="none" strike="noStrike" cap="none"/>
          </a:p>
        </p:txBody>
      </p:sp>
      <p:sp>
        <p:nvSpPr>
          <p:cNvPr id="701" name="Google Shape;701;p17"/>
          <p:cNvSpPr/>
          <p:nvPr/>
        </p:nvSpPr>
        <p:spPr>
          <a:xfrm>
            <a:off x="10786758" y="5400687"/>
            <a:ext cx="854159" cy="1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Track monthly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8"/>
          <p:cNvSpPr/>
          <p:nvPr/>
        </p:nvSpPr>
        <p:spPr>
          <a:xfrm>
            <a:off x="380406" y="494527"/>
            <a:ext cx="76081" cy="380406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8"/>
          <p:cNvSpPr/>
          <p:nvPr/>
        </p:nvSpPr>
        <p:spPr>
          <a:xfrm>
            <a:off x="570608" y="380406"/>
            <a:ext cx="5211557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LONG-TERM VIABILITY</a:t>
            </a:r>
            <a:endParaRPr sz="1600" b="0" i="0" u="none" strike="noStrike" cap="none"/>
          </a:p>
        </p:txBody>
      </p:sp>
      <p:sp>
        <p:nvSpPr>
          <p:cNvPr id="709" name="Google Shape;709;p18"/>
          <p:cNvSpPr/>
          <p:nvPr/>
        </p:nvSpPr>
        <p:spPr>
          <a:xfrm>
            <a:off x="570608" y="608649"/>
            <a:ext cx="5306658" cy="38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6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Sustainability &amp; Risk Management</a:t>
            </a:r>
            <a:endParaRPr sz="1600" b="0" i="0" u="none" strike="noStrike" cap="none"/>
          </a:p>
        </p:txBody>
      </p:sp>
      <p:sp>
        <p:nvSpPr>
          <p:cNvPr id="710" name="Google Shape;710;p18"/>
          <p:cNvSpPr/>
          <p:nvPr/>
        </p:nvSpPr>
        <p:spPr>
          <a:xfrm>
            <a:off x="389916" y="1226808"/>
            <a:ext cx="5620493" cy="5620493"/>
          </a:xfrm>
          <a:prstGeom prst="roundRect">
            <a:avLst>
              <a:gd name="adj" fmla="val 2030"/>
            </a:avLst>
          </a:prstGeom>
          <a:gradFill>
            <a:gsLst>
              <a:gs pos="0">
                <a:srgbClr val="6366F1">
                  <a:alpha val="30196"/>
                </a:srgbClr>
              </a:gs>
              <a:gs pos="100000">
                <a:srgbClr val="262626"/>
              </a:gs>
            </a:gsLst>
            <a:lin ang="2700000" scaled="0"/>
          </a:gradFill>
          <a:ln w="254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8"/>
          <p:cNvSpPr/>
          <p:nvPr/>
        </p:nvSpPr>
        <p:spPr>
          <a:xfrm>
            <a:off x="553966" y="1436031"/>
            <a:ext cx="213978" cy="171183"/>
          </a:xfrm>
          <a:custGeom>
            <a:avLst/>
            <a:gdLst/>
            <a:ahLst/>
            <a:cxnLst/>
            <a:rect l="l" t="t" r="r" b="b"/>
            <a:pathLst>
              <a:path w="213978" h="171183" extrusionOk="0">
                <a:moveTo>
                  <a:pt x="0" y="85591"/>
                </a:moveTo>
                <a:cubicBezTo>
                  <a:pt x="0" y="56036"/>
                  <a:pt x="23939" y="32097"/>
                  <a:pt x="53495" y="32097"/>
                </a:cubicBezTo>
                <a:cubicBezTo>
                  <a:pt x="70345" y="32097"/>
                  <a:pt x="86193" y="40021"/>
                  <a:pt x="96290" y="53495"/>
                </a:cubicBezTo>
                <a:lnTo>
                  <a:pt x="106989" y="67771"/>
                </a:lnTo>
                <a:lnTo>
                  <a:pt x="117688" y="53495"/>
                </a:lnTo>
                <a:cubicBezTo>
                  <a:pt x="127785" y="40021"/>
                  <a:pt x="143633" y="32097"/>
                  <a:pt x="160484" y="32097"/>
                </a:cubicBezTo>
                <a:cubicBezTo>
                  <a:pt x="190039" y="32097"/>
                  <a:pt x="213978" y="56036"/>
                  <a:pt x="213978" y="85591"/>
                </a:cubicBezTo>
                <a:cubicBezTo>
                  <a:pt x="213978" y="115147"/>
                  <a:pt x="190039" y="139086"/>
                  <a:pt x="160484" y="139086"/>
                </a:cubicBezTo>
                <a:cubicBezTo>
                  <a:pt x="143633" y="139086"/>
                  <a:pt x="127785" y="131162"/>
                  <a:pt x="117688" y="117688"/>
                </a:cubicBezTo>
                <a:lnTo>
                  <a:pt x="106989" y="103412"/>
                </a:lnTo>
                <a:lnTo>
                  <a:pt x="96290" y="117688"/>
                </a:lnTo>
                <a:cubicBezTo>
                  <a:pt x="86193" y="131162"/>
                  <a:pt x="70345" y="139086"/>
                  <a:pt x="53495" y="139086"/>
                </a:cubicBezTo>
                <a:cubicBezTo>
                  <a:pt x="23939" y="139086"/>
                  <a:pt x="0" y="115147"/>
                  <a:pt x="0" y="85591"/>
                </a:cubicBezTo>
                <a:close/>
                <a:moveTo>
                  <a:pt x="93615" y="85591"/>
                </a:moveTo>
                <a:lnTo>
                  <a:pt x="79172" y="66333"/>
                </a:lnTo>
                <a:cubicBezTo>
                  <a:pt x="73120" y="58242"/>
                  <a:pt x="63592" y="53495"/>
                  <a:pt x="53495" y="53495"/>
                </a:cubicBezTo>
                <a:cubicBezTo>
                  <a:pt x="35774" y="53495"/>
                  <a:pt x="21398" y="67871"/>
                  <a:pt x="21398" y="85591"/>
                </a:cubicBezTo>
                <a:cubicBezTo>
                  <a:pt x="21398" y="103311"/>
                  <a:pt x="35774" y="117688"/>
                  <a:pt x="53495" y="117688"/>
                </a:cubicBezTo>
                <a:cubicBezTo>
                  <a:pt x="63592" y="117688"/>
                  <a:pt x="73120" y="112940"/>
                  <a:pt x="79172" y="104849"/>
                </a:cubicBezTo>
                <a:lnTo>
                  <a:pt x="93615" y="85591"/>
                </a:lnTo>
                <a:close/>
                <a:moveTo>
                  <a:pt x="120363" y="85591"/>
                </a:moveTo>
                <a:lnTo>
                  <a:pt x="134806" y="104849"/>
                </a:lnTo>
                <a:cubicBezTo>
                  <a:pt x="140858" y="112940"/>
                  <a:pt x="150387" y="117688"/>
                  <a:pt x="160484" y="117688"/>
                </a:cubicBezTo>
                <a:cubicBezTo>
                  <a:pt x="178204" y="117688"/>
                  <a:pt x="192580" y="103311"/>
                  <a:pt x="192580" y="85591"/>
                </a:cubicBezTo>
                <a:cubicBezTo>
                  <a:pt x="192580" y="67871"/>
                  <a:pt x="178204" y="53495"/>
                  <a:pt x="160484" y="53495"/>
                </a:cubicBezTo>
                <a:cubicBezTo>
                  <a:pt x="150387" y="53495"/>
                  <a:pt x="140858" y="58242"/>
                  <a:pt x="134806" y="66333"/>
                </a:cubicBezTo>
                <a:lnTo>
                  <a:pt x="120363" y="8559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18"/>
          <p:cNvSpPr/>
          <p:nvPr/>
        </p:nvSpPr>
        <p:spPr>
          <a:xfrm>
            <a:off x="770321" y="1388480"/>
            <a:ext cx="5164006" cy="266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Sustainability Plan</a:t>
            </a:r>
            <a:endParaRPr sz="1600" b="0" i="0" u="none" strike="noStrike" cap="none"/>
          </a:p>
        </p:txBody>
      </p:sp>
      <p:sp>
        <p:nvSpPr>
          <p:cNvPr id="713" name="Google Shape;713;p18"/>
          <p:cNvSpPr/>
          <p:nvPr/>
        </p:nvSpPr>
        <p:spPr>
          <a:xfrm>
            <a:off x="551588" y="1768886"/>
            <a:ext cx="304324" cy="30432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8"/>
          <p:cNvSpPr/>
          <p:nvPr/>
        </p:nvSpPr>
        <p:spPr>
          <a:xfrm>
            <a:off x="518303" y="1768886"/>
            <a:ext cx="370895" cy="30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sz="1600" b="0" i="0" u="none" strike="noStrike" cap="none"/>
          </a:p>
        </p:txBody>
      </p:sp>
      <p:sp>
        <p:nvSpPr>
          <p:cNvPr id="715" name="Google Shape;715;p18"/>
          <p:cNvSpPr/>
          <p:nvPr/>
        </p:nvSpPr>
        <p:spPr>
          <a:xfrm>
            <a:off x="970034" y="1768886"/>
            <a:ext cx="3423651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Digital Permanence</a:t>
            </a:r>
            <a:endParaRPr sz="1600" b="0" i="0" u="none" strike="noStrike" cap="none"/>
          </a:p>
        </p:txBody>
      </p:sp>
      <p:sp>
        <p:nvSpPr>
          <p:cNvPr id="716" name="Google Shape;716;p18"/>
          <p:cNvSpPr/>
          <p:nvPr/>
        </p:nvSpPr>
        <p:spPr>
          <a:xfrm>
            <a:off x="970034" y="1997129"/>
            <a:ext cx="3414140" cy="1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Resources remain accessible online indefinitely at no cost</a:t>
            </a:r>
            <a:endParaRPr sz="1600" b="0" i="0" u="none" strike="noStrike" cap="none"/>
          </a:p>
        </p:txBody>
      </p:sp>
      <p:sp>
        <p:nvSpPr>
          <p:cNvPr id="717" name="Google Shape;717;p18"/>
          <p:cNvSpPr/>
          <p:nvPr/>
        </p:nvSpPr>
        <p:spPr>
          <a:xfrm>
            <a:off x="551588" y="2263413"/>
            <a:ext cx="304324" cy="30432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8"/>
          <p:cNvSpPr/>
          <p:nvPr/>
        </p:nvSpPr>
        <p:spPr>
          <a:xfrm>
            <a:off x="518303" y="2263413"/>
            <a:ext cx="370895" cy="30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sz="1600" b="0" i="0" u="none" strike="noStrike" cap="none"/>
          </a:p>
        </p:txBody>
      </p:sp>
      <p:sp>
        <p:nvSpPr>
          <p:cNvPr id="719" name="Google Shape;719;p18"/>
          <p:cNvSpPr/>
          <p:nvPr/>
        </p:nvSpPr>
        <p:spPr>
          <a:xfrm>
            <a:off x="970034" y="2263413"/>
            <a:ext cx="4051320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Open Licensing</a:t>
            </a:r>
            <a:endParaRPr sz="1600" b="0" i="0" u="none" strike="noStrike" cap="none"/>
          </a:p>
        </p:txBody>
      </p:sp>
      <p:sp>
        <p:nvSpPr>
          <p:cNvPr id="720" name="Google Shape;720;p18"/>
          <p:cNvSpPr/>
          <p:nvPr/>
        </p:nvSpPr>
        <p:spPr>
          <a:xfrm>
            <a:off x="970034" y="2491657"/>
            <a:ext cx="4041810" cy="1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Toolkit under Creative Commons for free distribution and adaptation</a:t>
            </a:r>
            <a:endParaRPr sz="1600" b="0" i="0" u="none" strike="noStrike" cap="none"/>
          </a:p>
        </p:txBody>
      </p:sp>
      <p:sp>
        <p:nvSpPr>
          <p:cNvPr id="721" name="Google Shape;721;p18"/>
          <p:cNvSpPr/>
          <p:nvPr/>
        </p:nvSpPr>
        <p:spPr>
          <a:xfrm>
            <a:off x="551588" y="2757941"/>
            <a:ext cx="304324" cy="30432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8"/>
          <p:cNvSpPr/>
          <p:nvPr/>
        </p:nvSpPr>
        <p:spPr>
          <a:xfrm>
            <a:off x="518303" y="2757941"/>
            <a:ext cx="370895" cy="30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 b="0" i="0" u="none" strike="noStrike" cap="none"/>
          </a:p>
        </p:txBody>
      </p:sp>
      <p:sp>
        <p:nvSpPr>
          <p:cNvPr id="723" name="Google Shape;723;p18"/>
          <p:cNvSpPr/>
          <p:nvPr/>
        </p:nvSpPr>
        <p:spPr>
          <a:xfrm>
            <a:off x="970034" y="2757941"/>
            <a:ext cx="4060830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Train-the-Trainer Model</a:t>
            </a:r>
            <a:endParaRPr sz="1600" b="0" i="0" u="none" strike="noStrike" cap="none"/>
          </a:p>
        </p:txBody>
      </p:sp>
      <p:sp>
        <p:nvSpPr>
          <p:cNvPr id="724" name="Google Shape;724;p18"/>
          <p:cNvSpPr/>
          <p:nvPr/>
        </p:nvSpPr>
        <p:spPr>
          <a:xfrm>
            <a:off x="970034" y="2986184"/>
            <a:ext cx="4051320" cy="1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Peer advocates trained to continue workshop delivery independently</a:t>
            </a:r>
            <a:endParaRPr sz="1600" b="0" i="0" u="none" strike="noStrike" cap="none"/>
          </a:p>
        </p:txBody>
      </p:sp>
      <p:sp>
        <p:nvSpPr>
          <p:cNvPr id="725" name="Google Shape;725;p18"/>
          <p:cNvSpPr/>
          <p:nvPr/>
        </p:nvSpPr>
        <p:spPr>
          <a:xfrm>
            <a:off x="551588" y="3252468"/>
            <a:ext cx="304324" cy="30432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18"/>
          <p:cNvSpPr/>
          <p:nvPr/>
        </p:nvSpPr>
        <p:spPr>
          <a:xfrm>
            <a:off x="518303" y="3252468"/>
            <a:ext cx="370895" cy="30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sz="1600" b="0" i="0" u="none" strike="noStrike" cap="none"/>
          </a:p>
        </p:txBody>
      </p:sp>
      <p:sp>
        <p:nvSpPr>
          <p:cNvPr id="727" name="Google Shape;727;p18"/>
          <p:cNvSpPr/>
          <p:nvPr/>
        </p:nvSpPr>
        <p:spPr>
          <a:xfrm>
            <a:off x="970034" y="3252468"/>
            <a:ext cx="3946708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Institutional Integration</a:t>
            </a:r>
            <a:endParaRPr sz="1600" b="0" i="0" u="none" strike="noStrike" cap="none"/>
          </a:p>
        </p:txBody>
      </p:sp>
      <p:sp>
        <p:nvSpPr>
          <p:cNvPr id="728" name="Google Shape;728;p18"/>
          <p:cNvSpPr/>
          <p:nvPr/>
        </p:nvSpPr>
        <p:spPr>
          <a:xfrm>
            <a:off x="970034" y="3480711"/>
            <a:ext cx="3937198" cy="1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University partners integrate toolkit into existing disability services</a:t>
            </a:r>
            <a:endParaRPr sz="1600" b="0" i="0" u="none" strike="noStrike" cap="none"/>
          </a:p>
        </p:txBody>
      </p:sp>
      <p:sp>
        <p:nvSpPr>
          <p:cNvPr id="729" name="Google Shape;729;p18"/>
          <p:cNvSpPr/>
          <p:nvPr/>
        </p:nvSpPr>
        <p:spPr>
          <a:xfrm>
            <a:off x="551588" y="3746995"/>
            <a:ext cx="304324" cy="30432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8"/>
          <p:cNvSpPr/>
          <p:nvPr/>
        </p:nvSpPr>
        <p:spPr>
          <a:xfrm>
            <a:off x="518303" y="3746995"/>
            <a:ext cx="370895" cy="30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5</a:t>
            </a:r>
            <a:endParaRPr sz="1600" b="0" i="0" u="none" strike="noStrike" cap="none"/>
          </a:p>
        </p:txBody>
      </p:sp>
      <p:sp>
        <p:nvSpPr>
          <p:cNvPr id="731" name="Google Shape;731;p18"/>
          <p:cNvSpPr/>
          <p:nvPr/>
        </p:nvSpPr>
        <p:spPr>
          <a:xfrm>
            <a:off x="970034" y="3746995"/>
            <a:ext cx="4460256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Future Funding</a:t>
            </a:r>
            <a:endParaRPr sz="1600" b="0" i="0" u="none" strike="noStrike" cap="none"/>
          </a:p>
        </p:txBody>
      </p:sp>
      <p:sp>
        <p:nvSpPr>
          <p:cNvPr id="732" name="Google Shape;732;p18"/>
          <p:cNvSpPr/>
          <p:nvPr/>
        </p:nvSpPr>
        <p:spPr>
          <a:xfrm>
            <a:off x="970034" y="3975239"/>
            <a:ext cx="4450746" cy="1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Seek Japan Foundation for Disability Promotion or corporate CSR programs</a:t>
            </a:r>
            <a:endParaRPr sz="1600" b="0" i="0" u="none" strike="noStrike" cap="none"/>
          </a:p>
        </p:txBody>
      </p:sp>
      <p:sp>
        <p:nvSpPr>
          <p:cNvPr id="733" name="Google Shape;733;p18"/>
          <p:cNvSpPr/>
          <p:nvPr/>
        </p:nvSpPr>
        <p:spPr>
          <a:xfrm>
            <a:off x="6174162" y="1220468"/>
            <a:ext cx="5636343" cy="5636343"/>
          </a:xfrm>
          <a:prstGeom prst="roundRect">
            <a:avLst>
              <a:gd name="adj" fmla="val 2025"/>
            </a:avLst>
          </a:prstGeom>
          <a:solidFill>
            <a:srgbClr val="26262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18"/>
          <p:cNvSpPr/>
          <p:nvPr/>
        </p:nvSpPr>
        <p:spPr>
          <a:xfrm>
            <a:off x="6353269" y="1423354"/>
            <a:ext cx="171183" cy="171183"/>
          </a:xfrm>
          <a:custGeom>
            <a:avLst/>
            <a:gdLst/>
            <a:ahLst/>
            <a:cxnLst/>
            <a:rect l="l" t="t" r="r" b="b"/>
            <a:pathLst>
              <a:path w="171183" h="171183" extrusionOk="0">
                <a:moveTo>
                  <a:pt x="85591" y="0"/>
                </a:moveTo>
                <a:cubicBezTo>
                  <a:pt x="87129" y="0"/>
                  <a:pt x="88667" y="334"/>
                  <a:pt x="90071" y="970"/>
                </a:cubicBezTo>
                <a:lnTo>
                  <a:pt x="153061" y="27683"/>
                </a:lnTo>
                <a:cubicBezTo>
                  <a:pt x="160417" y="30793"/>
                  <a:pt x="165900" y="38048"/>
                  <a:pt x="165867" y="46808"/>
                </a:cubicBezTo>
                <a:cubicBezTo>
                  <a:pt x="165699" y="79974"/>
                  <a:pt x="152058" y="140657"/>
                  <a:pt x="94451" y="168240"/>
                </a:cubicBezTo>
                <a:cubicBezTo>
                  <a:pt x="88868" y="170915"/>
                  <a:pt x="82382" y="170915"/>
                  <a:pt x="76798" y="168240"/>
                </a:cubicBezTo>
                <a:cubicBezTo>
                  <a:pt x="19158" y="140657"/>
                  <a:pt x="5550" y="79974"/>
                  <a:pt x="5383" y="46808"/>
                </a:cubicBezTo>
                <a:cubicBezTo>
                  <a:pt x="5349" y="38048"/>
                  <a:pt x="10833" y="30793"/>
                  <a:pt x="18188" y="27683"/>
                </a:cubicBezTo>
                <a:lnTo>
                  <a:pt x="81145" y="970"/>
                </a:lnTo>
                <a:cubicBezTo>
                  <a:pt x="82549" y="334"/>
                  <a:pt x="84053" y="0"/>
                  <a:pt x="85591" y="0"/>
                </a:cubicBezTo>
                <a:close/>
                <a:moveTo>
                  <a:pt x="85591" y="22334"/>
                </a:moveTo>
                <a:lnTo>
                  <a:pt x="85591" y="148748"/>
                </a:lnTo>
                <a:cubicBezTo>
                  <a:pt x="131730" y="126414"/>
                  <a:pt x="144134" y="76932"/>
                  <a:pt x="144435" y="47309"/>
                </a:cubicBezTo>
                <a:lnTo>
                  <a:pt x="85591" y="22367"/>
                </a:lnTo>
                <a:lnTo>
                  <a:pt x="85591" y="22367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8"/>
          <p:cNvSpPr/>
          <p:nvPr/>
        </p:nvSpPr>
        <p:spPr>
          <a:xfrm>
            <a:off x="6548227" y="1375803"/>
            <a:ext cx="5192537" cy="266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8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Risk Management</a:t>
            </a:r>
            <a:endParaRPr sz="1600" b="0" i="0" u="none" strike="noStrike" cap="none"/>
          </a:p>
        </p:txBody>
      </p:sp>
      <p:sp>
        <p:nvSpPr>
          <p:cNvPr id="736" name="Google Shape;736;p18"/>
          <p:cNvSpPr/>
          <p:nvPr/>
        </p:nvSpPr>
        <p:spPr>
          <a:xfrm>
            <a:off x="6329494" y="1756209"/>
            <a:ext cx="5325679" cy="1179257"/>
          </a:xfrm>
          <a:prstGeom prst="roundRect">
            <a:avLst>
              <a:gd name="adj" fmla="val 6452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8"/>
          <p:cNvSpPr/>
          <p:nvPr/>
        </p:nvSpPr>
        <p:spPr>
          <a:xfrm>
            <a:off x="6472146" y="1908371"/>
            <a:ext cx="133142" cy="152162"/>
          </a:xfrm>
          <a:custGeom>
            <a:avLst/>
            <a:gdLst/>
            <a:ahLst/>
            <a:cxnLst/>
            <a:rect l="l" t="t" r="r" b="b"/>
            <a:pathLst>
              <a:path w="133142" h="152162" extrusionOk="0">
                <a:moveTo>
                  <a:pt x="50820" y="-4755"/>
                </a:moveTo>
                <a:cubicBezTo>
                  <a:pt x="40002" y="-4755"/>
                  <a:pt x="33642" y="12571"/>
                  <a:pt x="30522" y="28530"/>
                </a:cubicBezTo>
                <a:lnTo>
                  <a:pt x="21398" y="28530"/>
                </a:lnTo>
                <a:cubicBezTo>
                  <a:pt x="17445" y="28530"/>
                  <a:pt x="14265" y="31710"/>
                  <a:pt x="14265" y="35663"/>
                </a:cubicBezTo>
                <a:cubicBezTo>
                  <a:pt x="14265" y="39616"/>
                  <a:pt x="17445" y="42796"/>
                  <a:pt x="21398" y="42796"/>
                </a:cubicBezTo>
                <a:lnTo>
                  <a:pt x="28530" y="42796"/>
                </a:lnTo>
                <a:lnTo>
                  <a:pt x="28530" y="52306"/>
                </a:lnTo>
                <a:cubicBezTo>
                  <a:pt x="28530" y="57358"/>
                  <a:pt x="29511" y="62173"/>
                  <a:pt x="31294" y="66571"/>
                </a:cubicBezTo>
                <a:lnTo>
                  <a:pt x="28530" y="66571"/>
                </a:lnTo>
                <a:lnTo>
                  <a:pt x="28530" y="66571"/>
                </a:lnTo>
                <a:lnTo>
                  <a:pt x="22438" y="66571"/>
                </a:lnTo>
                <a:cubicBezTo>
                  <a:pt x="17921" y="66571"/>
                  <a:pt x="14265" y="70226"/>
                  <a:pt x="14265" y="74744"/>
                </a:cubicBezTo>
                <a:cubicBezTo>
                  <a:pt x="14265" y="75635"/>
                  <a:pt x="14414" y="76497"/>
                  <a:pt x="14681" y="77329"/>
                </a:cubicBezTo>
                <a:lnTo>
                  <a:pt x="23270" y="103066"/>
                </a:lnTo>
                <a:cubicBezTo>
                  <a:pt x="11947" y="112814"/>
                  <a:pt x="4755" y="127228"/>
                  <a:pt x="4755" y="143336"/>
                </a:cubicBezTo>
                <a:cubicBezTo>
                  <a:pt x="4755" y="148210"/>
                  <a:pt x="8708" y="152162"/>
                  <a:pt x="13582" y="152162"/>
                </a:cubicBezTo>
                <a:lnTo>
                  <a:pt x="119560" y="152162"/>
                </a:lnTo>
                <a:cubicBezTo>
                  <a:pt x="124434" y="152162"/>
                  <a:pt x="128387" y="148210"/>
                  <a:pt x="128387" y="143336"/>
                </a:cubicBezTo>
                <a:cubicBezTo>
                  <a:pt x="128387" y="127228"/>
                  <a:pt x="121195" y="112814"/>
                  <a:pt x="109872" y="103096"/>
                </a:cubicBezTo>
                <a:lnTo>
                  <a:pt x="118461" y="77359"/>
                </a:lnTo>
                <a:cubicBezTo>
                  <a:pt x="118728" y="76527"/>
                  <a:pt x="118877" y="75665"/>
                  <a:pt x="118877" y="74773"/>
                </a:cubicBezTo>
                <a:cubicBezTo>
                  <a:pt x="118877" y="70256"/>
                  <a:pt x="115221" y="66601"/>
                  <a:pt x="110704" y="66601"/>
                </a:cubicBezTo>
                <a:lnTo>
                  <a:pt x="104612" y="66601"/>
                </a:lnTo>
                <a:lnTo>
                  <a:pt x="104612" y="66601"/>
                </a:lnTo>
                <a:lnTo>
                  <a:pt x="101848" y="66601"/>
                </a:lnTo>
                <a:cubicBezTo>
                  <a:pt x="103631" y="62202"/>
                  <a:pt x="104612" y="57388"/>
                  <a:pt x="104612" y="52335"/>
                </a:cubicBezTo>
                <a:lnTo>
                  <a:pt x="104612" y="42825"/>
                </a:lnTo>
                <a:lnTo>
                  <a:pt x="111744" y="42825"/>
                </a:lnTo>
                <a:cubicBezTo>
                  <a:pt x="115697" y="42825"/>
                  <a:pt x="118877" y="39645"/>
                  <a:pt x="118877" y="35693"/>
                </a:cubicBezTo>
                <a:cubicBezTo>
                  <a:pt x="118877" y="31740"/>
                  <a:pt x="115697" y="28560"/>
                  <a:pt x="111744" y="28560"/>
                </a:cubicBezTo>
                <a:lnTo>
                  <a:pt x="102620" y="28560"/>
                </a:lnTo>
                <a:cubicBezTo>
                  <a:pt x="99530" y="12601"/>
                  <a:pt x="93140" y="-4725"/>
                  <a:pt x="82322" y="-4725"/>
                </a:cubicBezTo>
                <a:cubicBezTo>
                  <a:pt x="79469" y="-4725"/>
                  <a:pt x="76676" y="-3566"/>
                  <a:pt x="74149" y="-2288"/>
                </a:cubicBezTo>
                <a:cubicBezTo>
                  <a:pt x="71712" y="-1070"/>
                  <a:pt x="68681" y="30"/>
                  <a:pt x="66571" y="30"/>
                </a:cubicBezTo>
                <a:cubicBezTo>
                  <a:pt x="64461" y="30"/>
                  <a:pt x="61430" y="-1070"/>
                  <a:pt x="58993" y="-2288"/>
                </a:cubicBezTo>
                <a:cubicBezTo>
                  <a:pt x="56466" y="-3596"/>
                  <a:pt x="53673" y="-4755"/>
                  <a:pt x="50820" y="-4755"/>
                </a:cubicBezTo>
                <a:close/>
                <a:moveTo>
                  <a:pt x="78667" y="139205"/>
                </a:moveTo>
                <a:lnTo>
                  <a:pt x="71296" y="118134"/>
                </a:lnTo>
                <a:lnTo>
                  <a:pt x="79588" y="108475"/>
                </a:lnTo>
                <a:cubicBezTo>
                  <a:pt x="80390" y="107524"/>
                  <a:pt x="80836" y="106335"/>
                  <a:pt x="80836" y="105087"/>
                </a:cubicBezTo>
                <a:cubicBezTo>
                  <a:pt x="80836" y="102204"/>
                  <a:pt x="78518" y="99886"/>
                  <a:pt x="75635" y="99886"/>
                </a:cubicBezTo>
                <a:lnTo>
                  <a:pt x="57507" y="99886"/>
                </a:lnTo>
                <a:cubicBezTo>
                  <a:pt x="54624" y="99886"/>
                  <a:pt x="52306" y="102204"/>
                  <a:pt x="52306" y="105087"/>
                </a:cubicBezTo>
                <a:cubicBezTo>
                  <a:pt x="52306" y="106335"/>
                  <a:pt x="52752" y="107524"/>
                  <a:pt x="53554" y="108475"/>
                </a:cubicBezTo>
                <a:lnTo>
                  <a:pt x="61846" y="118134"/>
                </a:lnTo>
                <a:lnTo>
                  <a:pt x="54475" y="139205"/>
                </a:lnTo>
                <a:lnTo>
                  <a:pt x="37535" y="85591"/>
                </a:lnTo>
                <a:lnTo>
                  <a:pt x="48145" y="85591"/>
                </a:lnTo>
                <a:cubicBezTo>
                  <a:pt x="53613" y="88623"/>
                  <a:pt x="59884" y="90346"/>
                  <a:pt x="66571" y="90346"/>
                </a:cubicBezTo>
                <a:cubicBezTo>
                  <a:pt x="73258" y="90346"/>
                  <a:pt x="79529" y="88623"/>
                  <a:pt x="84997" y="85591"/>
                </a:cubicBezTo>
                <a:lnTo>
                  <a:pt x="95607" y="85591"/>
                </a:lnTo>
                <a:lnTo>
                  <a:pt x="78667" y="139205"/>
                </a:lnTo>
                <a:close/>
                <a:moveTo>
                  <a:pt x="66571" y="76081"/>
                </a:moveTo>
                <a:cubicBezTo>
                  <a:pt x="56258" y="76081"/>
                  <a:pt x="47491" y="69513"/>
                  <a:pt x="44192" y="60330"/>
                </a:cubicBezTo>
                <a:cubicBezTo>
                  <a:pt x="45886" y="61281"/>
                  <a:pt x="47848" y="61816"/>
                  <a:pt x="49928" y="61816"/>
                </a:cubicBezTo>
                <a:lnTo>
                  <a:pt x="53613" y="61816"/>
                </a:lnTo>
                <a:cubicBezTo>
                  <a:pt x="58517" y="61816"/>
                  <a:pt x="62856" y="58666"/>
                  <a:pt x="64401" y="54029"/>
                </a:cubicBezTo>
                <a:cubicBezTo>
                  <a:pt x="65085" y="51949"/>
                  <a:pt x="68027" y="51949"/>
                  <a:pt x="68711" y="54029"/>
                </a:cubicBezTo>
                <a:cubicBezTo>
                  <a:pt x="70256" y="58666"/>
                  <a:pt x="74625" y="61816"/>
                  <a:pt x="79499" y="61816"/>
                </a:cubicBezTo>
                <a:lnTo>
                  <a:pt x="83184" y="61816"/>
                </a:lnTo>
                <a:cubicBezTo>
                  <a:pt x="85264" y="61816"/>
                  <a:pt x="87226" y="61281"/>
                  <a:pt x="88920" y="60330"/>
                </a:cubicBezTo>
                <a:cubicBezTo>
                  <a:pt x="85621" y="69513"/>
                  <a:pt x="76854" y="76081"/>
                  <a:pt x="66541" y="76081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8"/>
          <p:cNvSpPr/>
          <p:nvPr/>
        </p:nvSpPr>
        <p:spPr>
          <a:xfrm>
            <a:off x="6709900" y="1870331"/>
            <a:ext cx="1445541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Privacy &amp; Sensitivity</a:t>
            </a:r>
            <a:endParaRPr sz="1600" b="0" i="0" u="none" strike="noStrike" cap="none"/>
          </a:p>
        </p:txBody>
      </p:sp>
      <p:sp>
        <p:nvSpPr>
          <p:cNvPr id="739" name="Google Shape;739;p18"/>
          <p:cNvSpPr/>
          <p:nvPr/>
        </p:nvSpPr>
        <p:spPr>
          <a:xfrm>
            <a:off x="6443616" y="2174655"/>
            <a:ext cx="5164006" cy="1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Risk: Participant privacy concerns, stigma exposure</a:t>
            </a:r>
            <a:endParaRPr sz="1600" b="0" i="0" u="none" strike="noStrike" cap="none"/>
          </a:p>
        </p:txBody>
      </p:sp>
      <p:sp>
        <p:nvSpPr>
          <p:cNvPr id="740" name="Google Shape;740;p18"/>
          <p:cNvSpPr/>
          <p:nvPr/>
        </p:nvSpPr>
        <p:spPr>
          <a:xfrm>
            <a:off x="6443616" y="2440939"/>
            <a:ext cx="5164006" cy="38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Mitigation:</a:t>
            </a:r>
            <a:r>
              <a:rPr lang="en-US" sz="1048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 All stories anonymized with consent, no identifiable information, voluntary participation only</a:t>
            </a:r>
            <a:endParaRPr sz="1600" b="0" i="0" u="none" strike="noStrike" cap="none"/>
          </a:p>
        </p:txBody>
      </p:sp>
      <p:sp>
        <p:nvSpPr>
          <p:cNvPr id="741" name="Google Shape;741;p18"/>
          <p:cNvSpPr/>
          <p:nvPr/>
        </p:nvSpPr>
        <p:spPr>
          <a:xfrm>
            <a:off x="6329494" y="3011548"/>
            <a:ext cx="5325679" cy="1179257"/>
          </a:xfrm>
          <a:prstGeom prst="roundRect">
            <a:avLst>
              <a:gd name="adj" fmla="val 6452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8"/>
          <p:cNvSpPr/>
          <p:nvPr/>
        </p:nvSpPr>
        <p:spPr>
          <a:xfrm>
            <a:off x="6453126" y="3163710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 extrusionOk="0">
                <a:moveTo>
                  <a:pt x="12185" y="-7400"/>
                </a:moveTo>
                <a:cubicBezTo>
                  <a:pt x="9391" y="-10194"/>
                  <a:pt x="4874" y="-10194"/>
                  <a:pt x="2110" y="-7400"/>
                </a:cubicBezTo>
                <a:cubicBezTo>
                  <a:pt x="-654" y="-4606"/>
                  <a:pt x="-684" y="-89"/>
                  <a:pt x="2080" y="2704"/>
                </a:cubicBezTo>
                <a:lnTo>
                  <a:pt x="158998" y="159622"/>
                </a:lnTo>
                <a:cubicBezTo>
                  <a:pt x="161791" y="162415"/>
                  <a:pt x="166309" y="162415"/>
                  <a:pt x="169072" y="159622"/>
                </a:cubicBezTo>
                <a:cubicBezTo>
                  <a:pt x="171836" y="156828"/>
                  <a:pt x="171866" y="152311"/>
                  <a:pt x="169072" y="149547"/>
                </a:cubicBezTo>
                <a:lnTo>
                  <a:pt x="83481" y="63956"/>
                </a:lnTo>
                <a:lnTo>
                  <a:pt x="87701" y="59736"/>
                </a:lnTo>
                <a:cubicBezTo>
                  <a:pt x="88950" y="58487"/>
                  <a:pt x="90525" y="57804"/>
                  <a:pt x="92129" y="57685"/>
                </a:cubicBezTo>
                <a:cubicBezTo>
                  <a:pt x="94150" y="57507"/>
                  <a:pt x="96231" y="58190"/>
                  <a:pt x="97776" y="59736"/>
                </a:cubicBezTo>
                <a:lnTo>
                  <a:pt x="150260" y="111744"/>
                </a:lnTo>
                <a:lnTo>
                  <a:pt x="171183" y="95101"/>
                </a:lnTo>
                <a:lnTo>
                  <a:pt x="171183" y="9510"/>
                </a:lnTo>
                <a:lnTo>
                  <a:pt x="137897" y="28530"/>
                </a:lnTo>
                <a:lnTo>
                  <a:pt x="130824" y="23805"/>
                </a:lnTo>
                <a:cubicBezTo>
                  <a:pt x="126128" y="20685"/>
                  <a:pt x="120630" y="19020"/>
                  <a:pt x="114984" y="19020"/>
                </a:cubicBezTo>
                <a:lnTo>
                  <a:pt x="94061" y="19020"/>
                </a:lnTo>
                <a:cubicBezTo>
                  <a:pt x="93734" y="19020"/>
                  <a:pt x="93378" y="19020"/>
                  <a:pt x="93051" y="19050"/>
                </a:cubicBezTo>
                <a:cubicBezTo>
                  <a:pt x="88028" y="19317"/>
                  <a:pt x="83303" y="21576"/>
                  <a:pt x="79915" y="25321"/>
                </a:cubicBezTo>
                <a:lnTo>
                  <a:pt x="63332" y="43776"/>
                </a:lnTo>
                <a:lnTo>
                  <a:pt x="53227" y="33672"/>
                </a:lnTo>
                <a:lnTo>
                  <a:pt x="66393" y="19050"/>
                </a:lnTo>
                <a:lnTo>
                  <a:pt x="54594" y="19050"/>
                </a:lnTo>
                <a:cubicBezTo>
                  <a:pt x="50047" y="19050"/>
                  <a:pt x="45649" y="20120"/>
                  <a:pt x="41666" y="22141"/>
                </a:cubicBezTo>
                <a:lnTo>
                  <a:pt x="12185" y="-7400"/>
                </a:lnTo>
                <a:close/>
                <a:moveTo>
                  <a:pt x="0" y="20744"/>
                </a:moveTo>
                <a:lnTo>
                  <a:pt x="0" y="95101"/>
                </a:lnTo>
                <a:lnTo>
                  <a:pt x="46481" y="133826"/>
                </a:lnTo>
                <a:cubicBezTo>
                  <a:pt x="53316" y="139532"/>
                  <a:pt x="61935" y="142652"/>
                  <a:pt x="70821" y="142652"/>
                </a:cubicBezTo>
                <a:lnTo>
                  <a:pt x="75487" y="142652"/>
                </a:lnTo>
                <a:lnTo>
                  <a:pt x="73406" y="140572"/>
                </a:lnTo>
                <a:cubicBezTo>
                  <a:pt x="70613" y="137778"/>
                  <a:pt x="70613" y="133261"/>
                  <a:pt x="73406" y="130497"/>
                </a:cubicBezTo>
                <a:cubicBezTo>
                  <a:pt x="76200" y="127733"/>
                  <a:pt x="80717" y="127703"/>
                  <a:pt x="83481" y="130497"/>
                </a:cubicBezTo>
                <a:lnTo>
                  <a:pt x="95666" y="142682"/>
                </a:lnTo>
                <a:lnTo>
                  <a:pt x="98341" y="142682"/>
                </a:lnTo>
                <a:cubicBezTo>
                  <a:pt x="104938" y="142682"/>
                  <a:pt x="111358" y="140958"/>
                  <a:pt x="117004" y="137808"/>
                </a:cubicBezTo>
                <a:lnTo>
                  <a:pt x="0" y="20744"/>
                </a:ln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8"/>
          <p:cNvSpPr/>
          <p:nvPr/>
        </p:nvSpPr>
        <p:spPr>
          <a:xfrm>
            <a:off x="6709900" y="3125669"/>
            <a:ext cx="1369460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Partner Withdrawal</a:t>
            </a:r>
            <a:endParaRPr sz="1600" b="0" i="0" u="none" strike="noStrike" cap="none"/>
          </a:p>
        </p:txBody>
      </p:sp>
      <p:sp>
        <p:nvSpPr>
          <p:cNvPr id="744" name="Google Shape;744;p18"/>
          <p:cNvSpPr/>
          <p:nvPr/>
        </p:nvSpPr>
        <p:spPr>
          <a:xfrm>
            <a:off x="6443616" y="3429994"/>
            <a:ext cx="5164006" cy="1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Risk: University or NPO partners unable to continue</a:t>
            </a:r>
            <a:endParaRPr sz="1600" b="0" i="0" u="none" strike="noStrike" cap="none"/>
          </a:p>
        </p:txBody>
      </p:sp>
      <p:sp>
        <p:nvSpPr>
          <p:cNvPr id="745" name="Google Shape;745;p18"/>
          <p:cNvSpPr/>
          <p:nvPr/>
        </p:nvSpPr>
        <p:spPr>
          <a:xfrm>
            <a:off x="6443616" y="3696278"/>
            <a:ext cx="5164006" cy="38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Mitigation:</a:t>
            </a:r>
            <a:r>
              <a:rPr lang="en-US" sz="1048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 Maintain multiple partnerships, have backup venues identified, diversify partner types</a:t>
            </a:r>
            <a:endParaRPr sz="1600" b="0" i="0" u="none" strike="noStrike" cap="none"/>
          </a:p>
        </p:txBody>
      </p:sp>
      <p:sp>
        <p:nvSpPr>
          <p:cNvPr id="746" name="Google Shape;746;p18"/>
          <p:cNvSpPr/>
          <p:nvPr/>
        </p:nvSpPr>
        <p:spPr>
          <a:xfrm>
            <a:off x="6329494" y="4266886"/>
            <a:ext cx="5325679" cy="1179257"/>
          </a:xfrm>
          <a:prstGeom prst="roundRect">
            <a:avLst>
              <a:gd name="adj" fmla="val 6452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6453126" y="4419048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 extrusionOk="0">
                <a:moveTo>
                  <a:pt x="12185" y="-7400"/>
                </a:moveTo>
                <a:cubicBezTo>
                  <a:pt x="9391" y="-10194"/>
                  <a:pt x="4874" y="-10194"/>
                  <a:pt x="2110" y="-7400"/>
                </a:cubicBezTo>
                <a:cubicBezTo>
                  <a:pt x="-654" y="-4606"/>
                  <a:pt x="-684" y="-89"/>
                  <a:pt x="2080" y="2704"/>
                </a:cubicBezTo>
                <a:lnTo>
                  <a:pt x="158998" y="159622"/>
                </a:lnTo>
                <a:cubicBezTo>
                  <a:pt x="161791" y="162415"/>
                  <a:pt x="166309" y="162415"/>
                  <a:pt x="169072" y="159622"/>
                </a:cubicBezTo>
                <a:cubicBezTo>
                  <a:pt x="171836" y="156828"/>
                  <a:pt x="171866" y="152311"/>
                  <a:pt x="169072" y="149547"/>
                </a:cubicBezTo>
                <a:lnTo>
                  <a:pt x="92575" y="73020"/>
                </a:lnTo>
                <a:cubicBezTo>
                  <a:pt x="108921" y="69781"/>
                  <a:pt x="121254" y="55337"/>
                  <a:pt x="121254" y="38041"/>
                </a:cubicBezTo>
                <a:cubicBezTo>
                  <a:pt x="121254" y="18337"/>
                  <a:pt x="105295" y="2378"/>
                  <a:pt x="85591" y="2378"/>
                </a:cubicBezTo>
                <a:cubicBezTo>
                  <a:pt x="68295" y="2378"/>
                  <a:pt x="53851" y="14711"/>
                  <a:pt x="50612" y="31057"/>
                </a:cubicBezTo>
                <a:lnTo>
                  <a:pt x="12185" y="-7400"/>
                </a:lnTo>
                <a:close/>
                <a:moveTo>
                  <a:pt x="70018" y="90762"/>
                </a:moveTo>
                <a:cubicBezTo>
                  <a:pt x="43955" y="94091"/>
                  <a:pt x="23775" y="116351"/>
                  <a:pt x="23775" y="143336"/>
                </a:cubicBezTo>
                <a:cubicBezTo>
                  <a:pt x="23775" y="148210"/>
                  <a:pt x="27728" y="152162"/>
                  <a:pt x="32602" y="152162"/>
                </a:cubicBezTo>
                <a:lnTo>
                  <a:pt x="131418" y="152162"/>
                </a:lnTo>
                <a:lnTo>
                  <a:pt x="70018" y="90762"/>
                </a:ln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8"/>
          <p:cNvSpPr/>
          <p:nvPr/>
        </p:nvSpPr>
        <p:spPr>
          <a:xfrm>
            <a:off x="6709900" y="4381008"/>
            <a:ext cx="1236318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Low Participation</a:t>
            </a:r>
            <a:endParaRPr sz="1600" b="0" i="0" u="none" strike="noStrike" cap="none"/>
          </a:p>
        </p:txBody>
      </p:sp>
      <p:sp>
        <p:nvSpPr>
          <p:cNvPr id="749" name="Google Shape;749;p18"/>
          <p:cNvSpPr/>
          <p:nvPr/>
        </p:nvSpPr>
        <p:spPr>
          <a:xfrm>
            <a:off x="6443616" y="4685332"/>
            <a:ext cx="5164006" cy="1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Risk: Difficulty reaching beneficiaries due to stigma</a:t>
            </a:r>
            <a:endParaRPr sz="1600" b="0" i="0" u="none" strike="noStrike" cap="none"/>
          </a:p>
        </p:txBody>
      </p:sp>
      <p:sp>
        <p:nvSpPr>
          <p:cNvPr id="750" name="Google Shape;750;p18"/>
          <p:cNvSpPr/>
          <p:nvPr/>
        </p:nvSpPr>
        <p:spPr>
          <a:xfrm>
            <a:off x="6443616" y="4951616"/>
            <a:ext cx="5164006" cy="38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Mitigation:</a:t>
            </a:r>
            <a:r>
              <a:rPr lang="en-US" sz="1048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 Leverage NPO networks for outreach, offer flexible formats (online + in-person), peer advocate referrals</a:t>
            </a:r>
            <a:endParaRPr sz="1600" b="0" i="0" u="none" strike="noStrike" cap="none"/>
          </a:p>
        </p:txBody>
      </p:sp>
      <p:sp>
        <p:nvSpPr>
          <p:cNvPr id="751" name="Google Shape;751;p18"/>
          <p:cNvSpPr/>
          <p:nvPr/>
        </p:nvSpPr>
        <p:spPr>
          <a:xfrm>
            <a:off x="6329494" y="5522225"/>
            <a:ext cx="5325679" cy="1179257"/>
          </a:xfrm>
          <a:prstGeom prst="roundRect">
            <a:avLst>
              <a:gd name="adj" fmla="val 6452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6491167" y="5674387"/>
            <a:ext cx="95101" cy="152162"/>
          </a:xfrm>
          <a:custGeom>
            <a:avLst/>
            <a:gdLst/>
            <a:ahLst/>
            <a:cxnLst/>
            <a:rect l="l" t="t" r="r" b="b"/>
            <a:pathLst>
              <a:path w="95101" h="152162" extrusionOk="0">
                <a:moveTo>
                  <a:pt x="40418" y="7133"/>
                </a:moveTo>
                <a:cubicBezTo>
                  <a:pt x="40418" y="3180"/>
                  <a:pt x="43598" y="0"/>
                  <a:pt x="47551" y="0"/>
                </a:cubicBezTo>
                <a:cubicBezTo>
                  <a:pt x="51503" y="0"/>
                  <a:pt x="54683" y="3180"/>
                  <a:pt x="54683" y="7133"/>
                </a:cubicBezTo>
                <a:lnTo>
                  <a:pt x="54683" y="19020"/>
                </a:lnTo>
                <a:lnTo>
                  <a:pt x="71326" y="19020"/>
                </a:lnTo>
                <a:cubicBezTo>
                  <a:pt x="76586" y="19020"/>
                  <a:pt x="80836" y="23270"/>
                  <a:pt x="80836" y="28530"/>
                </a:cubicBezTo>
                <a:cubicBezTo>
                  <a:pt x="80836" y="33791"/>
                  <a:pt x="76586" y="38041"/>
                  <a:pt x="71326" y="38041"/>
                </a:cubicBezTo>
                <a:lnTo>
                  <a:pt x="37179" y="38041"/>
                </a:lnTo>
                <a:cubicBezTo>
                  <a:pt x="29779" y="38041"/>
                  <a:pt x="23775" y="44044"/>
                  <a:pt x="23775" y="51444"/>
                </a:cubicBezTo>
                <a:cubicBezTo>
                  <a:pt x="23775" y="58131"/>
                  <a:pt x="28679" y="63777"/>
                  <a:pt x="35277" y="64728"/>
                </a:cubicBezTo>
                <a:lnTo>
                  <a:pt x="62499" y="68622"/>
                </a:lnTo>
                <a:cubicBezTo>
                  <a:pt x="78488" y="70910"/>
                  <a:pt x="90346" y="84581"/>
                  <a:pt x="90346" y="100718"/>
                </a:cubicBezTo>
                <a:cubicBezTo>
                  <a:pt x="90346" y="118639"/>
                  <a:pt x="75814" y="133142"/>
                  <a:pt x="57923" y="133142"/>
                </a:cubicBezTo>
                <a:lnTo>
                  <a:pt x="54683" y="133142"/>
                </a:lnTo>
                <a:lnTo>
                  <a:pt x="54683" y="145030"/>
                </a:lnTo>
                <a:cubicBezTo>
                  <a:pt x="54683" y="148982"/>
                  <a:pt x="51503" y="152162"/>
                  <a:pt x="47551" y="152162"/>
                </a:cubicBezTo>
                <a:cubicBezTo>
                  <a:pt x="43598" y="152162"/>
                  <a:pt x="40418" y="148982"/>
                  <a:pt x="40418" y="145030"/>
                </a:cubicBezTo>
                <a:lnTo>
                  <a:pt x="40418" y="133142"/>
                </a:lnTo>
                <a:lnTo>
                  <a:pt x="19020" y="133142"/>
                </a:lnTo>
                <a:cubicBezTo>
                  <a:pt x="13760" y="133142"/>
                  <a:pt x="9510" y="128892"/>
                  <a:pt x="9510" y="123632"/>
                </a:cubicBezTo>
                <a:cubicBezTo>
                  <a:pt x="9510" y="118372"/>
                  <a:pt x="13760" y="114122"/>
                  <a:pt x="19020" y="114122"/>
                </a:cubicBezTo>
                <a:lnTo>
                  <a:pt x="57923" y="114122"/>
                </a:lnTo>
                <a:cubicBezTo>
                  <a:pt x="65323" y="114122"/>
                  <a:pt x="71326" y="108118"/>
                  <a:pt x="71326" y="100718"/>
                </a:cubicBezTo>
                <a:cubicBezTo>
                  <a:pt x="71326" y="94032"/>
                  <a:pt x="66422" y="88385"/>
                  <a:pt x="59825" y="87434"/>
                </a:cubicBezTo>
                <a:lnTo>
                  <a:pt x="32602" y="83541"/>
                </a:lnTo>
                <a:cubicBezTo>
                  <a:pt x="16613" y="81282"/>
                  <a:pt x="4755" y="67581"/>
                  <a:pt x="4755" y="51444"/>
                </a:cubicBezTo>
                <a:cubicBezTo>
                  <a:pt x="4755" y="33553"/>
                  <a:pt x="19288" y="19020"/>
                  <a:pt x="37179" y="19020"/>
                </a:cubicBezTo>
                <a:lnTo>
                  <a:pt x="40418" y="19020"/>
                </a:lnTo>
                <a:lnTo>
                  <a:pt x="40418" y="7133"/>
                </a:ln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8"/>
          <p:cNvSpPr/>
          <p:nvPr/>
        </p:nvSpPr>
        <p:spPr>
          <a:xfrm>
            <a:off x="6709900" y="5636346"/>
            <a:ext cx="1426521" cy="22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8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Funding Constraints</a:t>
            </a:r>
            <a:endParaRPr sz="1600" b="0" i="0" u="none" strike="noStrike" cap="none"/>
          </a:p>
        </p:txBody>
      </p:sp>
      <p:sp>
        <p:nvSpPr>
          <p:cNvPr id="754" name="Google Shape;754;p18"/>
          <p:cNvSpPr/>
          <p:nvPr/>
        </p:nvSpPr>
        <p:spPr>
          <a:xfrm>
            <a:off x="6443616" y="5940671"/>
            <a:ext cx="5164006" cy="1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Risk: Limited budget for expansion beyond pilot</a:t>
            </a:r>
            <a:endParaRPr sz="1600" b="0" i="0" u="none" strike="noStrike" cap="none"/>
          </a:p>
        </p:txBody>
      </p:sp>
      <p:sp>
        <p:nvSpPr>
          <p:cNvPr id="755" name="Google Shape;755;p18"/>
          <p:cNvSpPr/>
          <p:nvPr/>
        </p:nvSpPr>
        <p:spPr>
          <a:xfrm>
            <a:off x="6443616" y="6206955"/>
            <a:ext cx="5164006" cy="38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Mitigation:</a:t>
            </a:r>
            <a:r>
              <a:rPr lang="en-US" sz="1048" b="0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 Low-cost digital-first model, in-kind contributions, grant applications for Phase 2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19" descr="https://kimi-web-img.moonshot.cn/img/images.stockcake.com/bc52434e58af5e20e0cb5cacebd048b6ae8a3449.jpg"/>
          <p:cNvPicPr preferRelativeResize="0"/>
          <p:nvPr/>
        </p:nvPicPr>
        <p:blipFill rotWithShape="1">
          <a:blip r:embed="rId3">
            <a:alphaModFix amt="2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762" name="Google Shape;762;p19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91919">
                  <a:alpha val="94901"/>
                </a:srgbClr>
              </a:gs>
              <a:gs pos="50000">
                <a:srgbClr val="191919">
                  <a:alpha val="90196"/>
                </a:srgbClr>
              </a:gs>
              <a:gs pos="100000">
                <a:srgbClr val="6366F1">
                  <a:alpha val="30196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9"/>
          <p:cNvSpPr/>
          <p:nvPr/>
        </p:nvSpPr>
        <p:spPr>
          <a:xfrm>
            <a:off x="381000" y="495300"/>
            <a:ext cx="76200" cy="381000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9"/>
          <p:cNvSpPr/>
          <p:nvPr/>
        </p:nvSpPr>
        <p:spPr>
          <a:xfrm>
            <a:off x="571500" y="381000"/>
            <a:ext cx="4171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CONCLUSION</a:t>
            </a:r>
            <a:endParaRPr sz="1600" b="0" i="0" u="none" strike="noStrike" cap="none"/>
          </a:p>
        </p:txBody>
      </p:sp>
      <p:sp>
        <p:nvSpPr>
          <p:cNvPr id="765" name="Google Shape;765;p19"/>
          <p:cNvSpPr/>
          <p:nvPr/>
        </p:nvSpPr>
        <p:spPr>
          <a:xfrm>
            <a:off x="571500" y="609600"/>
            <a:ext cx="4267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Conclusion &amp; Call to Action</a:t>
            </a:r>
            <a:endParaRPr sz="1600" b="0" i="0" u="none" strike="noStrike" cap="none"/>
          </a:p>
        </p:txBody>
      </p:sp>
      <p:sp>
        <p:nvSpPr>
          <p:cNvPr id="766" name="Google Shape;766;p19"/>
          <p:cNvSpPr/>
          <p:nvPr/>
        </p:nvSpPr>
        <p:spPr>
          <a:xfrm>
            <a:off x="384175" y="1222375"/>
            <a:ext cx="4340225" cy="3968750"/>
          </a:xfrm>
          <a:prstGeom prst="roundRect">
            <a:avLst>
              <a:gd name="adj" fmla="val 2880"/>
            </a:avLst>
          </a:prstGeom>
          <a:solidFill>
            <a:srgbClr val="262626">
              <a:alpha val="90196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9"/>
          <p:cNvSpPr/>
          <p:nvPr/>
        </p:nvSpPr>
        <p:spPr>
          <a:xfrm>
            <a:off x="577850" y="1416053"/>
            <a:ext cx="4048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Project Summary</a:t>
            </a:r>
            <a:endParaRPr sz="1600" b="0" i="0" u="none" strike="noStrike" cap="none"/>
          </a:p>
        </p:txBody>
      </p:sp>
      <p:sp>
        <p:nvSpPr>
          <p:cNvPr id="768" name="Google Shape;768;p19"/>
          <p:cNvSpPr/>
          <p:nvPr/>
        </p:nvSpPr>
        <p:spPr>
          <a:xfrm>
            <a:off x="577850" y="1797053"/>
            <a:ext cx="40290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Neurodivergent individuals in Japan face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significant barriers to inclusion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despite legal protections. Cultural stigma, lack of awareness, and inadequate practical accommodations create a cycle of exclusion.</a:t>
            </a:r>
            <a:endParaRPr sz="1600" b="0" i="0" u="none" strike="noStrike" cap="none"/>
          </a:p>
        </p:txBody>
      </p:sp>
      <p:sp>
        <p:nvSpPr>
          <p:cNvPr id="769" name="Google Shape;769;p19"/>
          <p:cNvSpPr/>
          <p:nvPr/>
        </p:nvSpPr>
        <p:spPr>
          <a:xfrm>
            <a:off x="577850" y="2901953"/>
            <a:ext cx="40290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NeuroBridge Japan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addresses this gap through culturally-sensitive awareness toolkits, peer support workshops, and digital resources that empower both neurodivergent youth and the institutions that serve them.</a:t>
            </a:r>
            <a:endParaRPr sz="1600" b="0" i="0" u="none" strike="noStrike" cap="none"/>
          </a:p>
        </p:txBody>
      </p:sp>
      <p:sp>
        <p:nvSpPr>
          <p:cNvPr id="770" name="Google Shape;770;p19"/>
          <p:cNvSpPr/>
          <p:nvPr/>
        </p:nvSpPr>
        <p:spPr>
          <a:xfrm>
            <a:off x="577850" y="4006853"/>
            <a:ext cx="40290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The project is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feasible, scalable, and directly contributes to SDG 10</a:t>
            </a:r>
            <a:r>
              <a:rPr lang="en-US" sz="1200" b="0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(Reduced Inequalities) by promoting social and economic inclusion of neurodivergent individuals in Japanese society.</a:t>
            </a:r>
            <a:endParaRPr sz="1600" b="0" i="0" u="none" strike="noStrike" cap="none"/>
          </a:p>
        </p:txBody>
      </p:sp>
      <p:sp>
        <p:nvSpPr>
          <p:cNvPr id="771" name="Google Shape;771;p19"/>
          <p:cNvSpPr/>
          <p:nvPr/>
        </p:nvSpPr>
        <p:spPr>
          <a:xfrm>
            <a:off x="384175" y="5349881"/>
            <a:ext cx="1368425" cy="1187450"/>
          </a:xfrm>
          <a:prstGeom prst="roundRect">
            <a:avLst>
              <a:gd name="adj" fmla="val 6417"/>
            </a:avLst>
          </a:prstGeom>
          <a:solidFill>
            <a:srgbClr val="262626">
              <a:alpha val="90196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9"/>
          <p:cNvSpPr/>
          <p:nvPr/>
        </p:nvSpPr>
        <p:spPr>
          <a:xfrm>
            <a:off x="952500" y="5467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9"/>
          <p:cNvSpPr/>
          <p:nvPr/>
        </p:nvSpPr>
        <p:spPr>
          <a:xfrm>
            <a:off x="463550" y="5772150"/>
            <a:ext cx="1209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Clear Problem</a:t>
            </a:r>
            <a:endParaRPr sz="1600" b="0" i="0" u="none" strike="noStrike" cap="none"/>
          </a:p>
        </p:txBody>
      </p:sp>
      <p:sp>
        <p:nvSpPr>
          <p:cNvPr id="774" name="Google Shape;774;p19"/>
          <p:cNvSpPr/>
          <p:nvPr/>
        </p:nvSpPr>
        <p:spPr>
          <a:xfrm>
            <a:off x="468313" y="6000750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Evidence-based</a:t>
            </a:r>
            <a:endParaRPr sz="1600" b="0" i="0" u="none" strike="noStrike" cap="none"/>
          </a:p>
        </p:txBody>
      </p:sp>
      <p:sp>
        <p:nvSpPr>
          <p:cNvPr id="775" name="Google Shape;775;p19"/>
          <p:cNvSpPr/>
          <p:nvPr/>
        </p:nvSpPr>
        <p:spPr>
          <a:xfrm>
            <a:off x="1870075" y="5349881"/>
            <a:ext cx="1368425" cy="1187450"/>
          </a:xfrm>
          <a:prstGeom prst="roundRect">
            <a:avLst>
              <a:gd name="adj" fmla="val 6417"/>
            </a:avLst>
          </a:prstGeom>
          <a:solidFill>
            <a:srgbClr val="262626">
              <a:alpha val="90196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19"/>
          <p:cNvSpPr/>
          <p:nvPr/>
        </p:nvSpPr>
        <p:spPr>
          <a:xfrm>
            <a:off x="2466975" y="5467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9"/>
          <p:cNvSpPr/>
          <p:nvPr/>
        </p:nvSpPr>
        <p:spPr>
          <a:xfrm>
            <a:off x="1949450" y="5772150"/>
            <a:ext cx="1209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Practical Solution</a:t>
            </a:r>
            <a:endParaRPr sz="1600" b="0" i="0" u="none" strike="noStrike" cap="none"/>
          </a:p>
        </p:txBody>
      </p:sp>
      <p:sp>
        <p:nvSpPr>
          <p:cNvPr id="778" name="Google Shape;778;p19"/>
          <p:cNvSpPr/>
          <p:nvPr/>
        </p:nvSpPr>
        <p:spPr>
          <a:xfrm>
            <a:off x="1954213" y="6229350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Youth-led</a:t>
            </a:r>
            <a:endParaRPr sz="1600" b="0" i="0" u="none" strike="noStrike" cap="none"/>
          </a:p>
        </p:txBody>
      </p:sp>
      <p:sp>
        <p:nvSpPr>
          <p:cNvPr id="779" name="Google Shape;779;p19"/>
          <p:cNvSpPr/>
          <p:nvPr/>
        </p:nvSpPr>
        <p:spPr>
          <a:xfrm>
            <a:off x="3355975" y="5349881"/>
            <a:ext cx="1368425" cy="1187450"/>
          </a:xfrm>
          <a:prstGeom prst="roundRect">
            <a:avLst>
              <a:gd name="adj" fmla="val 6417"/>
            </a:avLst>
          </a:prstGeom>
          <a:solidFill>
            <a:srgbClr val="262626">
              <a:alpha val="90196"/>
            </a:srgbClr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9"/>
          <p:cNvSpPr/>
          <p:nvPr/>
        </p:nvSpPr>
        <p:spPr>
          <a:xfrm>
            <a:off x="3924300" y="5467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19"/>
          <p:cNvSpPr/>
          <p:nvPr/>
        </p:nvSpPr>
        <p:spPr>
          <a:xfrm>
            <a:off x="3435350" y="5772150"/>
            <a:ext cx="1209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SDG Aligned</a:t>
            </a:r>
            <a:endParaRPr sz="1600" b="0" i="0" u="none" strike="noStrike" cap="none"/>
          </a:p>
        </p:txBody>
      </p:sp>
      <p:sp>
        <p:nvSpPr>
          <p:cNvPr id="782" name="Google Shape;782;p19"/>
          <p:cNvSpPr/>
          <p:nvPr/>
        </p:nvSpPr>
        <p:spPr>
          <a:xfrm>
            <a:off x="3440113" y="6000750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Measurable impact</a:t>
            </a:r>
            <a:endParaRPr sz="1600" b="0" i="0" u="none" strike="noStrike" cap="none"/>
          </a:p>
        </p:txBody>
      </p:sp>
      <p:sp>
        <p:nvSpPr>
          <p:cNvPr id="783" name="Google Shape;783;p19"/>
          <p:cNvSpPr/>
          <p:nvPr/>
        </p:nvSpPr>
        <p:spPr>
          <a:xfrm>
            <a:off x="4886325" y="1228725"/>
            <a:ext cx="6915150" cy="5305425"/>
          </a:xfrm>
          <a:prstGeom prst="roundRect">
            <a:avLst>
              <a:gd name="adj" fmla="val 2154"/>
            </a:avLst>
          </a:prstGeom>
          <a:gradFill>
            <a:gsLst>
              <a:gs pos="0">
                <a:srgbClr val="6366F1">
                  <a:alpha val="30196"/>
                </a:srgbClr>
              </a:gs>
              <a:gs pos="100000">
                <a:srgbClr val="262626">
                  <a:alpha val="90196"/>
                </a:srgbClr>
              </a:gs>
            </a:gsLst>
            <a:lin ang="2700000" scaled="0"/>
          </a:gradFill>
          <a:ln w="254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19"/>
          <p:cNvSpPr/>
          <p:nvPr/>
        </p:nvSpPr>
        <p:spPr>
          <a:xfrm>
            <a:off x="5114925" y="1466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14313" y="42863"/>
                </a:move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121444" y="71438"/>
                </a:lnTo>
                <a:lnTo>
                  <a:pt x="121444" y="42863"/>
                </a:lnTo>
                <a:lnTo>
                  <a:pt x="214313" y="42863"/>
                </a:lnTo>
                <a:close/>
                <a:moveTo>
                  <a:pt x="142875" y="128588"/>
                </a:moveTo>
                <a:cubicBezTo>
                  <a:pt x="150778" y="128588"/>
                  <a:pt x="157163" y="134972"/>
                  <a:pt x="157163" y="142875"/>
                </a:cubicBezTo>
                <a:cubicBezTo>
                  <a:pt x="157163" y="150778"/>
                  <a:pt x="150778" y="157163"/>
                  <a:pt x="142875" y="157163"/>
                </a:cubicBezTo>
                <a:lnTo>
                  <a:pt x="114300" y="157163"/>
                </a:lnTo>
                <a:cubicBezTo>
                  <a:pt x="106397" y="157163"/>
                  <a:pt x="100013" y="150778"/>
                  <a:pt x="100013" y="142875"/>
                </a:cubicBezTo>
                <a:cubicBezTo>
                  <a:pt x="100013" y="134972"/>
                  <a:pt x="106397" y="128588"/>
                  <a:pt x="114300" y="128588"/>
                </a:cubicBezTo>
                <a:lnTo>
                  <a:pt x="142875" y="128588"/>
                </a:lnTo>
                <a:close/>
                <a:moveTo>
                  <a:pt x="171450" y="100013"/>
                </a:moveTo>
                <a:cubicBezTo>
                  <a:pt x="171450" y="107915"/>
                  <a:pt x="165065" y="114300"/>
                  <a:pt x="157163" y="114300"/>
                </a:cubicBezTo>
                <a:lnTo>
                  <a:pt x="135731" y="114300"/>
                </a:lnTo>
                <a:cubicBezTo>
                  <a:pt x="127828" y="114300"/>
                  <a:pt x="121444" y="107915"/>
                  <a:pt x="121444" y="100013"/>
                </a:cubicBezTo>
                <a:cubicBezTo>
                  <a:pt x="121444" y="92110"/>
                  <a:pt x="127828" y="85725"/>
                  <a:pt x="135731" y="85725"/>
                </a:cubicBezTo>
                <a:lnTo>
                  <a:pt x="157163" y="85725"/>
                </a:lnTo>
                <a:cubicBezTo>
                  <a:pt x="165065" y="85725"/>
                  <a:pt x="171450" y="92110"/>
                  <a:pt x="171450" y="100013"/>
                </a:cubicBezTo>
                <a:close/>
                <a:moveTo>
                  <a:pt x="128588" y="171450"/>
                </a:moveTo>
                <a:cubicBezTo>
                  <a:pt x="136490" y="171450"/>
                  <a:pt x="142875" y="177835"/>
                  <a:pt x="142875" y="185738"/>
                </a:cubicBezTo>
                <a:cubicBezTo>
                  <a:pt x="142875" y="193640"/>
                  <a:pt x="136490" y="200025"/>
                  <a:pt x="128588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lnTo>
                  <a:pt x="128588" y="171450"/>
                </a:lnTo>
                <a:close/>
                <a:moveTo>
                  <a:pt x="89297" y="128588"/>
                </a:moveTo>
                <a:lnTo>
                  <a:pt x="89565" y="128588"/>
                </a:lnTo>
                <a:cubicBezTo>
                  <a:pt x="87154" y="132784"/>
                  <a:pt x="85725" y="137651"/>
                  <a:pt x="85725" y="142875"/>
                </a:cubicBezTo>
                <a:cubicBezTo>
                  <a:pt x="85725" y="148769"/>
                  <a:pt x="87511" y="154216"/>
                  <a:pt x="90547" y="158770"/>
                </a:cubicBezTo>
                <a:cubicBezTo>
                  <a:pt x="79430" y="162654"/>
                  <a:pt x="71438" y="173281"/>
                  <a:pt x="71438" y="185738"/>
                </a:cubicBezTo>
                <a:cubicBezTo>
                  <a:pt x="71438" y="190961"/>
                  <a:pt x="72822" y="195828"/>
                  <a:pt x="75277" y="200025"/>
                </a:cubicBezTo>
                <a:lnTo>
                  <a:pt x="71438" y="200025"/>
                </a:lnTo>
                <a:cubicBezTo>
                  <a:pt x="31968" y="200025"/>
                  <a:pt x="0" y="168057"/>
                  <a:pt x="0" y="128588"/>
                </a:cubicBezTo>
                <a:lnTo>
                  <a:pt x="0" y="101039"/>
                </a:lnTo>
                <a:cubicBezTo>
                  <a:pt x="0" y="82108"/>
                  <a:pt x="7546" y="63937"/>
                  <a:pt x="20940" y="50542"/>
                </a:cubicBezTo>
                <a:lnTo>
                  <a:pt x="26119" y="45363"/>
                </a:lnTo>
                <a:cubicBezTo>
                  <a:pt x="36835" y="34603"/>
                  <a:pt x="51390" y="28575"/>
                  <a:pt x="66526" y="28575"/>
                </a:cubicBezTo>
                <a:lnTo>
                  <a:pt x="78581" y="28575"/>
                </a:lnTo>
                <a:cubicBezTo>
                  <a:pt x="94342" y="28575"/>
                  <a:pt x="107156" y="41389"/>
                  <a:pt x="107156" y="57150"/>
                </a:cubicBezTo>
                <a:lnTo>
                  <a:pt x="107156" y="96441"/>
                </a:lnTo>
                <a:cubicBezTo>
                  <a:pt x="107156" y="106308"/>
                  <a:pt x="99164" y="114300"/>
                  <a:pt x="89297" y="114300"/>
                </a:cubicBezTo>
                <a:cubicBezTo>
                  <a:pt x="79430" y="114300"/>
                  <a:pt x="71438" y="106308"/>
                  <a:pt x="71438" y="96441"/>
                </a:cubicBezTo>
                <a:lnTo>
                  <a:pt x="71438" y="71438"/>
                </a:lnTo>
                <a:cubicBezTo>
                  <a:pt x="71438" y="67508"/>
                  <a:pt x="68223" y="64294"/>
                  <a:pt x="64294" y="64294"/>
                </a:cubicBezTo>
                <a:cubicBezTo>
                  <a:pt x="60365" y="64294"/>
                  <a:pt x="57150" y="67508"/>
                  <a:pt x="57150" y="71438"/>
                </a:cubicBezTo>
                <a:lnTo>
                  <a:pt x="57150" y="96441"/>
                </a:lnTo>
                <a:cubicBezTo>
                  <a:pt x="57150" y="114211"/>
                  <a:pt x="71527" y="128588"/>
                  <a:pt x="89297" y="12858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9"/>
          <p:cNvSpPr/>
          <p:nvPr/>
        </p:nvSpPr>
        <p:spPr>
          <a:xfrm>
            <a:off x="5372100" y="1428750"/>
            <a:ext cx="6343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Call to Action</a:t>
            </a:r>
            <a:endParaRPr sz="1600" b="0" i="0" u="none" strike="noStrike" cap="none"/>
          </a:p>
        </p:txBody>
      </p:sp>
      <p:sp>
        <p:nvSpPr>
          <p:cNvPr id="786" name="Google Shape;786;p19"/>
          <p:cNvSpPr/>
          <p:nvPr/>
        </p:nvSpPr>
        <p:spPr>
          <a:xfrm>
            <a:off x="5086350" y="1893298"/>
            <a:ext cx="6515100" cy="1390650"/>
          </a:xfrm>
          <a:prstGeom prst="roundRect">
            <a:avLst>
              <a:gd name="adj" fmla="val 5479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9"/>
          <p:cNvSpPr/>
          <p:nvPr/>
        </p:nvSpPr>
        <p:spPr>
          <a:xfrm>
            <a:off x="5238750" y="204569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9"/>
          <p:cNvSpPr/>
          <p:nvPr/>
        </p:nvSpPr>
        <p:spPr>
          <a:xfrm>
            <a:off x="5360194" y="217904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9"/>
          <p:cNvSpPr/>
          <p:nvPr/>
        </p:nvSpPr>
        <p:spPr>
          <a:xfrm>
            <a:off x="5848350" y="2045698"/>
            <a:ext cx="56864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We Invite Your Feedback</a:t>
            </a:r>
            <a:endParaRPr sz="1600" b="0" i="0" u="none" strike="noStrike" cap="none"/>
          </a:p>
        </p:txBody>
      </p:sp>
      <p:sp>
        <p:nvSpPr>
          <p:cNvPr id="790" name="Google Shape;790;p19"/>
          <p:cNvSpPr/>
          <p:nvPr/>
        </p:nvSpPr>
        <p:spPr>
          <a:xfrm>
            <a:off x="5848350" y="2388598"/>
            <a:ext cx="56769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We welcome mentors and evaluators to provide feedback on our approach, evidence quality, and feasibility assessment. Your insights will strengthen our project.</a:t>
            </a:r>
            <a:endParaRPr sz="1600" b="0" i="0" u="none" strike="noStrike" cap="none"/>
          </a:p>
        </p:txBody>
      </p:sp>
      <p:sp>
        <p:nvSpPr>
          <p:cNvPr id="791" name="Google Shape;791;p19"/>
          <p:cNvSpPr/>
          <p:nvPr/>
        </p:nvSpPr>
        <p:spPr>
          <a:xfrm>
            <a:off x="5086350" y="3298729"/>
            <a:ext cx="6515100" cy="1143000"/>
          </a:xfrm>
          <a:prstGeom prst="roundRect">
            <a:avLst>
              <a:gd name="adj" fmla="val 6667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9"/>
          <p:cNvSpPr/>
          <p:nvPr/>
        </p:nvSpPr>
        <p:spPr>
          <a:xfrm>
            <a:off x="5238750" y="34511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9"/>
          <p:cNvSpPr/>
          <p:nvPr/>
        </p:nvSpPr>
        <p:spPr>
          <a:xfrm>
            <a:off x="5360194" y="358447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9"/>
          <p:cNvSpPr/>
          <p:nvPr/>
        </p:nvSpPr>
        <p:spPr>
          <a:xfrm>
            <a:off x="5848350" y="3451129"/>
            <a:ext cx="56864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We Seek Connections</a:t>
            </a:r>
            <a:endParaRPr sz="1600" b="0" i="0" u="none" strike="noStrike" cap="none"/>
          </a:p>
        </p:txBody>
      </p:sp>
      <p:sp>
        <p:nvSpPr>
          <p:cNvPr id="795" name="Google Shape;795;p19"/>
          <p:cNvSpPr/>
          <p:nvPr/>
        </p:nvSpPr>
        <p:spPr>
          <a:xfrm>
            <a:off x="5848350" y="3794029"/>
            <a:ext cx="5676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We are looking for connections to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university disability offices and NPO partners in Tokyo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who could support our pilot phase and provide beneficiary access.</a:t>
            </a:r>
            <a:endParaRPr sz="1600" b="0" i="0" u="none" strike="noStrike" cap="none"/>
          </a:p>
        </p:txBody>
      </p:sp>
      <p:sp>
        <p:nvSpPr>
          <p:cNvPr id="796" name="Google Shape;796;p19"/>
          <p:cNvSpPr/>
          <p:nvPr/>
        </p:nvSpPr>
        <p:spPr>
          <a:xfrm>
            <a:off x="5086350" y="4456612"/>
            <a:ext cx="6515100" cy="1143000"/>
          </a:xfrm>
          <a:prstGeom prst="roundRect">
            <a:avLst>
              <a:gd name="adj" fmla="val 6667"/>
            </a:avLst>
          </a:prstGeom>
          <a:solidFill>
            <a:srgbClr val="191919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9"/>
          <p:cNvSpPr/>
          <p:nvPr/>
        </p:nvSpPr>
        <p:spPr>
          <a:xfrm>
            <a:off x="5238750" y="46090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9"/>
          <p:cNvSpPr/>
          <p:nvPr/>
        </p:nvSpPr>
        <p:spPr>
          <a:xfrm>
            <a:off x="5372100" y="474236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9"/>
          <p:cNvSpPr/>
          <p:nvPr/>
        </p:nvSpPr>
        <p:spPr>
          <a:xfrm>
            <a:off x="5848350" y="4609012"/>
            <a:ext cx="56864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We Welcome Guidance</a:t>
            </a:r>
            <a:endParaRPr sz="1600" b="0" i="0" u="none" strike="noStrike" cap="none"/>
          </a:p>
        </p:txBody>
      </p:sp>
      <p:sp>
        <p:nvSpPr>
          <p:cNvPr id="800" name="Google Shape;800;p19"/>
          <p:cNvSpPr/>
          <p:nvPr/>
        </p:nvSpPr>
        <p:spPr>
          <a:xfrm>
            <a:off x="5848350" y="4951912"/>
            <a:ext cx="5676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We seek guidance on </a:t>
            </a:r>
            <a:r>
              <a:rPr lang="en-US" sz="1200" b="1" i="0" u="none" strike="noStrike" cap="non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measuring long-term impact and securing sustainable funding</a:t>
            </a: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 for project expansion beyond the pilot phase.</a:t>
            </a:r>
            <a:endParaRPr sz="1600" b="0" i="0" u="none" strike="noStrike" cap="none"/>
          </a:p>
        </p:txBody>
      </p:sp>
      <p:sp>
        <p:nvSpPr>
          <p:cNvPr id="801" name="Google Shape;801;p19"/>
          <p:cNvSpPr/>
          <p:nvPr/>
        </p:nvSpPr>
        <p:spPr>
          <a:xfrm>
            <a:off x="6280646" y="5791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19"/>
          <p:cNvSpPr/>
          <p:nvPr/>
        </p:nvSpPr>
        <p:spPr>
          <a:xfrm>
            <a:off x="5334000" y="5759453"/>
            <a:ext cx="63150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Together, we can build a more inclusive Japan</a:t>
            </a:r>
            <a:endParaRPr sz="1600" b="0" i="0" u="none" strike="noStrike" cap="none"/>
          </a:p>
        </p:txBody>
      </p:sp>
      <p:sp>
        <p:nvSpPr>
          <p:cNvPr id="803" name="Google Shape;803;p19"/>
          <p:cNvSpPr/>
          <p:nvPr/>
        </p:nvSpPr>
        <p:spPr>
          <a:xfrm>
            <a:off x="5048250" y="6102353"/>
            <a:ext cx="6591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where neurodivergence is understood, accommodated, and valued.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2286</Words>
  <Application>Microsoft Office PowerPoint</Application>
  <PresentationFormat>Widescreen</PresentationFormat>
  <Paragraphs>405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Liter</vt:lpstr>
      <vt:lpstr>Noto Sans SC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Daffa Ghiffary Kusuma</dc:creator>
  <cp:lastModifiedBy>Daffa Ghiffary Kusuma</cp:lastModifiedBy>
  <cp:revision>1</cp:revision>
  <dcterms:modified xsi:type="dcterms:W3CDTF">2026-05-08T02:49:58Z</dcterms:modified>
</cp:coreProperties>
</file>